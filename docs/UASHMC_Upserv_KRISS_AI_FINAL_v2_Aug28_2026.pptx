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65" r:id="rId2"/>
    <p:sldId id="256" r:id="rId3"/>
    <p:sldId id="266" r:id="rId4"/>
    <p:sldId id="267"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105" autoAdjust="0"/>
  </p:normalViewPr>
  <p:slideViewPr>
    <p:cSldViewPr snapToGrid="0" snapToObjects="1">
      <p:cViewPr varScale="1">
        <p:scale>
          <a:sx n="56" d="100"/>
          <a:sy n="56" d="100"/>
        </p:scale>
        <p:origin x="72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8/24/2026</a:t>
            </a:fld>
            <a:endParaRPr lang="en-US"/>
          </a:p>
        </p:txBody>
      </p:sp>
      <p:sp>
        <p:nvSpPr>
          <p:cNvPr id="4" name="Slide Image Placeholder 3"/>
          <p:cNvSpPr>
            <a:spLocks noGrp="1" noRot="1" noChangeAspect="1"/>
          </p:cNvSpPr>
          <p:nvPr>
            <p:ph type="sldImg" idx="2"/>
          </p:nvPr>
        </p:nvSpPr>
        <p:spPr>
          <a:xfrm>
            <a:off x="685943" y="1143000"/>
            <a:ext cx="5486114"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Good morning, Doc Ton, and everyone. Thank you for giving us the opportunity to present this.</a:t>
            </a:r>
          </a:p>
          <a:p>
            <a:r>
              <a:rPr lang="en-US" altLang="en-US"/>
              <a:t>What we'd like to show today is not simply a proposal for a new website. We'd like to look at the bigger opportunity for UASHMC: how your digital presence can support the hospital as it continues to build awareness, credibility and patient census.</a:t>
            </a:r>
          </a:p>
          <a:p>
            <a:r>
              <a:rPr lang="en-US" altLang="en-US"/>
              <a:t>UASHMC is still a relatively new hospital, so there is an advantage here. Rather than inherit an old website and try to modernize it later, you have the opportunity to build the digital foundation correctly from the beginning.</a:t>
            </a:r>
          </a:p>
          <a:p>
            <a:r>
              <a:rPr lang="en-US" altLang="en-US"/>
              <a:t>And I particularly like UASHMC's line, “Excellence in every life we touch.”</a:t>
            </a:r>
          </a:p>
          <a:p>
            <a:r>
              <a:rPr lang="en-US" altLang="en-US"/>
              <a:t>Our thinking is: increasingly, one of those first touchpoints happens online — sometimes before the patient has ever called or entered the hospital.</a:t>
            </a:r>
          </a:p>
          <a:p>
            <a:r>
              <a:rPr lang="en-US" altLang="en-US"/>
              <a:t>So the question behind this presentation is very simple:</a:t>
            </a:r>
          </a:p>
          <a:p>
            <a:r>
              <a:rPr lang="en-US" altLang="en-US"/>
              <a:t>How do we extend that UASHMC experience into the digital patient journey?</a:t>
            </a:r>
          </a:p>
          <a:p>
            <a:r>
              <a:rPr lang="en-US" altLang="en-US"/>
              <a:t>Transition</a:t>
            </a:r>
          </a:p>
          <a:p>
            <a:r>
              <a:rPr lang="en-US" altLang="en-US"/>
              <a:t>And that starts with understanding what happens before the patient ever reaches UASHMC.</a:t>
            </a:r>
          </a:p>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Today, social media already plays an important role for UASHMC.</a:t>
            </a:r>
          </a:p>
          <a:p>
            <a:r>
              <a:rPr lang="en-US" altLang="en-US" dirty="0"/>
              <a:t>You post your services, facilities, doctors, health information and announcements, and that helps create awareness.</a:t>
            </a:r>
          </a:p>
          <a:p>
            <a:r>
              <a:rPr lang="en-US" altLang="en-US" dirty="0"/>
              <a:t>But awareness is only the beginning of the patient journey.</a:t>
            </a:r>
          </a:p>
          <a:p>
            <a:r>
              <a:rPr lang="en-US" altLang="en-US" dirty="0"/>
              <a:t>Someone sees a post about a service and becomes interested. The next questions are usually practical:</a:t>
            </a:r>
          </a:p>
          <a:p>
            <a:r>
              <a:rPr lang="en-US" altLang="en-US" dirty="0"/>
              <a:t>Do you have the specialist I need? Do you accept my HMO? What other services do you offer? How do I make an appointment? Where exactly are you located?</a:t>
            </a:r>
          </a:p>
          <a:p>
            <a:r>
              <a:rPr lang="en-US" altLang="en-US" dirty="0"/>
              <a:t>That's where the website becomes important.</a:t>
            </a:r>
          </a:p>
          <a:p>
            <a:r>
              <a:rPr lang="en-US" altLang="en-US" dirty="0"/>
              <a:t>Facebook helps people discover UASHMC. The website gives them an official place to investigate and validate UASHMC. And from there, we want to make it very easy for them to take action.</a:t>
            </a:r>
          </a:p>
          <a:p>
            <a:r>
              <a:rPr lang="en-US" altLang="en-US" dirty="0"/>
              <a:t>So the journey we're designing for is:</a:t>
            </a:r>
          </a:p>
          <a:p>
            <a:r>
              <a:rPr lang="en-US" altLang="en-US" dirty="0"/>
              <a:t>Awareness → Website → Patient Action.</a:t>
            </a:r>
          </a:p>
          <a:p>
            <a:r>
              <a:rPr lang="en-US" altLang="en-US" dirty="0"/>
              <a:t>For a growing hospital, I believe that is why the website should be viewed not simply as a corporate requirement, but as part of the hospital's patient-acquisition infrastructure.</a:t>
            </a:r>
          </a:p>
          <a:p>
            <a:r>
              <a:rPr lang="en-US" altLang="en-US" dirty="0"/>
              <a:t>Discussion prompt</a:t>
            </a:r>
          </a:p>
          <a:p>
            <a:r>
              <a:rPr lang="en-US" altLang="en-US" dirty="0"/>
              <a:t>Doc, does this generally reflect how you see UASHMC's digital presence today — that Facebook is creating awareness, but there isn't yet one central online destination for patients?</a:t>
            </a:r>
          </a:p>
          <a:p>
            <a:r>
              <a:rPr lang="en-US" altLang="en-US" dirty="0"/>
              <a:t>Transition</a:t>
            </a:r>
          </a:p>
          <a:p>
            <a:r>
              <a:rPr lang="en-US" altLang="en-US" dirty="0"/>
              <a:t>If we look at it from the patient's side, the requirements become even simpler.</a:t>
            </a:r>
          </a:p>
          <a:p>
            <a:endParaRPr lang="en-PH" dirty="0"/>
          </a:p>
        </p:txBody>
      </p:sp>
      <p:sp>
        <p:nvSpPr>
          <p:cNvPr id="4" name="Slide Number Placeholder 3"/>
          <p:cNvSpPr>
            <a:spLocks noGrp="1"/>
          </p:cNvSpPr>
          <p:nvPr>
            <p:ph type="sldNum" sz="quarter" idx="5"/>
          </p:nvPr>
        </p:nvSpPr>
        <p:spPr/>
        <p:txBody>
          <a:bodyPr/>
          <a:lstStyle/>
          <a:p>
            <a:fld id="{21B2AA4F-B828-4D7C-AFD3-893933DAFCB4}" type="slidenum">
              <a:rPr lang="en-US" smtClean="0"/>
              <a:t>3</a:t>
            </a:fld>
            <a:endParaRPr lang="en-US"/>
          </a:p>
        </p:txBody>
      </p:sp>
    </p:spTree>
    <p:extLst>
      <p:ext uri="{BB962C8B-B14F-4D97-AF65-F5344CB8AC3E}">
        <p14:creationId xmlns:p14="http://schemas.microsoft.com/office/powerpoint/2010/main" val="2337777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Patients usually search the website because they need something.</a:t>
            </a:r>
          </a:p>
          <a:p>
            <a:r>
              <a:rPr lang="en-PH" sz="1200" b="1" kern="1200" dirty="0">
                <a:solidFill>
                  <a:schemeClr val="tx1"/>
                </a:solidFill>
                <a:effectLst/>
                <a:latin typeface="+mn-lt"/>
                <a:ea typeface="+mn-ea"/>
                <a:cs typeface="+mn-cs"/>
              </a:rPr>
              <a:t>Can I find a doctor?</a:t>
            </a:r>
            <a:endParaRPr lang="en-PH" sz="1200" kern="1200" dirty="0">
              <a:solidFill>
                <a:schemeClr val="tx1"/>
              </a:solidFill>
              <a:effectLst/>
              <a:latin typeface="+mn-lt"/>
              <a:ea typeface="+mn-ea"/>
              <a:cs typeface="+mn-cs"/>
            </a:endParaRPr>
          </a:p>
          <a:p>
            <a:r>
              <a:rPr lang="en-PH" sz="1200" b="1" kern="1200" dirty="0">
                <a:solidFill>
                  <a:schemeClr val="tx1"/>
                </a:solidFill>
                <a:effectLst/>
                <a:latin typeface="+mn-lt"/>
                <a:ea typeface="+mn-ea"/>
                <a:cs typeface="+mn-cs"/>
              </a:rPr>
              <a:t>Does UASHMC offer the service I need?</a:t>
            </a:r>
            <a:endParaRPr lang="en-PH" sz="1200" kern="1200" dirty="0">
              <a:solidFill>
                <a:schemeClr val="tx1"/>
              </a:solidFill>
              <a:effectLst/>
              <a:latin typeface="+mn-lt"/>
              <a:ea typeface="+mn-ea"/>
              <a:cs typeface="+mn-cs"/>
            </a:endParaRPr>
          </a:p>
          <a:p>
            <a:r>
              <a:rPr lang="en-PH" sz="1200" b="1" kern="1200" dirty="0">
                <a:solidFill>
                  <a:schemeClr val="tx1"/>
                </a:solidFill>
                <a:effectLst/>
                <a:latin typeface="+mn-lt"/>
                <a:ea typeface="+mn-ea"/>
                <a:cs typeface="+mn-cs"/>
              </a:rPr>
              <a:t>Do you accept my HMO or PhilHealth?</a:t>
            </a:r>
            <a:endParaRPr lang="en-PH" sz="1200" kern="1200" dirty="0">
              <a:solidFill>
                <a:schemeClr val="tx1"/>
              </a:solidFill>
              <a:effectLst/>
              <a:latin typeface="+mn-lt"/>
              <a:ea typeface="+mn-ea"/>
              <a:cs typeface="+mn-cs"/>
            </a:endParaRPr>
          </a:p>
          <a:p>
            <a:r>
              <a:rPr lang="en-PH" sz="1200" b="1" kern="1200" dirty="0">
                <a:solidFill>
                  <a:schemeClr val="tx1"/>
                </a:solidFill>
                <a:effectLst/>
                <a:latin typeface="+mn-lt"/>
                <a:ea typeface="+mn-ea"/>
                <a:cs typeface="+mn-cs"/>
              </a:rPr>
              <a:t>What do I need to know before coming to the hospital?</a:t>
            </a:r>
            <a:endParaRPr lang="en-PH" sz="1200" kern="1200" dirty="0">
              <a:solidFill>
                <a:schemeClr val="tx1"/>
              </a:solidFill>
              <a:effectLst/>
              <a:latin typeface="+mn-lt"/>
              <a:ea typeface="+mn-ea"/>
              <a:cs typeface="+mn-cs"/>
            </a:endParaRPr>
          </a:p>
          <a:p>
            <a:r>
              <a:rPr lang="en-PH" sz="1200" b="1" kern="1200" dirty="0">
                <a:solidFill>
                  <a:schemeClr val="tx1"/>
                </a:solidFill>
                <a:effectLst/>
                <a:latin typeface="+mn-lt"/>
                <a:ea typeface="+mn-ea"/>
                <a:cs typeface="+mn-cs"/>
              </a:rPr>
              <a:t>What do I do in an emergency?</a:t>
            </a:r>
            <a:endParaRPr lang="en-PH" sz="1200" kern="1200" dirty="0">
              <a:solidFill>
                <a:schemeClr val="tx1"/>
              </a:solidFill>
              <a:effectLst/>
              <a:latin typeface="+mn-lt"/>
              <a:ea typeface="+mn-ea"/>
              <a:cs typeface="+mn-cs"/>
            </a:endParaRPr>
          </a:p>
          <a:p>
            <a:r>
              <a:rPr lang="en-PH" sz="1200" b="1" kern="1200" dirty="0">
                <a:solidFill>
                  <a:schemeClr val="tx1"/>
                </a:solidFill>
                <a:effectLst/>
                <a:latin typeface="+mn-lt"/>
                <a:ea typeface="+mn-ea"/>
                <a:cs typeface="+mn-cs"/>
              </a:rPr>
              <a:t>How do I get there?</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If we can answer these six needs clearly and quickly — especially on mobile — we've already created a useful patient experience.</a:t>
            </a:r>
          </a:p>
          <a:p>
            <a:r>
              <a:rPr lang="en-PH" sz="1200" kern="1200" dirty="0">
                <a:solidFill>
                  <a:schemeClr val="tx1"/>
                </a:solidFill>
                <a:effectLst/>
                <a:latin typeface="+mn-lt"/>
                <a:ea typeface="+mn-ea"/>
                <a:cs typeface="+mn-cs"/>
              </a:rPr>
              <a:t>And this is important for the design. We don't want the website organized primarily around what makes sense internally to the hospital. We want it organized around </a:t>
            </a:r>
            <a:r>
              <a:rPr lang="en-PH" sz="1200" b="1" kern="1200" dirty="0">
                <a:solidFill>
                  <a:schemeClr val="tx1"/>
                </a:solidFill>
                <a:effectLst/>
                <a:latin typeface="+mn-lt"/>
                <a:ea typeface="+mn-ea"/>
                <a:cs typeface="+mn-cs"/>
              </a:rPr>
              <a:t>what patients are trying to accomplish</a:t>
            </a:r>
            <a:r>
              <a:rPr lang="en-PH" sz="1200" kern="1200" dirty="0">
                <a:solidFill>
                  <a:schemeClr val="tx1"/>
                </a:solidFill>
                <a:effectLst/>
                <a:latin typeface="+mn-lt"/>
                <a:ea typeface="+mn-ea"/>
                <a:cs typeface="+mn-cs"/>
              </a:rPr>
              <a:t>.</a:t>
            </a:r>
          </a:p>
          <a:p>
            <a:r>
              <a:rPr lang="en-PH" sz="1200" b="1" kern="1200" dirty="0">
                <a:solidFill>
                  <a:schemeClr val="tx1"/>
                </a:solidFill>
                <a:effectLst/>
                <a:latin typeface="+mn-lt"/>
                <a:ea typeface="+mn-ea"/>
                <a:cs typeface="+mn-cs"/>
              </a:rPr>
              <a:t>Discussion prompt</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I'd actually like your team's input here. </a:t>
            </a:r>
            <a:r>
              <a:rPr lang="en-PH" sz="1200" b="1" kern="1200" dirty="0">
                <a:solidFill>
                  <a:schemeClr val="tx1"/>
                </a:solidFill>
                <a:effectLst/>
                <a:latin typeface="+mn-lt"/>
                <a:ea typeface="+mn-ea"/>
                <a:cs typeface="+mn-cs"/>
              </a:rPr>
              <a:t>Of these six, which are the most important for UASHMC right now?</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And is there anything important missing that your patients frequently ask about?</a:t>
            </a:r>
          </a:p>
          <a:p>
            <a:r>
              <a:rPr lang="en-PH" sz="1200" b="1" kern="1200" dirty="0">
                <a:solidFill>
                  <a:schemeClr val="tx1"/>
                </a:solidFill>
                <a:effectLst/>
                <a:latin typeface="+mn-lt"/>
                <a:ea typeface="+mn-ea"/>
                <a:cs typeface="+mn-cs"/>
              </a:rPr>
              <a:t>Transition</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With those patient needs in mind, this is the direction we've started exploring.</a:t>
            </a:r>
            <a:endParaRPr lang="en-PH" dirty="0"/>
          </a:p>
        </p:txBody>
      </p:sp>
      <p:sp>
        <p:nvSpPr>
          <p:cNvPr id="4" name="Slide Number Placeholder 3"/>
          <p:cNvSpPr>
            <a:spLocks noGrp="1"/>
          </p:cNvSpPr>
          <p:nvPr>
            <p:ph type="sldNum" sz="quarter" idx="5"/>
          </p:nvPr>
        </p:nvSpPr>
        <p:spPr/>
        <p:txBody>
          <a:bodyPr/>
          <a:lstStyle/>
          <a:p>
            <a:fld id="{21B2AA4F-B828-4D7C-AFD3-893933DAFCB4}" type="slidenum">
              <a:rPr lang="en-US" smtClean="0"/>
              <a:t>4</a:t>
            </a:fld>
            <a:endParaRPr lang="en-US"/>
          </a:p>
        </p:txBody>
      </p:sp>
    </p:spTree>
    <p:extLst>
      <p:ext uri="{BB962C8B-B14F-4D97-AF65-F5344CB8AC3E}">
        <p14:creationId xmlns:p14="http://schemas.microsoft.com/office/powerpoint/2010/main" val="2425036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CHANGE WITH THE ACTUAL HERO OF THE WEBSITE PROTOTYPE</a:t>
            </a:r>
            <a:br>
              <a:rPr lang="en-PH" sz="1200" kern="1200" dirty="0">
                <a:solidFill>
                  <a:schemeClr val="tx1"/>
                </a:solidFill>
                <a:effectLst/>
                <a:latin typeface="+mn-lt"/>
                <a:ea typeface="+mn-ea"/>
                <a:cs typeface="+mn-cs"/>
              </a:rPr>
            </a:br>
            <a:r>
              <a:rPr lang="en-PH" sz="1200" kern="1200" dirty="0">
                <a:solidFill>
                  <a:schemeClr val="tx1"/>
                </a:solidFill>
                <a:effectLst/>
                <a:latin typeface="+mn-lt"/>
                <a:ea typeface="+mn-ea"/>
                <a:cs typeface="+mn-cs"/>
              </a:rPr>
              <a:t>What you're seeing here is a </a:t>
            </a:r>
            <a:r>
              <a:rPr lang="en-PH" sz="1200" b="1" kern="1200" dirty="0">
                <a:solidFill>
                  <a:schemeClr val="tx1"/>
                </a:solidFill>
                <a:effectLst/>
                <a:latin typeface="+mn-lt"/>
                <a:ea typeface="+mn-ea"/>
                <a:cs typeface="+mn-cs"/>
              </a:rPr>
              <a:t>working direction</a:t>
            </a:r>
            <a:r>
              <a:rPr lang="en-PH" sz="1200" kern="1200" dirty="0">
                <a:solidFill>
                  <a:schemeClr val="tx1"/>
                </a:solidFill>
                <a:effectLst/>
                <a:latin typeface="+mn-lt"/>
                <a:ea typeface="+mn-ea"/>
                <a:cs typeface="+mn-cs"/>
              </a:rPr>
              <a:t>, this is not yet a draft for approval.</a:t>
            </a:r>
          </a:p>
          <a:p>
            <a:r>
              <a:rPr lang="en-PH" sz="1200" kern="1200" dirty="0">
                <a:solidFill>
                  <a:schemeClr val="tx1"/>
                </a:solidFill>
                <a:effectLst/>
                <a:latin typeface="+mn-lt"/>
                <a:ea typeface="+mn-ea"/>
                <a:cs typeface="+mn-cs"/>
              </a:rPr>
              <a:t>We created it so that instead of discussing a website theoretically, you have something concrete to react to.</a:t>
            </a:r>
          </a:p>
          <a:p>
            <a:r>
              <a:rPr lang="en-PH" sz="1200" kern="1200" dirty="0">
                <a:solidFill>
                  <a:schemeClr val="tx1"/>
                </a:solidFill>
                <a:effectLst/>
                <a:latin typeface="+mn-lt"/>
                <a:ea typeface="+mn-ea"/>
                <a:cs typeface="+mn-cs"/>
              </a:rPr>
              <a:t>The design principles are straightforward:</a:t>
            </a:r>
          </a:p>
          <a:p>
            <a:r>
              <a:rPr lang="en-PH" sz="1200" b="1" kern="1200" dirty="0">
                <a:solidFill>
                  <a:schemeClr val="tx1"/>
                </a:solidFill>
                <a:effectLst/>
                <a:latin typeface="+mn-lt"/>
                <a:ea typeface="+mn-ea"/>
                <a:cs typeface="+mn-cs"/>
              </a:rPr>
              <a:t>Clean and easy.</a:t>
            </a:r>
            <a:endParaRPr lang="en-PH" sz="1200" kern="1200" dirty="0">
              <a:solidFill>
                <a:schemeClr val="tx1"/>
              </a:solidFill>
              <a:effectLst/>
              <a:latin typeface="+mn-lt"/>
              <a:ea typeface="+mn-ea"/>
              <a:cs typeface="+mn-cs"/>
            </a:endParaRPr>
          </a:p>
          <a:p>
            <a:r>
              <a:rPr lang="en-PH" sz="1200" b="1" kern="1200" dirty="0">
                <a:solidFill>
                  <a:schemeClr val="tx1"/>
                </a:solidFill>
                <a:effectLst/>
                <a:latin typeface="+mn-lt"/>
                <a:ea typeface="+mn-ea"/>
                <a:cs typeface="+mn-cs"/>
              </a:rPr>
              <a:t>Mobile-friendly.</a:t>
            </a:r>
            <a:endParaRPr lang="en-PH" sz="1200" kern="1200" dirty="0">
              <a:solidFill>
                <a:schemeClr val="tx1"/>
              </a:solidFill>
              <a:effectLst/>
              <a:latin typeface="+mn-lt"/>
              <a:ea typeface="+mn-ea"/>
              <a:cs typeface="+mn-cs"/>
            </a:endParaRPr>
          </a:p>
          <a:p>
            <a:r>
              <a:rPr lang="en-PH" sz="1200" b="1" kern="1200" dirty="0">
                <a:solidFill>
                  <a:schemeClr val="tx1"/>
                </a:solidFill>
                <a:effectLst/>
                <a:latin typeface="+mn-lt"/>
                <a:ea typeface="+mn-ea"/>
                <a:cs typeface="+mn-cs"/>
              </a:rPr>
              <a:t>Important information should be easy to find.</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And every important page should help the patient understand </a:t>
            </a:r>
            <a:r>
              <a:rPr lang="en-PH" sz="1200" b="1" kern="1200" dirty="0">
                <a:solidFill>
                  <a:schemeClr val="tx1"/>
                </a:solidFill>
                <a:effectLst/>
                <a:latin typeface="+mn-lt"/>
                <a:ea typeface="+mn-ea"/>
                <a:cs typeface="+mn-cs"/>
              </a:rPr>
              <a:t>what to do next</a:t>
            </a:r>
            <a:r>
              <a:rPr lang="en-PH" sz="1200" kern="1200" dirty="0">
                <a:solidFill>
                  <a:schemeClr val="tx1"/>
                </a:solidFill>
                <a:effectLst/>
                <a:latin typeface="+mn-lt"/>
                <a:ea typeface="+mn-ea"/>
                <a:cs typeface="+mn-cs"/>
              </a:rPr>
              <a:t>.</a:t>
            </a:r>
          </a:p>
          <a:p>
            <a:r>
              <a:rPr lang="en-PH" sz="1200" kern="1200" dirty="0">
                <a:solidFill>
                  <a:schemeClr val="tx1"/>
                </a:solidFill>
                <a:effectLst/>
                <a:latin typeface="+mn-lt"/>
                <a:ea typeface="+mn-ea"/>
                <a:cs typeface="+mn-cs"/>
              </a:rPr>
              <a:t>We also want the visual character to feel like UASHMC — professional and medically credible, but not cold or overly institutional. It should be warm and welcoming</a:t>
            </a:r>
          </a:p>
          <a:p>
            <a:r>
              <a:rPr lang="en-PH" sz="1200" kern="1200" dirty="0">
                <a:solidFill>
                  <a:schemeClr val="tx1"/>
                </a:solidFill>
                <a:effectLst/>
                <a:latin typeface="+mn-lt"/>
                <a:ea typeface="+mn-ea"/>
                <a:cs typeface="+mn-cs"/>
              </a:rPr>
              <a:t>That's why your feedback today is important. The prototype should eventually reflect </a:t>
            </a:r>
            <a:r>
              <a:rPr lang="en-PH" sz="1200" b="1" kern="1200" dirty="0">
                <a:solidFill>
                  <a:schemeClr val="tx1"/>
                </a:solidFill>
                <a:effectLst/>
                <a:latin typeface="+mn-lt"/>
                <a:ea typeface="+mn-ea"/>
                <a:cs typeface="+mn-cs"/>
              </a:rPr>
              <a:t>your priorities, your services, your patients and your brand.</a:t>
            </a:r>
            <a:endParaRPr lang="en-PH" sz="1200" kern="1200" dirty="0">
              <a:solidFill>
                <a:schemeClr val="tx1"/>
              </a:solidFill>
              <a:effectLst/>
              <a:latin typeface="+mn-lt"/>
              <a:ea typeface="+mn-ea"/>
              <a:cs typeface="+mn-cs"/>
            </a:endParaRPr>
          </a:p>
          <a:p>
            <a:r>
              <a:rPr lang="en-PH" sz="1200" b="1" kern="1200" dirty="0">
                <a:solidFill>
                  <a:schemeClr val="tx1"/>
                </a:solidFill>
                <a:effectLst/>
                <a:latin typeface="+mn-lt"/>
                <a:ea typeface="+mn-ea"/>
                <a:cs typeface="+mn-cs"/>
              </a:rPr>
              <a:t>At this point, I would leave PowerPoint and show Allan's live prototype.</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Say:</a:t>
            </a:r>
          </a:p>
          <a:p>
            <a:r>
              <a:rPr lang="en-PH" sz="1200" kern="1200" dirty="0">
                <a:solidFill>
                  <a:schemeClr val="tx1"/>
                </a:solidFill>
                <a:effectLst/>
                <a:latin typeface="+mn-lt"/>
                <a:ea typeface="+mn-ea"/>
                <a:cs typeface="+mn-cs"/>
              </a:rPr>
              <a:t>Rather than explain it through slides, let me show you what we've started building.</a:t>
            </a:r>
          </a:p>
          <a:p>
            <a:r>
              <a:rPr lang="en-PH" sz="1200" kern="1200" dirty="0">
                <a:solidFill>
                  <a:schemeClr val="tx1"/>
                </a:solidFill>
                <a:effectLst/>
                <a:latin typeface="+mn-lt"/>
                <a:ea typeface="+mn-ea"/>
                <a:cs typeface="+mn-cs"/>
              </a:rPr>
              <a:t>Then navigate only through the strongest parts. </a:t>
            </a:r>
            <a:r>
              <a:rPr lang="en-PH" sz="1200" b="1" kern="1200" dirty="0">
                <a:solidFill>
                  <a:schemeClr val="tx1"/>
                </a:solidFill>
                <a:effectLst/>
                <a:latin typeface="+mn-lt"/>
                <a:ea typeface="+mn-ea"/>
                <a:cs typeface="+mn-cs"/>
              </a:rPr>
              <a:t>Don't do a long website tour.</a:t>
            </a:r>
            <a:r>
              <a:rPr lang="en-PH" sz="1200" kern="1200" dirty="0">
                <a:solidFill>
                  <a:schemeClr val="tx1"/>
                </a:solidFill>
                <a:effectLst/>
                <a:latin typeface="+mn-lt"/>
                <a:ea typeface="+mn-ea"/>
                <a:cs typeface="+mn-cs"/>
              </a:rPr>
              <a:t> Around 3–5 minutes is enough.</a:t>
            </a:r>
          </a:p>
          <a:p>
            <a:r>
              <a:rPr lang="en-PH" sz="1200" kern="1200" dirty="0">
                <a:solidFill>
                  <a:schemeClr val="tx1"/>
                </a:solidFill>
                <a:effectLst/>
                <a:latin typeface="+mn-lt"/>
                <a:ea typeface="+mn-ea"/>
                <a:cs typeface="+mn-cs"/>
              </a:rPr>
              <a:t>Afterward:</a:t>
            </a:r>
          </a:p>
          <a:p>
            <a:r>
              <a:rPr lang="en-PH" sz="1200" kern="1200" dirty="0">
                <a:solidFill>
                  <a:schemeClr val="tx1"/>
                </a:solidFill>
                <a:effectLst/>
                <a:latin typeface="+mn-lt"/>
                <a:ea typeface="+mn-ea"/>
                <a:cs typeface="+mn-cs"/>
              </a:rPr>
              <a:t>Again, we're not presenting that as the finished website. We're showing you what is possible and giving the team something tangible to improve.</a:t>
            </a:r>
          </a:p>
          <a:p>
            <a:r>
              <a:rPr lang="en-PH" sz="1200" kern="1200" dirty="0">
                <a:solidFill>
                  <a:schemeClr val="tx1"/>
                </a:solidFill>
                <a:effectLst/>
                <a:latin typeface="+mn-lt"/>
                <a:ea typeface="+mn-ea"/>
                <a:cs typeface="+mn-cs"/>
              </a:rPr>
              <a:t>What I'd particularly like to hear from you is: </a:t>
            </a:r>
            <a:r>
              <a:rPr lang="en-PH" sz="1200" b="1" kern="1200" dirty="0">
                <a:solidFill>
                  <a:schemeClr val="tx1"/>
                </a:solidFill>
                <a:effectLst/>
                <a:latin typeface="+mn-lt"/>
                <a:ea typeface="+mn-ea"/>
                <a:cs typeface="+mn-cs"/>
              </a:rPr>
              <a:t>does this feel like the direction UASHMC should take?</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Then ask about:</a:t>
            </a:r>
          </a:p>
          <a:p>
            <a:pPr lvl="0"/>
            <a:r>
              <a:rPr lang="en-PH" sz="1200" kern="1200" dirty="0">
                <a:solidFill>
                  <a:schemeClr val="tx1"/>
                </a:solidFill>
                <a:effectLst/>
                <a:latin typeface="+mn-lt"/>
                <a:ea typeface="+mn-ea"/>
                <a:cs typeface="+mn-cs"/>
              </a:rPr>
              <a:t>overall look and feel;</a:t>
            </a:r>
          </a:p>
          <a:p>
            <a:pPr lvl="0"/>
            <a:r>
              <a:rPr lang="en-PH" sz="1200" kern="1200" dirty="0">
                <a:solidFill>
                  <a:schemeClr val="tx1"/>
                </a:solidFill>
                <a:effectLst/>
                <a:latin typeface="+mn-lt"/>
                <a:ea typeface="+mn-ea"/>
                <a:cs typeface="+mn-cs"/>
              </a:rPr>
              <a:t>priority services;</a:t>
            </a:r>
          </a:p>
          <a:p>
            <a:pPr lvl="0"/>
            <a:r>
              <a:rPr lang="en-PH" sz="1200" kern="1200" dirty="0">
                <a:solidFill>
                  <a:schemeClr val="tx1"/>
                </a:solidFill>
                <a:effectLst/>
                <a:latin typeface="+mn-lt"/>
                <a:ea typeface="+mn-ea"/>
                <a:cs typeface="+mn-cs"/>
              </a:rPr>
              <a:t>patient actions;</a:t>
            </a:r>
          </a:p>
          <a:p>
            <a:pPr lvl="0"/>
            <a:r>
              <a:rPr lang="en-PH" sz="1200" kern="1200" dirty="0">
                <a:solidFill>
                  <a:schemeClr val="tx1"/>
                </a:solidFill>
                <a:effectLst/>
                <a:latin typeface="+mn-lt"/>
                <a:ea typeface="+mn-ea"/>
                <a:cs typeface="+mn-cs"/>
              </a:rPr>
              <a:t>photos/branding;</a:t>
            </a:r>
          </a:p>
          <a:p>
            <a:pPr lvl="0"/>
            <a:r>
              <a:rPr lang="en-PH" sz="1200" kern="1200" dirty="0">
                <a:solidFill>
                  <a:schemeClr val="tx1"/>
                </a:solidFill>
                <a:effectLst/>
                <a:latin typeface="+mn-lt"/>
                <a:ea typeface="+mn-ea"/>
                <a:cs typeface="+mn-cs"/>
              </a:rPr>
              <a:t>content owner.</a:t>
            </a:r>
          </a:p>
          <a:p>
            <a:r>
              <a:rPr lang="en-PH" sz="1200" b="1" kern="1200" dirty="0">
                <a:solidFill>
                  <a:schemeClr val="tx1"/>
                </a:solidFill>
                <a:effectLst/>
                <a:latin typeface="+mn-lt"/>
                <a:ea typeface="+mn-ea"/>
                <a:cs typeface="+mn-cs"/>
              </a:rPr>
              <a:t>Transition</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And there's another reason we're recommending that the website be built this way from the beginning.</a:t>
            </a:r>
          </a:p>
          <a:p>
            <a:endParaRPr lang="en-PH" dirty="0"/>
          </a:p>
        </p:txBody>
      </p:sp>
      <p:sp>
        <p:nvSpPr>
          <p:cNvPr id="4" name="Slide Number Placeholder 3"/>
          <p:cNvSpPr>
            <a:spLocks noGrp="1"/>
          </p:cNvSpPr>
          <p:nvPr>
            <p:ph type="sldNum" sz="quarter" idx="5"/>
          </p:nvPr>
        </p:nvSpPr>
        <p:spPr/>
        <p:txBody>
          <a:bodyPr/>
          <a:lstStyle/>
          <a:p>
            <a:fld id="{21B2AA4F-B828-4D7C-AFD3-893933DAFCB4}" type="slidenum">
              <a:rPr lang="en-US" smtClean="0"/>
              <a:t>5</a:t>
            </a:fld>
            <a:endParaRPr lang="en-US"/>
          </a:p>
        </p:txBody>
      </p:sp>
    </p:spTree>
    <p:extLst>
      <p:ext uri="{BB962C8B-B14F-4D97-AF65-F5344CB8AC3E}">
        <p14:creationId xmlns:p14="http://schemas.microsoft.com/office/powerpoint/2010/main" val="3274150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RESEARCH WHAT ARE THE PAIN POINTS OF UASHMC?</a:t>
            </a:r>
            <a:br>
              <a:rPr lang="en-PH" sz="1200" kern="1200" dirty="0">
                <a:solidFill>
                  <a:schemeClr val="tx1"/>
                </a:solidFill>
                <a:effectLst/>
                <a:latin typeface="+mn-lt"/>
                <a:ea typeface="+mn-ea"/>
                <a:cs typeface="+mn-cs"/>
              </a:rPr>
            </a:br>
            <a:r>
              <a:rPr lang="en-PH" sz="1200" kern="1200" dirty="0">
                <a:solidFill>
                  <a:schemeClr val="tx1"/>
                </a:solidFill>
                <a:effectLst/>
                <a:latin typeface="+mn-lt"/>
                <a:ea typeface="+mn-ea"/>
                <a:cs typeface="+mn-cs"/>
              </a:rPr>
              <a:t>This is where the website and KRISS AI fit together.</a:t>
            </a:r>
          </a:p>
          <a:p>
            <a:r>
              <a:rPr lang="en-PH" sz="1200" kern="1200" dirty="0">
                <a:solidFill>
                  <a:schemeClr val="tx1"/>
                </a:solidFill>
                <a:effectLst/>
                <a:latin typeface="+mn-lt"/>
                <a:ea typeface="+mn-ea"/>
                <a:cs typeface="+mn-cs"/>
              </a:rPr>
              <a:t>The distinction is very simple:</a:t>
            </a:r>
          </a:p>
          <a:p>
            <a:r>
              <a:rPr lang="en-PH" sz="1200" b="1" kern="1200" dirty="0">
                <a:solidFill>
                  <a:schemeClr val="tx1"/>
                </a:solidFill>
                <a:effectLst/>
                <a:latin typeface="+mn-lt"/>
                <a:ea typeface="+mn-ea"/>
                <a:cs typeface="+mn-cs"/>
              </a:rPr>
              <a:t>The website allows patients to FIND.</a:t>
            </a:r>
            <a:endParaRPr lang="en-PH" sz="1200" kern="1200" dirty="0">
              <a:solidFill>
                <a:schemeClr val="tx1"/>
              </a:solidFill>
              <a:effectLst/>
              <a:latin typeface="+mn-lt"/>
              <a:ea typeface="+mn-ea"/>
              <a:cs typeface="+mn-cs"/>
            </a:endParaRPr>
          </a:p>
          <a:p>
            <a:r>
              <a:rPr lang="en-PH" sz="1200" b="1" kern="1200" dirty="0">
                <a:solidFill>
                  <a:schemeClr val="tx1"/>
                </a:solidFill>
                <a:effectLst/>
                <a:latin typeface="+mn-lt"/>
                <a:ea typeface="+mn-ea"/>
                <a:cs typeface="+mn-cs"/>
              </a:rPr>
              <a:t>KRISS AI allows patients to ASK.</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A traditional website assumes the patient knows where to look.</a:t>
            </a:r>
          </a:p>
          <a:p>
            <a:r>
              <a:rPr lang="en-PH" sz="1200" kern="1200" dirty="0">
                <a:solidFill>
                  <a:schemeClr val="tx1"/>
                </a:solidFill>
                <a:effectLst/>
                <a:latin typeface="+mn-lt"/>
                <a:ea typeface="+mn-ea"/>
                <a:cs typeface="+mn-cs"/>
              </a:rPr>
              <a:t>With KRISS AI, the patient doesn't necessarily have to understand the website structure. They can simply ask:</a:t>
            </a:r>
          </a:p>
          <a:p>
            <a:r>
              <a:rPr lang="en-PH" sz="1200" i="1" kern="1200" dirty="0">
                <a:solidFill>
                  <a:schemeClr val="tx1"/>
                </a:solidFill>
                <a:effectLst/>
                <a:latin typeface="+mn-lt"/>
                <a:ea typeface="+mn-ea"/>
                <a:cs typeface="+mn-cs"/>
              </a:rPr>
              <a:t>“Do you accept my HMO?”</a:t>
            </a:r>
            <a:endParaRPr lang="en-PH" sz="1200" kern="1200" dirty="0">
              <a:solidFill>
                <a:schemeClr val="tx1"/>
              </a:solidFill>
              <a:effectLst/>
              <a:latin typeface="+mn-lt"/>
              <a:ea typeface="+mn-ea"/>
              <a:cs typeface="+mn-cs"/>
            </a:endParaRPr>
          </a:p>
          <a:p>
            <a:r>
              <a:rPr lang="en-PH" sz="1200" i="1" kern="1200" dirty="0">
                <a:solidFill>
                  <a:schemeClr val="tx1"/>
                </a:solidFill>
                <a:effectLst/>
                <a:latin typeface="+mn-lt"/>
                <a:ea typeface="+mn-ea"/>
                <a:cs typeface="+mn-cs"/>
              </a:rPr>
              <a:t>“Do you have a cardiologist?”</a:t>
            </a:r>
            <a:endParaRPr lang="en-PH" sz="1200" kern="1200" dirty="0">
              <a:solidFill>
                <a:schemeClr val="tx1"/>
              </a:solidFill>
              <a:effectLst/>
              <a:latin typeface="+mn-lt"/>
              <a:ea typeface="+mn-ea"/>
              <a:cs typeface="+mn-cs"/>
            </a:endParaRPr>
          </a:p>
          <a:p>
            <a:r>
              <a:rPr lang="en-PH" sz="1200" i="1" kern="1200" dirty="0">
                <a:solidFill>
                  <a:schemeClr val="tx1"/>
                </a:solidFill>
                <a:effectLst/>
                <a:latin typeface="+mn-lt"/>
                <a:ea typeface="+mn-ea"/>
                <a:cs typeface="+mn-cs"/>
              </a:rPr>
              <a:t>“What diagnostic services are available?”</a:t>
            </a:r>
            <a:endParaRPr lang="en-PH" sz="1200" kern="1200" dirty="0">
              <a:solidFill>
                <a:schemeClr val="tx1"/>
              </a:solidFill>
              <a:effectLst/>
              <a:latin typeface="+mn-lt"/>
              <a:ea typeface="+mn-ea"/>
              <a:cs typeface="+mn-cs"/>
            </a:endParaRPr>
          </a:p>
          <a:p>
            <a:r>
              <a:rPr lang="en-PH" sz="1200" i="1" kern="1200" dirty="0">
                <a:solidFill>
                  <a:schemeClr val="tx1"/>
                </a:solidFill>
                <a:effectLst/>
                <a:latin typeface="+mn-lt"/>
                <a:ea typeface="+mn-ea"/>
                <a:cs typeface="+mn-cs"/>
              </a:rPr>
              <a:t>“How do I contact the hospital?”</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KRISS AI then uses </a:t>
            </a:r>
            <a:r>
              <a:rPr lang="en-PH" sz="1200" b="1" kern="1200" dirty="0">
                <a:solidFill>
                  <a:schemeClr val="tx1"/>
                </a:solidFill>
                <a:effectLst/>
                <a:latin typeface="+mn-lt"/>
                <a:ea typeface="+mn-ea"/>
                <a:cs typeface="+mn-cs"/>
              </a:rPr>
              <a:t>UASHMC-approved information</a:t>
            </a:r>
            <a:r>
              <a:rPr lang="en-PH" sz="1200" kern="1200" dirty="0">
                <a:solidFill>
                  <a:schemeClr val="tx1"/>
                </a:solidFill>
                <a:effectLst/>
                <a:latin typeface="+mn-lt"/>
                <a:ea typeface="+mn-ea"/>
                <a:cs typeface="+mn-cs"/>
              </a:rPr>
              <a:t> to help guide the patient.</a:t>
            </a:r>
          </a:p>
          <a:p>
            <a:r>
              <a:rPr lang="en-PH" sz="1200" kern="1200" dirty="0">
                <a:solidFill>
                  <a:schemeClr val="tx1"/>
                </a:solidFill>
                <a:effectLst/>
                <a:latin typeface="+mn-lt"/>
                <a:ea typeface="+mn-ea"/>
                <a:cs typeface="+mn-cs"/>
              </a:rPr>
              <a:t>That's why our recommendation isn't to build a website today and then someday discover that it has to be redesigned for AI.</a:t>
            </a:r>
          </a:p>
          <a:p>
            <a:r>
              <a:rPr lang="en-PH" sz="1200" kern="1200" dirty="0">
                <a:solidFill>
                  <a:schemeClr val="tx1"/>
                </a:solidFill>
                <a:effectLst/>
                <a:latin typeface="+mn-lt"/>
                <a:ea typeface="+mn-ea"/>
                <a:cs typeface="+mn-cs"/>
              </a:rPr>
              <a:t>We can make the foundation </a:t>
            </a:r>
            <a:r>
              <a:rPr lang="en-PH" sz="1200" b="1" kern="1200" dirty="0">
                <a:solidFill>
                  <a:schemeClr val="tx1"/>
                </a:solidFill>
                <a:effectLst/>
                <a:latin typeface="+mn-lt"/>
                <a:ea typeface="+mn-ea"/>
                <a:cs typeface="+mn-cs"/>
              </a:rPr>
              <a:t>AI-ready from the beginning.</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The website remains useful on its own. KRISS AI simply adds the conversational patient-engagement layer.</a:t>
            </a:r>
          </a:p>
          <a:p>
            <a:r>
              <a:rPr lang="en-PH" sz="1200" b="1" kern="1200" dirty="0">
                <a:solidFill>
                  <a:schemeClr val="tx1"/>
                </a:solidFill>
                <a:effectLst/>
                <a:latin typeface="+mn-lt"/>
                <a:ea typeface="+mn-ea"/>
                <a:cs typeface="+mn-cs"/>
              </a:rPr>
              <a:t>Important positioning line</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So we're not proposing AI for the sake of saying UASHMC has AI. We're asking where AI can remove friction from the actual patient journey.</a:t>
            </a:r>
          </a:p>
          <a:p>
            <a:r>
              <a:rPr lang="en-PH" sz="1200" b="1" kern="1200" dirty="0">
                <a:solidFill>
                  <a:schemeClr val="tx1"/>
                </a:solidFill>
                <a:effectLst/>
                <a:latin typeface="+mn-lt"/>
                <a:ea typeface="+mn-ea"/>
                <a:cs typeface="+mn-cs"/>
              </a:rPr>
              <a:t>Discussion prompt</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From your experience, what questions does your team repeatedly receive from patients that you think should be answered immediately online?</a:t>
            </a:r>
          </a:p>
          <a:p>
            <a:r>
              <a:rPr lang="en-PH" sz="1200" kern="1200" dirty="0">
                <a:solidFill>
                  <a:schemeClr val="tx1"/>
                </a:solidFill>
                <a:effectLst/>
                <a:latin typeface="+mn-lt"/>
                <a:ea typeface="+mn-ea"/>
                <a:cs typeface="+mn-cs"/>
              </a:rPr>
              <a:t>That question is useful because their answers become </a:t>
            </a:r>
            <a:r>
              <a:rPr lang="en-PH" sz="1200" b="1" kern="1200" dirty="0">
                <a:solidFill>
                  <a:schemeClr val="tx1"/>
                </a:solidFill>
                <a:effectLst/>
                <a:latin typeface="+mn-lt"/>
                <a:ea typeface="+mn-ea"/>
                <a:cs typeface="+mn-cs"/>
              </a:rPr>
              <a:t>KRISS AI use cases</a:t>
            </a:r>
            <a:r>
              <a:rPr lang="en-PH" sz="1200" kern="1200" dirty="0">
                <a:solidFill>
                  <a:schemeClr val="tx1"/>
                </a:solidFill>
                <a:effectLst/>
                <a:latin typeface="+mn-lt"/>
                <a:ea typeface="+mn-ea"/>
                <a:cs typeface="+mn-cs"/>
              </a:rPr>
              <a:t>.</a:t>
            </a:r>
          </a:p>
          <a:p>
            <a:endParaRPr lang="en-PH" dirty="0"/>
          </a:p>
        </p:txBody>
      </p:sp>
      <p:sp>
        <p:nvSpPr>
          <p:cNvPr id="4" name="Slide Number Placeholder 3"/>
          <p:cNvSpPr>
            <a:spLocks noGrp="1"/>
          </p:cNvSpPr>
          <p:nvPr>
            <p:ph type="sldNum" sz="quarter" idx="5"/>
          </p:nvPr>
        </p:nvSpPr>
        <p:spPr/>
        <p:txBody>
          <a:bodyPr/>
          <a:lstStyle/>
          <a:p>
            <a:fld id="{21B2AA4F-B828-4D7C-AFD3-893933DAFCB4}" type="slidenum">
              <a:rPr lang="en-US" smtClean="0"/>
              <a:t>6</a:t>
            </a:fld>
            <a:endParaRPr lang="en-US"/>
          </a:p>
        </p:txBody>
      </p:sp>
    </p:spTree>
    <p:extLst>
      <p:ext uri="{BB962C8B-B14F-4D97-AF65-F5344CB8AC3E}">
        <p14:creationId xmlns:p14="http://schemas.microsoft.com/office/powerpoint/2010/main" val="2245083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These are examples from UASHMC's own social-media content.</a:t>
            </a:r>
          </a:p>
          <a:p>
            <a:r>
              <a:rPr lang="en-PH" sz="1200" kern="1200" dirty="0">
                <a:solidFill>
                  <a:schemeClr val="tx1"/>
                </a:solidFill>
                <a:effectLst/>
                <a:latin typeface="+mn-lt"/>
                <a:ea typeface="+mn-ea"/>
                <a:cs typeface="+mn-cs"/>
              </a:rPr>
              <a:t>And actually, this demonstrates that you already have a lot of the raw material.</a:t>
            </a:r>
          </a:p>
          <a:p>
            <a:r>
              <a:rPr lang="en-PH" sz="1200" kern="1200" dirty="0">
                <a:solidFill>
                  <a:schemeClr val="tx1"/>
                </a:solidFill>
                <a:effectLst/>
                <a:latin typeface="+mn-lt"/>
                <a:ea typeface="+mn-ea"/>
                <a:cs typeface="+mn-cs"/>
              </a:rPr>
              <a:t>You're already communicating about services such as CT Scan, Sleep Study and surgery.</a:t>
            </a:r>
          </a:p>
          <a:p>
            <a:r>
              <a:rPr lang="en-PH" sz="1200" kern="1200" dirty="0">
                <a:solidFill>
                  <a:schemeClr val="tx1"/>
                </a:solidFill>
                <a:effectLst/>
                <a:latin typeface="+mn-lt"/>
                <a:ea typeface="+mn-ea"/>
                <a:cs typeface="+mn-cs"/>
              </a:rPr>
              <a:t>The problem isn't necessarily that the information doesn't exist.</a:t>
            </a:r>
          </a:p>
          <a:p>
            <a:r>
              <a:rPr lang="en-PH" sz="1200" kern="1200" dirty="0">
                <a:solidFill>
                  <a:schemeClr val="tx1"/>
                </a:solidFill>
                <a:effectLst/>
                <a:latin typeface="+mn-lt"/>
                <a:ea typeface="+mn-ea"/>
                <a:cs typeface="+mn-cs"/>
              </a:rPr>
              <a:t>The problem is that </a:t>
            </a:r>
            <a:r>
              <a:rPr lang="en-PH" sz="1200" b="1" kern="1200" dirty="0">
                <a:solidFill>
                  <a:schemeClr val="tx1"/>
                </a:solidFill>
                <a:effectLst/>
                <a:latin typeface="+mn-lt"/>
                <a:ea typeface="+mn-ea"/>
                <a:cs typeface="+mn-cs"/>
              </a:rPr>
              <a:t>social-media content is chronological</a:t>
            </a:r>
            <a:r>
              <a:rPr lang="en-PH" sz="1200" kern="1200" dirty="0">
                <a:solidFill>
                  <a:schemeClr val="tx1"/>
                </a:solidFill>
                <a:effectLst/>
                <a:latin typeface="+mn-lt"/>
                <a:ea typeface="+mn-ea"/>
                <a:cs typeface="+mn-cs"/>
              </a:rPr>
              <a:t>. A useful post eventually moves down the feed.</a:t>
            </a:r>
          </a:p>
          <a:p>
            <a:r>
              <a:rPr lang="en-PH" sz="1200" kern="1200" dirty="0">
                <a:solidFill>
                  <a:schemeClr val="tx1"/>
                </a:solidFill>
                <a:effectLst/>
                <a:latin typeface="+mn-lt"/>
                <a:ea typeface="+mn-ea"/>
                <a:cs typeface="+mn-cs"/>
              </a:rPr>
              <a:t>A patient looking for a particular service shouldn't have to search through months of Facebook posts to determine whether UASHMC offers it.</a:t>
            </a:r>
          </a:p>
          <a:p>
            <a:r>
              <a:rPr lang="en-PH" sz="1200" kern="1200" dirty="0">
                <a:solidFill>
                  <a:schemeClr val="tx1"/>
                </a:solidFill>
                <a:effectLst/>
                <a:latin typeface="+mn-lt"/>
                <a:ea typeface="+mn-ea"/>
                <a:cs typeface="+mn-cs"/>
              </a:rPr>
              <a:t>On the website, we can take this information and turn it into a </a:t>
            </a:r>
            <a:r>
              <a:rPr lang="en-PH" sz="1200" b="1" kern="1200" dirty="0">
                <a:solidFill>
                  <a:schemeClr val="tx1"/>
                </a:solidFill>
                <a:effectLst/>
                <a:latin typeface="+mn-lt"/>
                <a:ea typeface="+mn-ea"/>
                <a:cs typeface="+mn-cs"/>
              </a:rPr>
              <a:t>structured, permanent and searchable patient resource</a:t>
            </a:r>
            <a:r>
              <a:rPr lang="en-PH" sz="1200" kern="1200" dirty="0">
                <a:solidFill>
                  <a:schemeClr val="tx1"/>
                </a:solidFill>
                <a:effectLst/>
                <a:latin typeface="+mn-lt"/>
                <a:ea typeface="+mn-ea"/>
                <a:cs typeface="+mn-cs"/>
              </a:rPr>
              <a:t>.</a:t>
            </a:r>
          </a:p>
          <a:p>
            <a:r>
              <a:rPr lang="en-PH" sz="1200" kern="1200" dirty="0">
                <a:solidFill>
                  <a:schemeClr val="tx1"/>
                </a:solidFill>
                <a:effectLst/>
                <a:latin typeface="+mn-lt"/>
                <a:ea typeface="+mn-ea"/>
                <a:cs typeface="+mn-cs"/>
              </a:rPr>
              <a:t>Facebook can continue doing what Facebook does well — creating awareness and engagement.</a:t>
            </a:r>
          </a:p>
          <a:p>
            <a:r>
              <a:rPr lang="en-PH" sz="1200" kern="1200" dirty="0">
                <a:solidFill>
                  <a:schemeClr val="tx1"/>
                </a:solidFill>
                <a:effectLst/>
                <a:latin typeface="+mn-lt"/>
                <a:ea typeface="+mn-ea"/>
                <a:cs typeface="+mn-cs"/>
              </a:rPr>
              <a:t>The website becomes the hospital's </a:t>
            </a:r>
            <a:r>
              <a:rPr lang="en-PH" sz="1200" b="1" kern="1200" dirty="0">
                <a:solidFill>
                  <a:schemeClr val="tx1"/>
                </a:solidFill>
                <a:effectLst/>
                <a:latin typeface="+mn-lt"/>
                <a:ea typeface="+mn-ea"/>
                <a:cs typeface="+mn-cs"/>
              </a:rPr>
              <a:t>authoritative digital home</a:t>
            </a:r>
            <a:r>
              <a:rPr lang="en-PH" sz="1200" kern="1200" dirty="0">
                <a:solidFill>
                  <a:schemeClr val="tx1"/>
                </a:solidFill>
                <a:effectLst/>
                <a:latin typeface="+mn-lt"/>
                <a:ea typeface="+mn-ea"/>
                <a:cs typeface="+mn-cs"/>
              </a:rPr>
              <a:t>.</a:t>
            </a:r>
          </a:p>
          <a:p>
            <a:r>
              <a:rPr lang="en-PH" sz="1200" b="1" kern="1200" dirty="0">
                <a:solidFill>
                  <a:schemeClr val="tx1"/>
                </a:solidFill>
                <a:effectLst/>
                <a:latin typeface="+mn-lt"/>
                <a:ea typeface="+mn-ea"/>
                <a:cs typeface="+mn-cs"/>
              </a:rPr>
              <a:t>Key line</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So we are not proposing replacing Facebook. We're giving all that good social-media work somewhere permanent to lead patients.</a:t>
            </a:r>
          </a:p>
          <a:p>
            <a:r>
              <a:rPr lang="en-PH" sz="1200" b="1" kern="1200" dirty="0">
                <a:solidFill>
                  <a:schemeClr val="tx1"/>
                </a:solidFill>
                <a:effectLst/>
                <a:latin typeface="+mn-lt"/>
                <a:ea typeface="+mn-ea"/>
                <a:cs typeface="+mn-cs"/>
              </a:rPr>
              <a:t>Discussion prompt</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Which services would you most want us to prioritize on the website — particularly the services UASHMC wants to grow?</a:t>
            </a:r>
          </a:p>
          <a:p>
            <a:r>
              <a:rPr lang="en-PH" sz="1200" kern="1200" dirty="0">
                <a:solidFill>
                  <a:schemeClr val="tx1"/>
                </a:solidFill>
                <a:effectLst/>
                <a:latin typeface="+mn-lt"/>
                <a:ea typeface="+mn-ea"/>
                <a:cs typeface="+mn-cs"/>
              </a:rPr>
              <a:t>This is one of the most commercially useful questions in the presentation. Give them time to answer.</a:t>
            </a:r>
          </a:p>
          <a:p>
            <a:endParaRPr lang="en-PH" dirty="0"/>
          </a:p>
        </p:txBody>
      </p:sp>
      <p:sp>
        <p:nvSpPr>
          <p:cNvPr id="4" name="Slide Number Placeholder 3"/>
          <p:cNvSpPr>
            <a:spLocks noGrp="1"/>
          </p:cNvSpPr>
          <p:nvPr>
            <p:ph type="sldNum" sz="quarter" idx="5"/>
          </p:nvPr>
        </p:nvSpPr>
        <p:spPr/>
        <p:txBody>
          <a:bodyPr/>
          <a:lstStyle/>
          <a:p>
            <a:fld id="{21B2AA4F-B828-4D7C-AFD3-893933DAFCB4}" type="slidenum">
              <a:rPr lang="en-US" smtClean="0"/>
              <a:t>7</a:t>
            </a:fld>
            <a:endParaRPr lang="en-US"/>
          </a:p>
        </p:txBody>
      </p:sp>
    </p:spTree>
    <p:extLst>
      <p:ext uri="{BB962C8B-B14F-4D97-AF65-F5344CB8AC3E}">
        <p14:creationId xmlns:p14="http://schemas.microsoft.com/office/powerpoint/2010/main" val="3426101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If UASHMC decides to proceed, we've deliberately kept the process simple.</a:t>
            </a:r>
          </a:p>
          <a:p>
            <a:r>
              <a:rPr lang="en-PH" sz="1200" kern="1200" dirty="0">
                <a:solidFill>
                  <a:schemeClr val="tx1"/>
                </a:solidFill>
                <a:effectLst/>
                <a:latin typeface="+mn-lt"/>
                <a:ea typeface="+mn-ea"/>
                <a:cs typeface="+mn-cs"/>
              </a:rPr>
              <a:t>There are really only three phases.</a:t>
            </a:r>
          </a:p>
          <a:p>
            <a:r>
              <a:rPr lang="en-PH" sz="1200" b="1" kern="1200" dirty="0">
                <a:solidFill>
                  <a:schemeClr val="tx1"/>
                </a:solidFill>
                <a:effectLst/>
                <a:latin typeface="+mn-lt"/>
                <a:ea typeface="+mn-ea"/>
                <a:cs typeface="+mn-cs"/>
              </a:rPr>
              <a:t>First: Align.</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We confirm the scope and identify one UASHMC project owner or point person.</a:t>
            </a:r>
          </a:p>
          <a:p>
            <a:r>
              <a:rPr lang="en-PH" sz="1200" b="1" kern="1200" dirty="0">
                <a:solidFill>
                  <a:schemeClr val="tx1"/>
                </a:solidFill>
                <a:effectLst/>
                <a:latin typeface="+mn-lt"/>
                <a:ea typeface="+mn-ea"/>
                <a:cs typeface="+mn-cs"/>
              </a:rPr>
              <a:t>Second: Build.</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We gather the available content and materials and begin development. Importantly, we don't need to wait until every single piece of information is perfect before we start.</a:t>
            </a:r>
          </a:p>
          <a:p>
            <a:r>
              <a:rPr lang="en-PH" sz="1200" kern="1200" dirty="0">
                <a:solidFill>
                  <a:schemeClr val="tx1"/>
                </a:solidFill>
                <a:effectLst/>
                <a:latin typeface="+mn-lt"/>
                <a:ea typeface="+mn-ea"/>
                <a:cs typeface="+mn-cs"/>
              </a:rPr>
              <a:t>We can build in parallel while UASHMC validates doctors, services, HMOs, photos and patient information.</a:t>
            </a:r>
          </a:p>
          <a:p>
            <a:r>
              <a:rPr lang="en-PH" sz="1200" b="1" kern="1200" dirty="0">
                <a:solidFill>
                  <a:schemeClr val="tx1"/>
                </a:solidFill>
                <a:effectLst/>
                <a:latin typeface="+mn-lt"/>
                <a:ea typeface="+mn-ea"/>
                <a:cs typeface="+mn-cs"/>
              </a:rPr>
              <a:t>Third: Launch.</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We test everything with your team, refine it based on feedback, and then go live once UASHMC is comfortable.</a:t>
            </a:r>
          </a:p>
          <a:p>
            <a:r>
              <a:rPr lang="en-PH" sz="1200" kern="1200" dirty="0">
                <a:solidFill>
                  <a:schemeClr val="tx1"/>
                </a:solidFill>
                <a:effectLst/>
                <a:latin typeface="+mn-lt"/>
                <a:ea typeface="+mn-ea"/>
                <a:cs typeface="+mn-cs"/>
              </a:rPr>
              <a:t>Our team handles the technical work. What we need from UASHMC is primarily </a:t>
            </a:r>
            <a:r>
              <a:rPr lang="en-PH" sz="1200" b="1" kern="1200" dirty="0">
                <a:solidFill>
                  <a:schemeClr val="tx1"/>
                </a:solidFill>
                <a:effectLst/>
                <a:latin typeface="+mn-lt"/>
                <a:ea typeface="+mn-ea"/>
                <a:cs typeface="+mn-cs"/>
              </a:rPr>
              <a:t>direction, approved information and timely validation.</a:t>
            </a:r>
            <a:endParaRPr lang="en-PH" sz="1200" kern="1200" dirty="0">
              <a:solidFill>
                <a:schemeClr val="tx1"/>
              </a:solidFill>
              <a:effectLst/>
              <a:latin typeface="+mn-lt"/>
              <a:ea typeface="+mn-ea"/>
              <a:cs typeface="+mn-cs"/>
            </a:endParaRPr>
          </a:p>
          <a:p>
            <a:r>
              <a:rPr lang="en-PH" sz="1200" b="1" kern="1200" dirty="0">
                <a:solidFill>
                  <a:schemeClr val="tx1"/>
                </a:solidFill>
                <a:effectLst/>
                <a:latin typeface="+mn-lt"/>
                <a:ea typeface="+mn-ea"/>
                <a:cs typeface="+mn-cs"/>
              </a:rPr>
              <a:t>Critical next-step question</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If we proceed, </a:t>
            </a:r>
            <a:r>
              <a:rPr lang="en-PH" sz="1200" b="1" kern="1200" dirty="0">
                <a:solidFill>
                  <a:schemeClr val="tx1"/>
                </a:solidFill>
                <a:effectLst/>
                <a:latin typeface="+mn-lt"/>
                <a:ea typeface="+mn-ea"/>
                <a:cs typeface="+mn-cs"/>
              </a:rPr>
              <a:t>who would be the best person on the UASHMC side for us to coordinate with on the website content and approvals?</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This is where I would try to get the project owner named </a:t>
            </a:r>
            <a:r>
              <a:rPr lang="en-PH" sz="1200" b="1" kern="1200" dirty="0">
                <a:solidFill>
                  <a:schemeClr val="tx1"/>
                </a:solidFill>
                <a:effectLst/>
                <a:latin typeface="+mn-lt"/>
                <a:ea typeface="+mn-ea"/>
                <a:cs typeface="+mn-cs"/>
              </a:rPr>
              <a:t>during the meeting</a:t>
            </a:r>
            <a:r>
              <a:rPr lang="en-PH" sz="1200" kern="1200" dirty="0">
                <a:solidFill>
                  <a:schemeClr val="tx1"/>
                </a:solidFill>
                <a:effectLst/>
                <a:latin typeface="+mn-lt"/>
                <a:ea typeface="+mn-ea"/>
                <a:cs typeface="+mn-cs"/>
              </a:rPr>
              <a:t>, rather than chasing one afterward.</a:t>
            </a:r>
          </a:p>
          <a:p>
            <a:r>
              <a:rPr lang="en-PH" sz="1200" b="1" kern="1200" dirty="0">
                <a:solidFill>
                  <a:schemeClr val="tx1"/>
                </a:solidFill>
                <a:effectLst/>
                <a:latin typeface="+mn-lt"/>
                <a:ea typeface="+mn-ea"/>
                <a:cs typeface="+mn-cs"/>
              </a:rPr>
              <a:t>Transition</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Finally, let me show you the commercial structure we've prepared.</a:t>
            </a:r>
          </a:p>
          <a:p>
            <a:endParaRPr lang="en-PH" dirty="0"/>
          </a:p>
        </p:txBody>
      </p:sp>
      <p:sp>
        <p:nvSpPr>
          <p:cNvPr id="4" name="Slide Number Placeholder 3"/>
          <p:cNvSpPr>
            <a:spLocks noGrp="1"/>
          </p:cNvSpPr>
          <p:nvPr>
            <p:ph type="sldNum" sz="quarter" idx="5"/>
          </p:nvPr>
        </p:nvSpPr>
        <p:spPr/>
        <p:txBody>
          <a:bodyPr/>
          <a:lstStyle/>
          <a:p>
            <a:fld id="{21B2AA4F-B828-4D7C-AFD3-893933DAFCB4}" type="slidenum">
              <a:rPr lang="en-US" smtClean="0"/>
              <a:t>8</a:t>
            </a:fld>
            <a:endParaRPr lang="en-US"/>
          </a:p>
        </p:txBody>
      </p:sp>
    </p:spTree>
    <p:extLst>
      <p:ext uri="{BB962C8B-B14F-4D97-AF65-F5344CB8AC3E}">
        <p14:creationId xmlns:p14="http://schemas.microsoft.com/office/powerpoint/2010/main" val="559585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We've structured this so UASHMC can choose how far it wants to go initially.</a:t>
            </a:r>
          </a:p>
          <a:p>
            <a:r>
              <a:rPr lang="en-PH" sz="1200" kern="1200" dirty="0">
                <a:solidFill>
                  <a:schemeClr val="tx1"/>
                </a:solidFill>
                <a:effectLst/>
                <a:latin typeface="+mn-lt"/>
                <a:ea typeface="+mn-ea"/>
                <a:cs typeface="+mn-cs"/>
              </a:rPr>
              <a:t>But based on where the hospital is today, </a:t>
            </a:r>
            <a:r>
              <a:rPr lang="en-PH" sz="1200" b="1" kern="1200" dirty="0">
                <a:solidFill>
                  <a:schemeClr val="tx1"/>
                </a:solidFill>
                <a:effectLst/>
                <a:latin typeface="+mn-lt"/>
                <a:ea typeface="+mn-ea"/>
                <a:cs typeface="+mn-cs"/>
              </a:rPr>
              <a:t>our recommendation is the integrated Website + KRISS AI package.</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That gives UASHMC the digital foundation and patient-engagement layer together.</a:t>
            </a:r>
          </a:p>
          <a:p>
            <a:r>
              <a:rPr lang="en-PH" sz="1200" kern="1200" dirty="0">
                <a:solidFill>
                  <a:schemeClr val="tx1"/>
                </a:solidFill>
                <a:effectLst/>
                <a:latin typeface="+mn-lt"/>
                <a:ea typeface="+mn-ea"/>
                <a:cs typeface="+mn-cs"/>
              </a:rPr>
              <a:t>The regular combined setup is </a:t>
            </a:r>
            <a:r>
              <a:rPr lang="en-PH" sz="1200" b="1" kern="1200" dirty="0">
                <a:solidFill>
                  <a:schemeClr val="tx1"/>
                </a:solidFill>
                <a:effectLst/>
                <a:latin typeface="+mn-lt"/>
                <a:ea typeface="+mn-ea"/>
                <a:cs typeface="+mn-cs"/>
              </a:rPr>
              <a:t>US$2,000</a:t>
            </a:r>
            <a:r>
              <a:rPr lang="en-PH" sz="1200" kern="1200" dirty="0">
                <a:solidFill>
                  <a:schemeClr val="tx1"/>
                </a:solidFill>
                <a:effectLst/>
                <a:latin typeface="+mn-lt"/>
                <a:ea typeface="+mn-ea"/>
                <a:cs typeface="+mn-cs"/>
              </a:rPr>
              <a:t>, but because UASHMC is a new hospital and we're hoping to help you establish this foundation early, we received approval for a special early-commitment rate:</a:t>
            </a:r>
          </a:p>
          <a:p>
            <a:r>
              <a:rPr lang="en-PH" sz="1200" b="1" kern="1200" dirty="0">
                <a:solidFill>
                  <a:schemeClr val="tx1"/>
                </a:solidFill>
                <a:effectLst/>
                <a:latin typeface="+mn-lt"/>
                <a:ea typeface="+mn-ea"/>
                <a:cs typeface="+mn-cs"/>
              </a:rPr>
              <a:t>US$1,500 one-time setup</a:t>
            </a:r>
            <a:r>
              <a:rPr lang="en-PH" sz="1200" kern="1200" dirty="0">
                <a:solidFill>
                  <a:schemeClr val="tx1"/>
                </a:solidFill>
                <a:effectLst/>
                <a:latin typeface="+mn-lt"/>
                <a:ea typeface="+mn-ea"/>
                <a:cs typeface="+mn-cs"/>
              </a:rPr>
              <a:t>, if confirmed on or before </a:t>
            </a:r>
            <a:r>
              <a:rPr lang="en-PH" sz="1200" b="1" kern="1200" dirty="0">
                <a:solidFill>
                  <a:schemeClr val="tx1"/>
                </a:solidFill>
                <a:effectLst/>
                <a:latin typeface="+mn-lt"/>
                <a:ea typeface="+mn-ea"/>
                <a:cs typeface="+mn-cs"/>
              </a:rPr>
              <a:t>November 30, 2026</a:t>
            </a:r>
            <a:r>
              <a:rPr lang="en-PH" sz="1200" kern="1200" dirty="0">
                <a:solidFill>
                  <a:schemeClr val="tx1"/>
                </a:solidFill>
                <a:effectLst/>
                <a:latin typeface="+mn-lt"/>
                <a:ea typeface="+mn-ea"/>
                <a:cs typeface="+mn-cs"/>
              </a:rPr>
              <a:t>.</a:t>
            </a:r>
          </a:p>
          <a:p>
            <a:r>
              <a:rPr lang="en-PH" sz="1200" kern="1200" dirty="0">
                <a:solidFill>
                  <a:schemeClr val="tx1"/>
                </a:solidFill>
                <a:effectLst/>
                <a:latin typeface="+mn-lt"/>
                <a:ea typeface="+mn-ea"/>
                <a:cs typeface="+mn-cs"/>
              </a:rPr>
              <a:t>The recurring fee is </a:t>
            </a:r>
            <a:r>
              <a:rPr lang="en-PH" sz="1200" b="1" kern="1200" dirty="0">
                <a:solidFill>
                  <a:schemeClr val="tx1"/>
                </a:solidFill>
                <a:effectLst/>
                <a:latin typeface="+mn-lt"/>
                <a:ea typeface="+mn-ea"/>
                <a:cs typeface="+mn-cs"/>
              </a:rPr>
              <a:t>US$250 per month</a:t>
            </a:r>
            <a:r>
              <a:rPr lang="en-PH" sz="1200" kern="1200" dirty="0">
                <a:solidFill>
                  <a:schemeClr val="tx1"/>
                </a:solidFill>
                <a:effectLst/>
                <a:latin typeface="+mn-lt"/>
                <a:ea typeface="+mn-ea"/>
                <a:cs typeface="+mn-cs"/>
              </a:rPr>
              <a:t>, including the website maintenance and KRISS AI subscription.</a:t>
            </a:r>
          </a:p>
          <a:p>
            <a:r>
              <a:rPr lang="en-PH" sz="1200" kern="1200" dirty="0">
                <a:solidFill>
                  <a:schemeClr val="tx1"/>
                </a:solidFill>
                <a:effectLst/>
                <a:latin typeface="+mn-lt"/>
                <a:ea typeface="+mn-ea"/>
                <a:cs typeface="+mn-cs"/>
              </a:rPr>
              <a:t>There is also a </a:t>
            </a:r>
            <a:r>
              <a:rPr lang="en-PH" sz="1200" b="1" kern="1200" dirty="0">
                <a:solidFill>
                  <a:schemeClr val="tx1"/>
                </a:solidFill>
                <a:effectLst/>
                <a:latin typeface="+mn-lt"/>
                <a:ea typeface="+mn-ea"/>
                <a:cs typeface="+mn-cs"/>
              </a:rPr>
              <a:t>20% discount on recurring fees when paid annually upfront.</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If UASHMC prefers to start smaller, that's perfectly possible.</a:t>
            </a:r>
          </a:p>
          <a:p>
            <a:r>
              <a:rPr lang="en-PH" sz="1200" kern="1200" dirty="0">
                <a:solidFill>
                  <a:schemeClr val="tx1"/>
                </a:solidFill>
                <a:effectLst/>
                <a:latin typeface="+mn-lt"/>
                <a:ea typeface="+mn-ea"/>
                <a:cs typeface="+mn-cs"/>
              </a:rPr>
              <a:t>Website development alone is </a:t>
            </a:r>
            <a:r>
              <a:rPr lang="en-PH" sz="1200" b="1" kern="1200" dirty="0">
                <a:solidFill>
                  <a:schemeClr val="tx1"/>
                </a:solidFill>
                <a:effectLst/>
                <a:latin typeface="+mn-lt"/>
                <a:ea typeface="+mn-ea"/>
                <a:cs typeface="+mn-cs"/>
              </a:rPr>
              <a:t>US$1,000 setup plus US$150 monthly maintenance</a:t>
            </a:r>
            <a:r>
              <a:rPr lang="en-PH" sz="1200" kern="1200" dirty="0">
                <a:solidFill>
                  <a:schemeClr val="tx1"/>
                </a:solidFill>
                <a:effectLst/>
                <a:latin typeface="+mn-lt"/>
                <a:ea typeface="+mn-ea"/>
                <a:cs typeface="+mn-cs"/>
              </a:rPr>
              <a:t>.</a:t>
            </a:r>
          </a:p>
          <a:p>
            <a:r>
              <a:rPr lang="en-PH" sz="1200" kern="1200" dirty="0">
                <a:solidFill>
                  <a:schemeClr val="tx1"/>
                </a:solidFill>
                <a:effectLst/>
                <a:latin typeface="+mn-lt"/>
                <a:ea typeface="+mn-ea"/>
                <a:cs typeface="+mn-cs"/>
              </a:rPr>
              <a:t>KRISS AI alone is </a:t>
            </a:r>
            <a:r>
              <a:rPr lang="en-PH" sz="1200" b="1" kern="1200" dirty="0">
                <a:solidFill>
                  <a:schemeClr val="tx1"/>
                </a:solidFill>
                <a:effectLst/>
                <a:latin typeface="+mn-lt"/>
                <a:ea typeface="+mn-ea"/>
                <a:cs typeface="+mn-cs"/>
              </a:rPr>
              <a:t>US$1,000 setup plus US$199 monthly</a:t>
            </a:r>
            <a:r>
              <a:rPr lang="en-PH" sz="1200" kern="1200" dirty="0">
                <a:solidFill>
                  <a:schemeClr val="tx1"/>
                </a:solidFill>
                <a:effectLst/>
                <a:latin typeface="+mn-lt"/>
                <a:ea typeface="+mn-ea"/>
                <a:cs typeface="+mn-cs"/>
              </a:rPr>
              <a:t>, although that requires an existing website for integration.</a:t>
            </a:r>
          </a:p>
          <a:p>
            <a:r>
              <a:rPr lang="en-PH" sz="1200" kern="1200" dirty="0">
                <a:solidFill>
                  <a:schemeClr val="tx1"/>
                </a:solidFill>
                <a:effectLst/>
                <a:latin typeface="+mn-lt"/>
                <a:ea typeface="+mn-ea"/>
                <a:cs typeface="+mn-cs"/>
              </a:rPr>
              <a:t>So commercially, we're giving UASHMC the flexibility to start where you're comfortable.</a:t>
            </a:r>
          </a:p>
          <a:p>
            <a:r>
              <a:rPr lang="en-PH" sz="1200" kern="1200" dirty="0">
                <a:solidFill>
                  <a:schemeClr val="tx1"/>
                </a:solidFill>
                <a:effectLst/>
                <a:latin typeface="+mn-lt"/>
                <a:ea typeface="+mn-ea"/>
                <a:cs typeface="+mn-cs"/>
              </a:rPr>
              <a:t>Strategically, however, I would recommend </a:t>
            </a:r>
            <a:r>
              <a:rPr lang="en-PH" sz="1200" b="1" kern="1200" dirty="0">
                <a:solidFill>
                  <a:schemeClr val="tx1"/>
                </a:solidFill>
                <a:effectLst/>
                <a:latin typeface="+mn-lt"/>
                <a:ea typeface="+mn-ea"/>
                <a:cs typeface="+mn-cs"/>
              </a:rPr>
              <a:t>building the website and AI layer together</a:t>
            </a:r>
            <a:r>
              <a:rPr lang="en-PH" sz="1200" kern="1200" dirty="0">
                <a:solidFill>
                  <a:schemeClr val="tx1"/>
                </a:solidFill>
                <a:effectLst/>
                <a:latin typeface="+mn-lt"/>
                <a:ea typeface="+mn-ea"/>
                <a:cs typeface="+mn-cs"/>
              </a:rPr>
              <a:t>, because it avoids having to revisit the digital architecture later.</a:t>
            </a:r>
          </a:p>
          <a:p>
            <a:r>
              <a:rPr lang="en-PH" sz="1200" b="1" kern="1200" dirty="0">
                <a:solidFill>
                  <a:schemeClr val="tx1"/>
                </a:solidFill>
                <a:effectLst/>
                <a:latin typeface="+mn-lt"/>
                <a:ea typeface="+mn-ea"/>
                <a:cs typeface="+mn-cs"/>
              </a:rPr>
              <a:t>Then stop talking.</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Don't immediately justify the price further. Let Doc Ton and the team react.</a:t>
            </a:r>
          </a:p>
          <a:p>
            <a:r>
              <a:rPr lang="en-PH" sz="1200" kern="1200" dirty="0">
                <a:solidFill>
                  <a:schemeClr val="tx1"/>
                </a:solidFill>
                <a:effectLst/>
                <a:latin typeface="+mn-lt"/>
                <a:ea typeface="+mn-ea"/>
                <a:cs typeface="+mn-cs"/>
              </a:rPr>
              <a:t>If they ask why the integrated package is recommended:</a:t>
            </a:r>
          </a:p>
          <a:p>
            <a:r>
              <a:rPr lang="en-PH" sz="1200" kern="1200" dirty="0">
                <a:solidFill>
                  <a:schemeClr val="tx1"/>
                </a:solidFill>
                <a:effectLst/>
                <a:latin typeface="+mn-lt"/>
                <a:ea typeface="+mn-ea"/>
                <a:cs typeface="+mn-cs"/>
              </a:rPr>
              <a:t>Because the website solves </a:t>
            </a:r>
            <a:r>
              <a:rPr lang="en-PH" sz="1200" b="1" kern="1200" dirty="0">
                <a:solidFill>
                  <a:schemeClr val="tx1"/>
                </a:solidFill>
                <a:effectLst/>
                <a:latin typeface="+mn-lt"/>
                <a:ea typeface="+mn-ea"/>
                <a:cs typeface="+mn-cs"/>
              </a:rPr>
              <a:t>discovery and credibility</a:t>
            </a:r>
            <a:r>
              <a:rPr lang="en-PH" sz="1200" kern="1200" dirty="0">
                <a:solidFill>
                  <a:schemeClr val="tx1"/>
                </a:solidFill>
                <a:effectLst/>
                <a:latin typeface="+mn-lt"/>
                <a:ea typeface="+mn-ea"/>
                <a:cs typeface="+mn-cs"/>
              </a:rPr>
              <a:t>, while KRISS AI solves </a:t>
            </a:r>
            <a:r>
              <a:rPr lang="en-PH" sz="1200" b="1" kern="1200" dirty="0">
                <a:solidFill>
                  <a:schemeClr val="tx1"/>
                </a:solidFill>
                <a:effectLst/>
                <a:latin typeface="+mn-lt"/>
                <a:ea typeface="+mn-ea"/>
                <a:cs typeface="+mn-cs"/>
              </a:rPr>
              <a:t>access to information and navigation</a:t>
            </a:r>
            <a:r>
              <a:rPr lang="en-PH" sz="1200" kern="1200" dirty="0">
                <a:solidFill>
                  <a:schemeClr val="tx1"/>
                </a:solidFill>
                <a:effectLst/>
                <a:latin typeface="+mn-lt"/>
                <a:ea typeface="+mn-ea"/>
                <a:cs typeface="+mn-cs"/>
              </a:rPr>
              <a:t>. For UASHMC's stage of growth, those two functions reinforce each other.</a:t>
            </a:r>
          </a:p>
          <a:p>
            <a:r>
              <a:rPr lang="en-PH" sz="1200" kern="1200" dirty="0">
                <a:solidFill>
                  <a:schemeClr val="tx1"/>
                </a:solidFill>
                <a:effectLst/>
                <a:latin typeface="+mn-lt"/>
                <a:ea typeface="+mn-ea"/>
                <a:cs typeface="+mn-cs"/>
              </a:rPr>
              <a:t>If they say they only want the website:</a:t>
            </a:r>
          </a:p>
          <a:p>
            <a:r>
              <a:rPr lang="en-PH" sz="1200" kern="1200" dirty="0">
                <a:solidFill>
                  <a:schemeClr val="tx1"/>
                </a:solidFill>
                <a:effectLst/>
                <a:latin typeface="+mn-lt"/>
                <a:ea typeface="+mn-ea"/>
                <a:cs typeface="+mn-cs"/>
              </a:rPr>
              <a:t>Absolutely. The website itself is already an important step forward. We would simply build it AI-ready so that when UASHMC is ready for KRISS AI, we don't have to rebuild the foundation.</a:t>
            </a:r>
          </a:p>
          <a:p>
            <a:r>
              <a:rPr lang="en-PH" sz="1200" kern="1200" dirty="0">
                <a:solidFill>
                  <a:schemeClr val="tx1"/>
                </a:solidFill>
                <a:effectLst/>
                <a:latin typeface="+mn-lt"/>
                <a:ea typeface="+mn-ea"/>
                <a:cs typeface="+mn-cs"/>
              </a:rPr>
              <a:t>That keeps the KRISS AI opportunity alive without resisting their preferred starting point.</a:t>
            </a:r>
          </a:p>
          <a:p>
            <a:endParaRPr lang="en-PH" dirty="0"/>
          </a:p>
        </p:txBody>
      </p:sp>
      <p:sp>
        <p:nvSpPr>
          <p:cNvPr id="4" name="Slide Number Placeholder 3"/>
          <p:cNvSpPr>
            <a:spLocks noGrp="1"/>
          </p:cNvSpPr>
          <p:nvPr>
            <p:ph type="sldNum" sz="quarter" idx="5"/>
          </p:nvPr>
        </p:nvSpPr>
        <p:spPr/>
        <p:txBody>
          <a:bodyPr/>
          <a:lstStyle/>
          <a:p>
            <a:fld id="{21B2AA4F-B828-4D7C-AFD3-893933DAFCB4}" type="slidenum">
              <a:rPr lang="en-US" smtClean="0"/>
              <a:t>9</a:t>
            </a:fld>
            <a:endParaRPr lang="en-US"/>
          </a:p>
        </p:txBody>
      </p:sp>
    </p:spTree>
    <p:extLst>
      <p:ext uri="{BB962C8B-B14F-4D97-AF65-F5344CB8AC3E}">
        <p14:creationId xmlns:p14="http://schemas.microsoft.com/office/powerpoint/2010/main" val="3720572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PH" sz="1200" kern="1200">
                <a:solidFill>
                  <a:schemeClr val="tx1"/>
                </a:solidFill>
                <a:effectLst/>
                <a:latin typeface="+mn-lt"/>
                <a:ea typeface="+mn-ea"/>
                <a:cs typeface="+mn-cs"/>
              </a:rPr>
              <a:t>I'd </a:t>
            </a:r>
            <a:r>
              <a:rPr lang="en-PH" sz="1200" kern="1200" dirty="0">
                <a:solidFill>
                  <a:schemeClr val="tx1"/>
                </a:solidFill>
                <a:effectLst/>
                <a:latin typeface="+mn-lt"/>
                <a:ea typeface="+mn-ea"/>
                <a:cs typeface="+mn-cs"/>
              </a:rPr>
              <a:t>like to end where we started — with UASHMC's own promise:</a:t>
            </a:r>
          </a:p>
          <a:p>
            <a:r>
              <a:rPr lang="en-PH" sz="1200" b="1" kern="1200" dirty="0">
                <a:solidFill>
                  <a:schemeClr val="tx1"/>
                </a:solidFill>
                <a:effectLst/>
                <a:latin typeface="+mn-lt"/>
                <a:ea typeface="+mn-ea"/>
                <a:cs typeface="+mn-cs"/>
              </a:rPr>
              <a:t>“Excellence in every life we touch.”</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What we're proposing is really an extension of that promise.</a:t>
            </a:r>
          </a:p>
          <a:p>
            <a:r>
              <a:rPr lang="en-PH" sz="1200" kern="1200" dirty="0">
                <a:solidFill>
                  <a:schemeClr val="tx1"/>
                </a:solidFill>
                <a:effectLst/>
                <a:latin typeface="+mn-lt"/>
                <a:ea typeface="+mn-ea"/>
                <a:cs typeface="+mn-cs"/>
              </a:rPr>
              <a:t>Today, some of the earliest interactions a patient has with a hospital happen before they ever enter the building.</a:t>
            </a:r>
          </a:p>
          <a:p>
            <a:r>
              <a:rPr lang="en-PH" sz="1200" kern="1200" dirty="0">
                <a:solidFill>
                  <a:schemeClr val="tx1"/>
                </a:solidFill>
                <a:effectLst/>
                <a:latin typeface="+mn-lt"/>
                <a:ea typeface="+mn-ea"/>
                <a:cs typeface="+mn-cs"/>
              </a:rPr>
              <a:t>They search.</a:t>
            </a:r>
          </a:p>
          <a:p>
            <a:r>
              <a:rPr lang="en-PH" sz="1200" kern="1200" dirty="0">
                <a:solidFill>
                  <a:schemeClr val="tx1"/>
                </a:solidFill>
                <a:effectLst/>
                <a:latin typeface="+mn-lt"/>
                <a:ea typeface="+mn-ea"/>
                <a:cs typeface="+mn-cs"/>
              </a:rPr>
              <a:t>They look for a doctor.</a:t>
            </a:r>
          </a:p>
          <a:p>
            <a:r>
              <a:rPr lang="en-PH" sz="1200" kern="1200" dirty="0">
                <a:solidFill>
                  <a:schemeClr val="tx1"/>
                </a:solidFill>
                <a:effectLst/>
                <a:latin typeface="+mn-lt"/>
                <a:ea typeface="+mn-ea"/>
                <a:cs typeface="+mn-cs"/>
              </a:rPr>
              <a:t>They check a service.</a:t>
            </a:r>
          </a:p>
          <a:p>
            <a:r>
              <a:rPr lang="en-PH" sz="1200" kern="1200" dirty="0">
                <a:solidFill>
                  <a:schemeClr val="tx1"/>
                </a:solidFill>
                <a:effectLst/>
                <a:latin typeface="+mn-lt"/>
                <a:ea typeface="+mn-ea"/>
                <a:cs typeface="+mn-cs"/>
              </a:rPr>
              <a:t>They ask whether their HMO is accepted.</a:t>
            </a:r>
          </a:p>
          <a:p>
            <a:r>
              <a:rPr lang="en-PH" sz="1200" kern="1200" dirty="0">
                <a:solidFill>
                  <a:schemeClr val="tx1"/>
                </a:solidFill>
                <a:effectLst/>
                <a:latin typeface="+mn-lt"/>
                <a:ea typeface="+mn-ea"/>
                <a:cs typeface="+mn-cs"/>
              </a:rPr>
              <a:t>They try to understand where to go and what to do next.</a:t>
            </a:r>
          </a:p>
          <a:p>
            <a:r>
              <a:rPr lang="en-PH" sz="1200" kern="1200" dirty="0">
                <a:solidFill>
                  <a:schemeClr val="tx1"/>
                </a:solidFill>
                <a:effectLst/>
                <a:latin typeface="+mn-lt"/>
                <a:ea typeface="+mn-ea"/>
                <a:cs typeface="+mn-cs"/>
              </a:rPr>
              <a:t>Those are already </a:t>
            </a:r>
            <a:r>
              <a:rPr lang="en-PH" sz="1200" b="1" kern="1200" dirty="0">
                <a:solidFill>
                  <a:schemeClr val="tx1"/>
                </a:solidFill>
                <a:effectLst/>
                <a:latin typeface="+mn-lt"/>
                <a:ea typeface="+mn-ea"/>
                <a:cs typeface="+mn-cs"/>
              </a:rPr>
              <a:t>patient touchpoints</a:t>
            </a:r>
            <a:r>
              <a:rPr lang="en-PH" sz="1200" kern="1200" dirty="0">
                <a:solidFill>
                  <a:schemeClr val="tx1"/>
                </a:solidFill>
                <a:effectLst/>
                <a:latin typeface="+mn-lt"/>
                <a:ea typeface="+mn-ea"/>
                <a:cs typeface="+mn-cs"/>
              </a:rPr>
              <a:t>.</a:t>
            </a:r>
          </a:p>
          <a:p>
            <a:r>
              <a:rPr lang="en-PH" sz="1200" kern="1200" dirty="0">
                <a:solidFill>
                  <a:schemeClr val="tx1"/>
                </a:solidFill>
                <a:effectLst/>
                <a:latin typeface="+mn-lt"/>
                <a:ea typeface="+mn-ea"/>
                <a:cs typeface="+mn-cs"/>
              </a:rPr>
              <a:t>Our goal is to help UASHMC make those digital touchpoints reflect the same standard of experience you want patients to receive when they arrive at the hospital.</a:t>
            </a:r>
          </a:p>
          <a:p>
            <a:r>
              <a:rPr lang="en-PH" sz="1200" b="1" kern="1200" dirty="0">
                <a:solidFill>
                  <a:schemeClr val="tx1"/>
                </a:solidFill>
                <a:effectLst/>
                <a:latin typeface="+mn-lt"/>
                <a:ea typeface="+mn-ea"/>
                <a:cs typeface="+mn-cs"/>
              </a:rPr>
              <a:t>Better experience. Stronger connections. Better care.</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So rather than end with another presentation, I'd like to ask one practical question:</a:t>
            </a:r>
          </a:p>
          <a:p>
            <a:r>
              <a:rPr lang="en-PH" sz="1200" b="1" kern="1200" dirty="0">
                <a:solidFill>
                  <a:schemeClr val="tx1"/>
                </a:solidFill>
                <a:effectLst/>
                <a:latin typeface="+mn-lt"/>
                <a:ea typeface="+mn-ea"/>
                <a:cs typeface="+mn-cs"/>
              </a:rPr>
              <a:t>Based on what you've seen today, do you feel this is a direction worth moving forward with for UASHMC?</a:t>
            </a:r>
            <a:endParaRPr lang="en-PH" sz="1200" kern="1200" dirty="0">
              <a:solidFill>
                <a:schemeClr val="tx1"/>
              </a:solidFill>
              <a:effectLst/>
              <a:latin typeface="+mn-lt"/>
              <a:ea typeface="+mn-ea"/>
              <a:cs typeface="+mn-cs"/>
            </a:endParaRPr>
          </a:p>
          <a:p>
            <a:r>
              <a:rPr lang="en-PH" sz="1200" kern="1200" dirty="0">
                <a:solidFill>
                  <a:schemeClr val="tx1"/>
                </a:solidFill>
                <a:effectLst/>
                <a:latin typeface="+mn-lt"/>
                <a:ea typeface="+mn-ea"/>
                <a:cs typeface="+mn-cs"/>
              </a:rPr>
              <a:t>Then </a:t>
            </a:r>
            <a:r>
              <a:rPr lang="en-PH" sz="1200" b="1" kern="1200" dirty="0">
                <a:solidFill>
                  <a:schemeClr val="tx1"/>
                </a:solidFill>
                <a:effectLst/>
                <a:latin typeface="+mn-lt"/>
                <a:ea typeface="+mn-ea"/>
                <a:cs typeface="+mn-cs"/>
              </a:rPr>
              <a:t>stop</a:t>
            </a:r>
            <a:r>
              <a:rPr lang="en-PH" sz="1200" kern="1200" dirty="0">
                <a:solidFill>
                  <a:schemeClr val="tx1"/>
                </a:solidFill>
                <a:effectLst/>
                <a:latin typeface="+mn-lt"/>
                <a:ea typeface="+mn-ea"/>
                <a:cs typeface="+mn-cs"/>
              </a:rPr>
              <a:t> and allow them to respond.</a:t>
            </a:r>
          </a:p>
          <a:p>
            <a:endParaRPr lang="en-PH" dirty="0"/>
          </a:p>
        </p:txBody>
      </p:sp>
      <p:sp>
        <p:nvSpPr>
          <p:cNvPr id="4" name="Slide Number Placeholder 3"/>
          <p:cNvSpPr>
            <a:spLocks noGrp="1"/>
          </p:cNvSpPr>
          <p:nvPr>
            <p:ph type="sldNum" sz="quarter" idx="5"/>
          </p:nvPr>
        </p:nvSpPr>
        <p:spPr/>
        <p:txBody>
          <a:bodyPr/>
          <a:lstStyle/>
          <a:p>
            <a:fld id="{21B2AA4F-B828-4D7C-AFD3-893933DAFCB4}" type="slidenum">
              <a:rPr lang="en-US" smtClean="0"/>
              <a:t>10</a:t>
            </a:fld>
            <a:endParaRPr lang="en-US"/>
          </a:p>
        </p:txBody>
      </p:sp>
    </p:spTree>
    <p:extLst>
      <p:ext uri="{BB962C8B-B14F-4D97-AF65-F5344CB8AC3E}">
        <p14:creationId xmlns:p14="http://schemas.microsoft.com/office/powerpoint/2010/main" val="2488054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5C49-B5E5-6B13-AA4C-2056F5BA4142}"/>
              </a:ext>
            </a:extLst>
          </p:cNvPr>
          <p:cNvSpPr>
            <a:spLocks noGrp="1"/>
          </p:cNvSpPr>
          <p:nvPr>
            <p:ph type="title"/>
          </p:nvPr>
        </p:nvSpPr>
        <p:spPr/>
        <p:txBody>
          <a:bodyPr>
            <a:normAutofit fontScale="90000"/>
          </a:bodyPr>
          <a:lstStyle/>
          <a:p>
            <a:r>
              <a:rPr lang="en-PH" b="1" dirty="0"/>
              <a:t>How I would manage the meeting</a:t>
            </a:r>
            <a:br>
              <a:rPr lang="en-PH" dirty="0"/>
            </a:br>
            <a:endParaRPr lang="en-PH" dirty="0"/>
          </a:p>
        </p:txBody>
      </p:sp>
      <p:sp>
        <p:nvSpPr>
          <p:cNvPr id="3" name="Content Placeholder 2">
            <a:extLst>
              <a:ext uri="{FF2B5EF4-FFF2-40B4-BE49-F238E27FC236}">
                <a16:creationId xmlns:a16="http://schemas.microsoft.com/office/drawing/2014/main" id="{845DAE1B-06DE-5B85-5725-6FF01F0B06EA}"/>
              </a:ext>
            </a:extLst>
          </p:cNvPr>
          <p:cNvSpPr>
            <a:spLocks noGrp="1"/>
          </p:cNvSpPr>
          <p:nvPr>
            <p:ph idx="1"/>
          </p:nvPr>
        </p:nvSpPr>
        <p:spPr>
          <a:xfrm>
            <a:off x="457200" y="805218"/>
            <a:ext cx="11293522" cy="5320945"/>
          </a:xfrm>
        </p:spPr>
        <p:txBody>
          <a:bodyPr>
            <a:normAutofit fontScale="77500" lnSpcReduction="20000"/>
          </a:bodyPr>
          <a:lstStyle/>
          <a:p>
            <a:r>
              <a:rPr lang="en-PH" dirty="0"/>
              <a:t>The presentation itself should take only about </a:t>
            </a:r>
            <a:r>
              <a:rPr lang="en-PH" b="1" dirty="0"/>
              <a:t>15–18 minutes</a:t>
            </a:r>
            <a:r>
              <a:rPr lang="en-PH" dirty="0"/>
              <a:t>, even though the script is detailed. Don't deliver every sentence mechanically. The script gives you material to draw from depending on how engaged the group is.</a:t>
            </a:r>
          </a:p>
          <a:p>
            <a:r>
              <a:rPr lang="en-PH" dirty="0"/>
              <a:t>I would allocate roughly </a:t>
            </a:r>
            <a:r>
              <a:rPr lang="en-PH" b="1" dirty="0"/>
              <a:t>30–40 minutes total</a:t>
            </a:r>
            <a:r>
              <a:rPr lang="en-PH" dirty="0"/>
              <a:t>: 3 minutes opening/context, 5 minutes Slides 2–3, 5 minutes prototype/live website, 4 minutes </a:t>
            </a:r>
            <a:r>
              <a:rPr lang="en-PH" dirty="0" err="1"/>
              <a:t>Upserv</a:t>
            </a:r>
            <a:r>
              <a:rPr lang="en-PH" dirty="0"/>
              <a:t> + KRISS AI, 3 minutes implementation and pricing, then use the remaining time for discussion.</a:t>
            </a:r>
          </a:p>
          <a:p>
            <a:r>
              <a:rPr lang="en-PH" dirty="0"/>
              <a:t>Most importantly, don't measure success only by whether Doc Ton says </a:t>
            </a:r>
            <a:r>
              <a:rPr lang="en-PH" b="1" dirty="0"/>
              <a:t>“yes, let's buy it”</a:t>
            </a:r>
            <a:r>
              <a:rPr lang="en-PH" dirty="0"/>
              <a:t> during the meeting. There are three concrete outcomes worth securing:</a:t>
            </a:r>
          </a:p>
          <a:p>
            <a:r>
              <a:rPr lang="en-PH" b="1" dirty="0"/>
              <a:t>1. Direction:</a:t>
            </a:r>
            <a:r>
              <a:rPr lang="en-PH" dirty="0"/>
              <a:t> Does UASHMC agree that the website/digital-front-door approach makes sense?</a:t>
            </a:r>
          </a:p>
          <a:p>
            <a:r>
              <a:rPr lang="en-PH" b="1" dirty="0"/>
              <a:t>2. Ownership:</a:t>
            </a:r>
            <a:r>
              <a:rPr lang="en-PH" dirty="0"/>
              <a:t> Who is your day-to-day UASHMC contact for content and approvals?</a:t>
            </a:r>
          </a:p>
          <a:p>
            <a:r>
              <a:rPr lang="en-PH" b="1" dirty="0"/>
              <a:t>3. Next action:</a:t>
            </a:r>
            <a:r>
              <a:rPr lang="en-PH" dirty="0"/>
              <a:t> What specifically happens after Friday — revised prototype, content submission, formal proposal/quotation, </a:t>
            </a:r>
            <a:r>
              <a:rPr lang="en-PH" dirty="0" err="1"/>
              <a:t>Execom</a:t>
            </a:r>
            <a:r>
              <a:rPr lang="en-PH" dirty="0"/>
              <a:t>/Board presentation, or commercial approval?</a:t>
            </a:r>
          </a:p>
          <a:p>
            <a:endParaRPr lang="en-PH" dirty="0"/>
          </a:p>
        </p:txBody>
      </p:sp>
    </p:spTree>
    <p:extLst>
      <p:ext uri="{BB962C8B-B14F-4D97-AF65-F5344CB8AC3E}">
        <p14:creationId xmlns:p14="http://schemas.microsoft.com/office/powerpoint/2010/main" val="3388058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25287581-6493-4b24-a0b8-287da8bbc04d.jpg"/>
          <p:cNvPicPr>
            <a:picLocks noChangeAspect="1"/>
          </p:cNvPicPr>
          <p:nvPr/>
        </p:nvPicPr>
        <p:blipFill>
          <a:blip r:embed="rId3"/>
          <a:stretch>
            <a:fillRect/>
          </a:stretch>
        </p:blipFill>
        <p:spPr>
          <a:xfrm>
            <a:off x="0" y="0"/>
            <a:ext cx="4800600" cy="6858000"/>
          </a:xfrm>
          <a:prstGeom prst="rect">
            <a:avLst/>
          </a:prstGeom>
        </p:spPr>
      </p:pic>
      <p:sp>
        <p:nvSpPr>
          <p:cNvPr id="4" name="Rectangle 3"/>
          <p:cNvSpPr/>
          <p:nvPr/>
        </p:nvSpPr>
        <p:spPr>
          <a:xfrm>
            <a:off x="4572000" y="0"/>
            <a:ext cx="7619695" cy="6858000"/>
          </a:xfrm>
          <a:prstGeom prst="rect">
            <a:avLst/>
          </a:prstGeom>
          <a:solidFill>
            <a:srgbClr val="F8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0" y="6199632"/>
            <a:ext cx="7619695" cy="658368"/>
          </a:xfrm>
          <a:prstGeom prst="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0" y="6108192"/>
            <a:ext cx="7619695" cy="91440"/>
          </a:xfrm>
          <a:prstGeom prst="rect">
            <a:avLst/>
          </a:prstGeom>
          <a:solidFill>
            <a:srgbClr val="0EB5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7e940401-f5bb-4acf-9620-4966a66d45e9.png"/>
          <p:cNvPicPr>
            <a:picLocks noChangeAspect="1"/>
          </p:cNvPicPr>
          <p:nvPr/>
        </p:nvPicPr>
        <p:blipFill>
          <a:blip r:embed="rId4"/>
          <a:stretch>
            <a:fillRect/>
          </a:stretch>
        </p:blipFill>
        <p:spPr>
          <a:xfrm>
            <a:off x="5257800" y="438912"/>
            <a:ext cx="5074920" cy="1325044"/>
          </a:xfrm>
          <a:prstGeom prst="rect">
            <a:avLst/>
          </a:prstGeom>
        </p:spPr>
      </p:pic>
      <p:sp>
        <p:nvSpPr>
          <p:cNvPr id="8" name="TextBox 7"/>
          <p:cNvSpPr txBox="1"/>
          <p:nvPr/>
        </p:nvSpPr>
        <p:spPr>
          <a:xfrm>
            <a:off x="5230368" y="1572768"/>
            <a:ext cx="5989320" cy="1353312"/>
          </a:xfrm>
          <a:prstGeom prst="rect">
            <a:avLst/>
          </a:prstGeom>
          <a:noFill/>
        </p:spPr>
        <p:txBody>
          <a:bodyPr wrap="square" anchor="ctr">
            <a:spAutoFit/>
          </a:bodyPr>
          <a:lstStyle/>
          <a:p>
            <a:pPr algn="l"/>
            <a:r>
              <a:rPr sz="3100" b="1" i="0">
                <a:solidFill>
                  <a:srgbClr val="004878"/>
                </a:solidFill>
                <a:latin typeface="Aptos"/>
              </a:rPr>
              <a:t>UASHMC
DIGITAL FRONT DOOR</a:t>
            </a:r>
          </a:p>
        </p:txBody>
      </p:sp>
      <p:sp>
        <p:nvSpPr>
          <p:cNvPr id="9" name="TextBox 8"/>
          <p:cNvSpPr txBox="1"/>
          <p:nvPr/>
        </p:nvSpPr>
        <p:spPr>
          <a:xfrm>
            <a:off x="5257800" y="2907792"/>
            <a:ext cx="5120640" cy="384048"/>
          </a:xfrm>
          <a:prstGeom prst="rect">
            <a:avLst/>
          </a:prstGeom>
          <a:noFill/>
        </p:spPr>
        <p:txBody>
          <a:bodyPr wrap="square" anchor="ctr">
            <a:spAutoFit/>
          </a:bodyPr>
          <a:lstStyle/>
          <a:p>
            <a:pPr algn="l"/>
            <a:r>
              <a:rPr sz="2000" b="1" i="0">
                <a:solidFill>
                  <a:srgbClr val="0EB5CA"/>
                </a:solidFill>
                <a:latin typeface="Aptos"/>
              </a:rPr>
              <a:t>Upserv + KRISS AI</a:t>
            </a:r>
          </a:p>
        </p:txBody>
      </p:sp>
      <p:sp>
        <p:nvSpPr>
          <p:cNvPr id="10" name="TextBox 9"/>
          <p:cNvSpPr txBox="1"/>
          <p:nvPr/>
        </p:nvSpPr>
        <p:spPr>
          <a:xfrm>
            <a:off x="5257800" y="3493008"/>
            <a:ext cx="5303520" cy="685800"/>
          </a:xfrm>
          <a:prstGeom prst="rect">
            <a:avLst/>
          </a:prstGeom>
          <a:noFill/>
        </p:spPr>
        <p:txBody>
          <a:bodyPr wrap="square" anchor="ctr">
            <a:spAutoFit/>
          </a:bodyPr>
          <a:lstStyle/>
          <a:p>
            <a:pPr algn="l"/>
            <a:r>
              <a:rPr sz="1600" b="0" i="0">
                <a:solidFill>
                  <a:srgbClr val="133552"/>
                </a:solidFill>
                <a:latin typeface="Aptos"/>
              </a:rPr>
              <a:t>A better online experience.
Stronger connections. Better care.</a:t>
            </a:r>
          </a:p>
        </p:txBody>
      </p:sp>
      <p:sp>
        <p:nvSpPr>
          <p:cNvPr id="11" name="TextBox 10"/>
          <p:cNvSpPr txBox="1"/>
          <p:nvPr/>
        </p:nvSpPr>
        <p:spPr>
          <a:xfrm>
            <a:off x="5257800" y="4663440"/>
            <a:ext cx="5212080" cy="310896"/>
          </a:xfrm>
          <a:prstGeom prst="rect">
            <a:avLst/>
          </a:prstGeom>
          <a:noFill/>
        </p:spPr>
        <p:txBody>
          <a:bodyPr wrap="square" anchor="ctr">
            <a:spAutoFit/>
          </a:bodyPr>
          <a:lstStyle/>
          <a:p>
            <a:pPr algn="l"/>
            <a:r>
              <a:rPr sz="1300" b="0" i="1">
                <a:solidFill>
                  <a:srgbClr val="506C80"/>
                </a:solidFill>
                <a:latin typeface="Aptos"/>
              </a:rPr>
              <a:t>“Excellence in every life we touch.”</a:t>
            </a:r>
          </a:p>
        </p:txBody>
      </p:sp>
      <p:sp>
        <p:nvSpPr>
          <p:cNvPr id="12" name="TextBox 11"/>
          <p:cNvSpPr txBox="1"/>
          <p:nvPr/>
        </p:nvSpPr>
        <p:spPr>
          <a:xfrm>
            <a:off x="5257800" y="6336792"/>
            <a:ext cx="6217920" cy="201168"/>
          </a:xfrm>
          <a:prstGeom prst="rect">
            <a:avLst/>
          </a:prstGeom>
          <a:noFill/>
        </p:spPr>
        <p:txBody>
          <a:bodyPr wrap="square" anchor="ctr">
            <a:spAutoFit/>
          </a:bodyPr>
          <a:lstStyle/>
          <a:p>
            <a:pPr algn="l"/>
            <a:r>
              <a:rPr sz="900" b="0" i="0">
                <a:solidFill>
                  <a:srgbClr val="FFFFFF"/>
                </a:solidFill>
                <a:latin typeface="Aptos"/>
              </a:rPr>
              <a:t>7 Marcos Highway, Antipolo City     •     (02) 8248 3460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84048"/>
            <a:ext cx="10881360" cy="502920"/>
          </a:xfrm>
          <a:prstGeom prst="rect">
            <a:avLst/>
          </a:prstGeom>
          <a:noFill/>
        </p:spPr>
        <p:txBody>
          <a:bodyPr wrap="square" anchor="ctr">
            <a:spAutoFit/>
          </a:bodyPr>
          <a:lstStyle/>
          <a:p>
            <a:pPr algn="l"/>
            <a:r>
              <a:rPr sz="2700" b="1">
                <a:solidFill>
                  <a:srgbClr val="004878"/>
                </a:solidFill>
                <a:latin typeface="Arial"/>
              </a:rPr>
              <a:t>FROM AWARENESS TO PATIENT ACTION</a:t>
            </a:r>
          </a:p>
        </p:txBody>
      </p:sp>
      <p:sp>
        <p:nvSpPr>
          <p:cNvPr id="4" name="Rounded Rectangle 3"/>
          <p:cNvSpPr/>
          <p:nvPr/>
        </p:nvSpPr>
        <p:spPr>
          <a:xfrm>
            <a:off x="658368" y="1234440"/>
            <a:ext cx="2286000" cy="932688"/>
          </a:xfrm>
          <a:prstGeom prst="round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234440"/>
            <a:ext cx="2286000" cy="932688"/>
          </a:xfrm>
          <a:prstGeom prst="rect">
            <a:avLst/>
          </a:prstGeom>
          <a:noFill/>
        </p:spPr>
        <p:txBody>
          <a:bodyPr wrap="square" anchor="ctr">
            <a:spAutoFit/>
          </a:bodyPr>
          <a:lstStyle/>
          <a:p>
            <a:pPr algn="ctr"/>
            <a:r>
              <a:rPr sz="2200" b="1">
                <a:solidFill>
                  <a:srgbClr val="FFFFFF"/>
                </a:solidFill>
                <a:latin typeface="Arial"/>
              </a:rPr>
              <a:t>SEE</a:t>
            </a:r>
          </a:p>
        </p:txBody>
      </p:sp>
      <p:sp>
        <p:nvSpPr>
          <p:cNvPr id="6" name="TextBox 5"/>
          <p:cNvSpPr txBox="1"/>
          <p:nvPr/>
        </p:nvSpPr>
        <p:spPr>
          <a:xfrm>
            <a:off x="612647" y="2267712"/>
            <a:ext cx="2377440" cy="731520"/>
          </a:xfrm>
          <a:prstGeom prst="rect">
            <a:avLst/>
          </a:prstGeom>
          <a:noFill/>
        </p:spPr>
        <p:txBody>
          <a:bodyPr wrap="square" anchor="ctr">
            <a:spAutoFit/>
          </a:bodyPr>
          <a:lstStyle/>
          <a:p>
            <a:pPr algn="ctr"/>
            <a:r>
              <a:rPr sz="1300" b="0">
                <a:solidFill>
                  <a:srgbClr val="506C80"/>
                </a:solidFill>
                <a:latin typeface="Arial"/>
              </a:rPr>
              <a:t>Patient discovers a
UASHMC service on Facebook</a:t>
            </a:r>
          </a:p>
        </p:txBody>
      </p:sp>
      <p:sp>
        <p:nvSpPr>
          <p:cNvPr id="7" name="TextBox 6"/>
          <p:cNvSpPr txBox="1"/>
          <p:nvPr/>
        </p:nvSpPr>
        <p:spPr>
          <a:xfrm>
            <a:off x="2962656" y="1408176"/>
            <a:ext cx="512064" cy="502920"/>
          </a:xfrm>
          <a:prstGeom prst="rect">
            <a:avLst/>
          </a:prstGeom>
          <a:noFill/>
        </p:spPr>
        <p:txBody>
          <a:bodyPr wrap="square" anchor="ctr">
            <a:spAutoFit/>
          </a:bodyPr>
          <a:lstStyle/>
          <a:p>
            <a:pPr algn="ctr"/>
            <a:r>
              <a:rPr sz="2400" b="1">
                <a:solidFill>
                  <a:srgbClr val="0EB5CA"/>
                </a:solidFill>
                <a:latin typeface="Arial"/>
              </a:rPr>
              <a:t>→</a:t>
            </a:r>
          </a:p>
        </p:txBody>
      </p:sp>
      <p:sp>
        <p:nvSpPr>
          <p:cNvPr id="8" name="Rounded Rectangle 7"/>
          <p:cNvSpPr/>
          <p:nvPr/>
        </p:nvSpPr>
        <p:spPr>
          <a:xfrm>
            <a:off x="3520440" y="1234440"/>
            <a:ext cx="2286000" cy="932688"/>
          </a:xfrm>
          <a:prstGeom prst="roundRect">
            <a:avLst/>
          </a:prstGeom>
          <a:solidFill>
            <a:srgbClr val="0EB5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20440" y="1234440"/>
            <a:ext cx="2286000" cy="932688"/>
          </a:xfrm>
          <a:prstGeom prst="rect">
            <a:avLst/>
          </a:prstGeom>
          <a:noFill/>
        </p:spPr>
        <p:txBody>
          <a:bodyPr wrap="square" anchor="ctr">
            <a:spAutoFit/>
          </a:bodyPr>
          <a:lstStyle/>
          <a:p>
            <a:pPr algn="ctr"/>
            <a:r>
              <a:rPr sz="2200" b="1">
                <a:solidFill>
                  <a:srgbClr val="FFFFFF"/>
                </a:solidFill>
                <a:latin typeface="Arial"/>
              </a:rPr>
              <a:t>SEARCH</a:t>
            </a:r>
          </a:p>
        </p:txBody>
      </p:sp>
      <p:sp>
        <p:nvSpPr>
          <p:cNvPr id="10" name="TextBox 9"/>
          <p:cNvSpPr txBox="1"/>
          <p:nvPr/>
        </p:nvSpPr>
        <p:spPr>
          <a:xfrm>
            <a:off x="3474720" y="2267712"/>
            <a:ext cx="2377440" cy="731520"/>
          </a:xfrm>
          <a:prstGeom prst="rect">
            <a:avLst/>
          </a:prstGeom>
          <a:noFill/>
        </p:spPr>
        <p:txBody>
          <a:bodyPr wrap="square" anchor="ctr">
            <a:spAutoFit/>
          </a:bodyPr>
          <a:lstStyle/>
          <a:p>
            <a:pPr algn="ctr"/>
            <a:r>
              <a:rPr sz="1300" b="0">
                <a:solidFill>
                  <a:srgbClr val="506C80"/>
                </a:solidFill>
                <a:latin typeface="Arial"/>
              </a:rPr>
              <a:t>“Do you have the doctor
or service I need?”</a:t>
            </a:r>
          </a:p>
        </p:txBody>
      </p:sp>
      <p:sp>
        <p:nvSpPr>
          <p:cNvPr id="11" name="TextBox 10"/>
          <p:cNvSpPr txBox="1"/>
          <p:nvPr/>
        </p:nvSpPr>
        <p:spPr>
          <a:xfrm>
            <a:off x="5824728" y="1408176"/>
            <a:ext cx="512064" cy="502920"/>
          </a:xfrm>
          <a:prstGeom prst="rect">
            <a:avLst/>
          </a:prstGeom>
          <a:noFill/>
        </p:spPr>
        <p:txBody>
          <a:bodyPr wrap="square" anchor="ctr">
            <a:spAutoFit/>
          </a:bodyPr>
          <a:lstStyle/>
          <a:p>
            <a:pPr algn="ctr"/>
            <a:r>
              <a:rPr sz="2400" b="1">
                <a:solidFill>
                  <a:srgbClr val="0EB5CA"/>
                </a:solidFill>
                <a:latin typeface="Arial"/>
              </a:rPr>
              <a:t>→</a:t>
            </a:r>
          </a:p>
        </p:txBody>
      </p:sp>
      <p:sp>
        <p:nvSpPr>
          <p:cNvPr id="12" name="Rounded Rectangle 11"/>
          <p:cNvSpPr/>
          <p:nvPr/>
        </p:nvSpPr>
        <p:spPr>
          <a:xfrm>
            <a:off x="6382512" y="1234440"/>
            <a:ext cx="2286000" cy="932688"/>
          </a:xfrm>
          <a:prstGeom prst="roundRect">
            <a:avLst/>
          </a:prstGeom>
          <a:solidFill>
            <a:srgbClr val="0EB5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82512" y="1234440"/>
            <a:ext cx="2286000" cy="932688"/>
          </a:xfrm>
          <a:prstGeom prst="rect">
            <a:avLst/>
          </a:prstGeom>
          <a:noFill/>
        </p:spPr>
        <p:txBody>
          <a:bodyPr wrap="square" anchor="ctr">
            <a:spAutoFit/>
          </a:bodyPr>
          <a:lstStyle/>
          <a:p>
            <a:pPr algn="ctr"/>
            <a:r>
              <a:rPr sz="2200" b="1">
                <a:solidFill>
                  <a:srgbClr val="FFFFFF"/>
                </a:solidFill>
                <a:latin typeface="Arial"/>
              </a:rPr>
              <a:t>FIND</a:t>
            </a:r>
          </a:p>
        </p:txBody>
      </p:sp>
      <p:sp>
        <p:nvSpPr>
          <p:cNvPr id="14" name="TextBox 13"/>
          <p:cNvSpPr txBox="1"/>
          <p:nvPr/>
        </p:nvSpPr>
        <p:spPr>
          <a:xfrm>
            <a:off x="6336792" y="2267712"/>
            <a:ext cx="2377440" cy="731520"/>
          </a:xfrm>
          <a:prstGeom prst="rect">
            <a:avLst/>
          </a:prstGeom>
          <a:noFill/>
        </p:spPr>
        <p:txBody>
          <a:bodyPr wrap="square" anchor="ctr">
            <a:spAutoFit/>
          </a:bodyPr>
          <a:lstStyle/>
          <a:p>
            <a:pPr algn="ctr"/>
            <a:r>
              <a:rPr sz="1300" b="0">
                <a:solidFill>
                  <a:srgbClr val="506C80"/>
                </a:solidFill>
                <a:latin typeface="Arial"/>
              </a:rPr>
              <a:t>Doctors • Services • HMOs
• Patient Information</a:t>
            </a:r>
          </a:p>
        </p:txBody>
      </p:sp>
      <p:sp>
        <p:nvSpPr>
          <p:cNvPr id="15" name="TextBox 14"/>
          <p:cNvSpPr txBox="1"/>
          <p:nvPr/>
        </p:nvSpPr>
        <p:spPr>
          <a:xfrm>
            <a:off x="8686800" y="1408176"/>
            <a:ext cx="512064" cy="502920"/>
          </a:xfrm>
          <a:prstGeom prst="rect">
            <a:avLst/>
          </a:prstGeom>
          <a:noFill/>
        </p:spPr>
        <p:txBody>
          <a:bodyPr wrap="square" anchor="ctr">
            <a:spAutoFit/>
          </a:bodyPr>
          <a:lstStyle/>
          <a:p>
            <a:pPr algn="ctr"/>
            <a:r>
              <a:rPr sz="2400" b="1">
                <a:solidFill>
                  <a:srgbClr val="0EB5CA"/>
                </a:solidFill>
                <a:latin typeface="Arial"/>
              </a:rPr>
              <a:t>→</a:t>
            </a:r>
          </a:p>
        </p:txBody>
      </p:sp>
      <p:sp>
        <p:nvSpPr>
          <p:cNvPr id="16" name="Rounded Rectangle 15"/>
          <p:cNvSpPr/>
          <p:nvPr/>
        </p:nvSpPr>
        <p:spPr>
          <a:xfrm>
            <a:off x="9244584" y="1234440"/>
            <a:ext cx="2286000" cy="932688"/>
          </a:xfrm>
          <a:prstGeom prst="round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44584" y="1234440"/>
            <a:ext cx="2286000" cy="932688"/>
          </a:xfrm>
          <a:prstGeom prst="rect">
            <a:avLst/>
          </a:prstGeom>
          <a:noFill/>
        </p:spPr>
        <p:txBody>
          <a:bodyPr wrap="square" anchor="ctr">
            <a:spAutoFit/>
          </a:bodyPr>
          <a:lstStyle/>
          <a:p>
            <a:pPr algn="ctr"/>
            <a:r>
              <a:rPr sz="2200" b="1">
                <a:solidFill>
                  <a:srgbClr val="FFFFFF"/>
                </a:solidFill>
                <a:latin typeface="Arial"/>
              </a:rPr>
              <a:t>ACT</a:t>
            </a:r>
          </a:p>
        </p:txBody>
      </p:sp>
      <p:sp>
        <p:nvSpPr>
          <p:cNvPr id="18" name="TextBox 17"/>
          <p:cNvSpPr txBox="1"/>
          <p:nvPr/>
        </p:nvSpPr>
        <p:spPr>
          <a:xfrm>
            <a:off x="9198863" y="2267712"/>
            <a:ext cx="2377440" cy="731520"/>
          </a:xfrm>
          <a:prstGeom prst="rect">
            <a:avLst/>
          </a:prstGeom>
          <a:noFill/>
        </p:spPr>
        <p:txBody>
          <a:bodyPr wrap="square" anchor="ctr">
            <a:spAutoFit/>
          </a:bodyPr>
          <a:lstStyle/>
          <a:p>
            <a:pPr algn="ctr"/>
            <a:r>
              <a:rPr sz="1300" b="0">
                <a:solidFill>
                  <a:srgbClr val="506C80"/>
                </a:solidFill>
                <a:latin typeface="Arial"/>
              </a:rPr>
              <a:t>Call • Inquire • Visit
• Book</a:t>
            </a:r>
          </a:p>
        </p:txBody>
      </p:sp>
      <p:sp>
        <p:nvSpPr>
          <p:cNvPr id="19" name="Rounded Rectangle 18"/>
          <p:cNvSpPr/>
          <p:nvPr/>
        </p:nvSpPr>
        <p:spPr>
          <a:xfrm>
            <a:off x="658368" y="3246120"/>
            <a:ext cx="4754880" cy="2267712"/>
          </a:xfrm>
          <a:prstGeom prst="roundRect">
            <a:avLst/>
          </a:prstGeom>
          <a:solidFill>
            <a:srgbClr val="EFF8FB"/>
          </a:solidFill>
          <a:ln>
            <a:solidFill>
              <a:srgbClr val="D2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94cf265b-e81f-4c73-84df-74fa3eb68ae2.jpg"/>
          <p:cNvPicPr>
            <a:picLocks noChangeAspect="1"/>
          </p:cNvPicPr>
          <p:nvPr/>
        </p:nvPicPr>
        <p:blipFill>
          <a:blip r:embed="rId3"/>
          <a:stretch>
            <a:fillRect/>
          </a:stretch>
        </p:blipFill>
        <p:spPr>
          <a:xfrm>
            <a:off x="822960" y="3401568"/>
            <a:ext cx="1783080" cy="1938528"/>
          </a:xfrm>
          <a:prstGeom prst="rect">
            <a:avLst/>
          </a:prstGeom>
        </p:spPr>
      </p:pic>
      <p:sp>
        <p:nvSpPr>
          <p:cNvPr id="21" name="TextBox 20"/>
          <p:cNvSpPr txBox="1"/>
          <p:nvPr/>
        </p:nvSpPr>
        <p:spPr>
          <a:xfrm>
            <a:off x="2816352" y="3493008"/>
            <a:ext cx="2331720" cy="347472"/>
          </a:xfrm>
          <a:prstGeom prst="rect">
            <a:avLst/>
          </a:prstGeom>
          <a:noFill/>
        </p:spPr>
        <p:txBody>
          <a:bodyPr wrap="square" anchor="ctr">
            <a:spAutoFit/>
          </a:bodyPr>
          <a:lstStyle/>
          <a:p>
            <a:pPr algn="l"/>
            <a:r>
              <a:rPr sz="1400" b="1">
                <a:solidFill>
                  <a:srgbClr val="004878"/>
                </a:solidFill>
                <a:latin typeface="Arial"/>
              </a:rPr>
              <a:t>SOCIAL MEDIA</a:t>
            </a:r>
          </a:p>
        </p:txBody>
      </p:sp>
      <p:sp>
        <p:nvSpPr>
          <p:cNvPr id="22" name="TextBox 21"/>
          <p:cNvSpPr txBox="1"/>
          <p:nvPr/>
        </p:nvSpPr>
        <p:spPr>
          <a:xfrm>
            <a:off x="2816352" y="3913632"/>
            <a:ext cx="2240280" cy="987552"/>
          </a:xfrm>
          <a:prstGeom prst="rect">
            <a:avLst/>
          </a:prstGeom>
          <a:noFill/>
        </p:spPr>
        <p:txBody>
          <a:bodyPr wrap="square" anchor="ctr">
            <a:spAutoFit/>
          </a:bodyPr>
          <a:lstStyle/>
          <a:p>
            <a:pPr algn="l"/>
            <a:r>
              <a:rPr sz="1800" b="1">
                <a:solidFill>
                  <a:srgbClr val="133552"/>
                </a:solidFill>
                <a:latin typeface="Arial"/>
              </a:rPr>
              <a:t>Creates awareness
and interest.</a:t>
            </a:r>
          </a:p>
        </p:txBody>
      </p:sp>
      <p:sp>
        <p:nvSpPr>
          <p:cNvPr id="23" name="TextBox 22"/>
          <p:cNvSpPr txBox="1"/>
          <p:nvPr/>
        </p:nvSpPr>
        <p:spPr>
          <a:xfrm>
            <a:off x="5440680" y="3977639"/>
            <a:ext cx="502920" cy="502920"/>
          </a:xfrm>
          <a:prstGeom prst="rect">
            <a:avLst/>
          </a:prstGeom>
          <a:noFill/>
        </p:spPr>
        <p:txBody>
          <a:bodyPr wrap="square" anchor="ctr">
            <a:spAutoFit/>
          </a:bodyPr>
          <a:lstStyle/>
          <a:p>
            <a:pPr algn="ctr"/>
            <a:r>
              <a:rPr sz="2700" b="1">
                <a:solidFill>
                  <a:srgbClr val="0EB5CA"/>
                </a:solidFill>
                <a:latin typeface="Arial"/>
              </a:rPr>
              <a:t>→</a:t>
            </a:r>
          </a:p>
        </p:txBody>
      </p:sp>
      <p:sp>
        <p:nvSpPr>
          <p:cNvPr id="24" name="Rounded Rectangle 23"/>
          <p:cNvSpPr/>
          <p:nvPr/>
        </p:nvSpPr>
        <p:spPr>
          <a:xfrm>
            <a:off x="5943600" y="3246120"/>
            <a:ext cx="5577840" cy="2267712"/>
          </a:xfrm>
          <a:prstGeom prst="roundRect">
            <a:avLst/>
          </a:prstGeom>
          <a:solidFill>
            <a:srgbClr val="EFF8FB"/>
          </a:solidFill>
          <a:ln>
            <a:solidFill>
              <a:srgbClr val="D2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14e284f6-04bd-43b7-9766-6eaa28c2fe9b.jpg"/>
          <p:cNvPicPr>
            <a:picLocks noChangeAspect="1"/>
          </p:cNvPicPr>
          <p:nvPr/>
        </p:nvPicPr>
        <p:blipFill>
          <a:blip r:embed="rId4"/>
          <a:stretch>
            <a:fillRect/>
          </a:stretch>
        </p:blipFill>
        <p:spPr>
          <a:xfrm>
            <a:off x="6144768" y="3438144"/>
            <a:ext cx="2423160" cy="1847088"/>
          </a:xfrm>
          <a:prstGeom prst="rect">
            <a:avLst/>
          </a:prstGeom>
        </p:spPr>
      </p:pic>
      <p:sp>
        <p:nvSpPr>
          <p:cNvPr id="26" name="TextBox 25"/>
          <p:cNvSpPr txBox="1"/>
          <p:nvPr/>
        </p:nvSpPr>
        <p:spPr>
          <a:xfrm>
            <a:off x="8805672" y="3493008"/>
            <a:ext cx="2331720" cy="347472"/>
          </a:xfrm>
          <a:prstGeom prst="rect">
            <a:avLst/>
          </a:prstGeom>
          <a:noFill/>
        </p:spPr>
        <p:txBody>
          <a:bodyPr wrap="square" anchor="ctr">
            <a:spAutoFit/>
          </a:bodyPr>
          <a:lstStyle/>
          <a:p>
            <a:pPr algn="l"/>
            <a:r>
              <a:rPr sz="1400" b="1">
                <a:solidFill>
                  <a:srgbClr val="004878"/>
                </a:solidFill>
                <a:latin typeface="Arial"/>
              </a:rPr>
              <a:t>UASHMC WEBSITE</a:t>
            </a:r>
          </a:p>
        </p:txBody>
      </p:sp>
      <p:sp>
        <p:nvSpPr>
          <p:cNvPr id="27" name="TextBox 26"/>
          <p:cNvSpPr txBox="1"/>
          <p:nvPr/>
        </p:nvSpPr>
        <p:spPr>
          <a:xfrm>
            <a:off x="8805672" y="3913632"/>
            <a:ext cx="2331720" cy="987552"/>
          </a:xfrm>
          <a:prstGeom prst="rect">
            <a:avLst/>
          </a:prstGeom>
          <a:noFill/>
        </p:spPr>
        <p:txBody>
          <a:bodyPr wrap="square" anchor="ctr">
            <a:spAutoFit/>
          </a:bodyPr>
          <a:lstStyle/>
          <a:p>
            <a:pPr algn="l"/>
            <a:r>
              <a:rPr sz="1800" b="1">
                <a:solidFill>
                  <a:srgbClr val="133552"/>
                </a:solidFill>
                <a:latin typeface="Arial"/>
              </a:rPr>
              <a:t>Turns interest into
information and action.</a:t>
            </a:r>
          </a:p>
        </p:txBody>
      </p:sp>
      <p:sp>
        <p:nvSpPr>
          <p:cNvPr id="28" name="Rounded Rectangle 27"/>
          <p:cNvSpPr/>
          <p:nvPr/>
        </p:nvSpPr>
        <p:spPr>
          <a:xfrm>
            <a:off x="658368" y="5833872"/>
            <a:ext cx="10863072" cy="658368"/>
          </a:xfrm>
          <a:prstGeom prst="round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8680" y="5971032"/>
            <a:ext cx="10442448" cy="329184"/>
          </a:xfrm>
          <a:prstGeom prst="rect">
            <a:avLst/>
          </a:prstGeom>
          <a:noFill/>
        </p:spPr>
        <p:txBody>
          <a:bodyPr wrap="square" anchor="ctr">
            <a:spAutoFit/>
          </a:bodyPr>
          <a:lstStyle/>
          <a:p>
            <a:pPr algn="ctr"/>
            <a:r>
              <a:rPr sz="1600" b="1">
                <a:solidFill>
                  <a:srgbClr val="FFFFFF"/>
                </a:solidFill>
                <a:latin typeface="Arial"/>
              </a:rPr>
              <a:t>Facebook creates interest. The website turns that interest into 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F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84048"/>
            <a:ext cx="10789920" cy="502920"/>
          </a:xfrm>
          <a:prstGeom prst="rect">
            <a:avLst/>
          </a:prstGeom>
          <a:noFill/>
        </p:spPr>
        <p:txBody>
          <a:bodyPr wrap="square" anchor="ctr">
            <a:spAutoFit/>
          </a:bodyPr>
          <a:lstStyle/>
          <a:p>
            <a:pPr algn="l"/>
            <a:r>
              <a:rPr sz="2800" b="1">
                <a:solidFill>
                  <a:srgbClr val="004A77"/>
                </a:solidFill>
                <a:latin typeface="Arial"/>
              </a:rPr>
              <a:t>WHAT PATIENTS NEED MOST</a:t>
            </a:r>
          </a:p>
        </p:txBody>
      </p:sp>
      <p:sp>
        <p:nvSpPr>
          <p:cNvPr id="4" name="TextBox 3"/>
          <p:cNvSpPr txBox="1"/>
          <p:nvPr/>
        </p:nvSpPr>
        <p:spPr>
          <a:xfrm>
            <a:off x="658368" y="932688"/>
            <a:ext cx="10058400" cy="329184"/>
          </a:xfrm>
          <a:prstGeom prst="rect">
            <a:avLst/>
          </a:prstGeom>
          <a:noFill/>
        </p:spPr>
        <p:txBody>
          <a:bodyPr wrap="square" anchor="ctr">
            <a:spAutoFit/>
          </a:bodyPr>
          <a:lstStyle/>
          <a:p>
            <a:pPr algn="l"/>
            <a:r>
              <a:rPr sz="1400" b="0">
                <a:solidFill>
                  <a:srgbClr val="4D687A"/>
                </a:solidFill>
                <a:latin typeface="Arial"/>
              </a:rPr>
              <a:t>Patients arrive with a question. The website should make the answer easy to find.</a:t>
            </a:r>
          </a:p>
        </p:txBody>
      </p:sp>
      <p:sp>
        <p:nvSpPr>
          <p:cNvPr id="5" name="Rounded Rectangle 4"/>
          <p:cNvSpPr/>
          <p:nvPr/>
        </p:nvSpPr>
        <p:spPr>
          <a:xfrm>
            <a:off x="4553712" y="2423160"/>
            <a:ext cx="3090672" cy="1143000"/>
          </a:xfrm>
          <a:prstGeom prst="roundRect">
            <a:avLst/>
          </a:prstGeom>
          <a:solidFill>
            <a:srgbClr val="04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736592" y="2542032"/>
            <a:ext cx="2724912" cy="320040"/>
          </a:xfrm>
          <a:prstGeom prst="rect">
            <a:avLst/>
          </a:prstGeom>
          <a:noFill/>
        </p:spPr>
        <p:txBody>
          <a:bodyPr wrap="square" anchor="ctr">
            <a:spAutoFit/>
          </a:bodyPr>
          <a:lstStyle/>
          <a:p>
            <a:pPr algn="ctr"/>
            <a:r>
              <a:rPr sz="1300" b="1">
                <a:solidFill>
                  <a:srgbClr val="14B5C9"/>
                </a:solidFill>
                <a:latin typeface="Arial"/>
              </a:rPr>
              <a:t>“I NEED TO…”</a:t>
            </a:r>
          </a:p>
        </p:txBody>
      </p:sp>
      <p:sp>
        <p:nvSpPr>
          <p:cNvPr id="7" name="TextBox 6"/>
          <p:cNvSpPr txBox="1"/>
          <p:nvPr/>
        </p:nvSpPr>
        <p:spPr>
          <a:xfrm>
            <a:off x="4736592" y="2889504"/>
            <a:ext cx="2724912" cy="384048"/>
          </a:xfrm>
          <a:prstGeom prst="rect">
            <a:avLst/>
          </a:prstGeom>
          <a:noFill/>
        </p:spPr>
        <p:txBody>
          <a:bodyPr wrap="square" anchor="ctr">
            <a:spAutoFit/>
          </a:bodyPr>
          <a:lstStyle/>
          <a:p>
            <a:pPr algn="ctr"/>
            <a:r>
              <a:rPr sz="2000" b="1">
                <a:solidFill>
                  <a:srgbClr val="FFFFFF"/>
                </a:solidFill>
                <a:latin typeface="Arial"/>
              </a:rPr>
              <a:t>FIND AN ANSWER</a:t>
            </a:r>
          </a:p>
        </p:txBody>
      </p:sp>
      <p:sp>
        <p:nvSpPr>
          <p:cNvPr id="8" name="Rounded Rectangle 7"/>
          <p:cNvSpPr/>
          <p:nvPr/>
        </p:nvSpPr>
        <p:spPr>
          <a:xfrm>
            <a:off x="658368" y="1572768"/>
            <a:ext cx="3246120" cy="1234440"/>
          </a:xfrm>
          <a:prstGeom prst="roundRect">
            <a:avLst/>
          </a:prstGeom>
          <a:solidFill>
            <a:srgbClr val="FFFFFF"/>
          </a:solidFill>
          <a:ln w="12700">
            <a:solidFill>
              <a:srgbClr val="C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59" y="1737360"/>
            <a:ext cx="475488" cy="475488"/>
          </a:xfrm>
          <a:prstGeom prst="roundRect">
            <a:avLst/>
          </a:prstGeom>
          <a:solidFill>
            <a:srgbClr val="14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1737360"/>
            <a:ext cx="475488" cy="475488"/>
          </a:xfrm>
          <a:prstGeom prst="rect">
            <a:avLst/>
          </a:prstGeom>
          <a:noFill/>
        </p:spPr>
        <p:txBody>
          <a:bodyPr wrap="square" anchor="ctr">
            <a:spAutoFit/>
          </a:bodyPr>
          <a:lstStyle/>
          <a:p>
            <a:pPr algn="ctr"/>
            <a:r>
              <a:rPr sz="1000" b="1">
                <a:solidFill>
                  <a:srgbClr val="FFFFFF"/>
                </a:solidFill>
                <a:latin typeface="Arial"/>
              </a:rPr>
              <a:t>01</a:t>
            </a:r>
          </a:p>
        </p:txBody>
      </p:sp>
      <p:sp>
        <p:nvSpPr>
          <p:cNvPr id="11" name="TextBox 10"/>
          <p:cNvSpPr txBox="1"/>
          <p:nvPr/>
        </p:nvSpPr>
        <p:spPr>
          <a:xfrm>
            <a:off x="1435607" y="1737360"/>
            <a:ext cx="2304287" cy="384048"/>
          </a:xfrm>
          <a:prstGeom prst="rect">
            <a:avLst/>
          </a:prstGeom>
          <a:noFill/>
        </p:spPr>
        <p:txBody>
          <a:bodyPr wrap="square" anchor="ctr">
            <a:spAutoFit/>
          </a:bodyPr>
          <a:lstStyle/>
          <a:p>
            <a:pPr algn="l"/>
            <a:r>
              <a:rPr sz="1450" b="1">
                <a:solidFill>
                  <a:srgbClr val="004A77"/>
                </a:solidFill>
                <a:latin typeface="Arial"/>
              </a:rPr>
              <a:t>FIND THE RIGHT DOCTOR</a:t>
            </a:r>
          </a:p>
        </p:txBody>
      </p:sp>
      <p:sp>
        <p:nvSpPr>
          <p:cNvPr id="12" name="TextBox 11"/>
          <p:cNvSpPr txBox="1"/>
          <p:nvPr/>
        </p:nvSpPr>
        <p:spPr>
          <a:xfrm>
            <a:off x="1435607" y="2157984"/>
            <a:ext cx="2304287" cy="384048"/>
          </a:xfrm>
          <a:prstGeom prst="rect">
            <a:avLst/>
          </a:prstGeom>
          <a:noFill/>
        </p:spPr>
        <p:txBody>
          <a:bodyPr wrap="square" anchor="ctr">
            <a:spAutoFit/>
          </a:bodyPr>
          <a:lstStyle/>
          <a:p>
            <a:pPr algn="l"/>
            <a:r>
              <a:rPr sz="1150" b="0">
                <a:solidFill>
                  <a:srgbClr val="4D687A"/>
                </a:solidFill>
                <a:latin typeface="Arial"/>
              </a:rPr>
              <a:t>Who should I see?</a:t>
            </a:r>
          </a:p>
        </p:txBody>
      </p:sp>
      <p:sp>
        <p:nvSpPr>
          <p:cNvPr id="13" name="Rounded Rectangle 12"/>
          <p:cNvSpPr/>
          <p:nvPr/>
        </p:nvSpPr>
        <p:spPr>
          <a:xfrm>
            <a:off x="8284464" y="1572768"/>
            <a:ext cx="3246120" cy="1234440"/>
          </a:xfrm>
          <a:prstGeom prst="roundRect">
            <a:avLst/>
          </a:prstGeom>
          <a:solidFill>
            <a:srgbClr val="FFFFFF"/>
          </a:solidFill>
          <a:ln w="12700">
            <a:solidFill>
              <a:srgbClr val="C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449056" y="1737360"/>
            <a:ext cx="475488" cy="475488"/>
          </a:xfrm>
          <a:prstGeom prst="roundRect">
            <a:avLst/>
          </a:prstGeom>
          <a:solidFill>
            <a:srgbClr val="14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49056" y="1737360"/>
            <a:ext cx="475488" cy="475488"/>
          </a:xfrm>
          <a:prstGeom prst="rect">
            <a:avLst/>
          </a:prstGeom>
          <a:noFill/>
        </p:spPr>
        <p:txBody>
          <a:bodyPr wrap="square" anchor="ctr">
            <a:spAutoFit/>
          </a:bodyPr>
          <a:lstStyle/>
          <a:p>
            <a:pPr algn="ctr"/>
            <a:r>
              <a:rPr sz="1000" b="1">
                <a:solidFill>
                  <a:srgbClr val="FFFFFF"/>
                </a:solidFill>
                <a:latin typeface="Arial"/>
              </a:rPr>
              <a:t>02</a:t>
            </a:r>
          </a:p>
        </p:txBody>
      </p:sp>
      <p:sp>
        <p:nvSpPr>
          <p:cNvPr id="16" name="TextBox 15"/>
          <p:cNvSpPr txBox="1"/>
          <p:nvPr/>
        </p:nvSpPr>
        <p:spPr>
          <a:xfrm>
            <a:off x="9061704" y="1737360"/>
            <a:ext cx="2304287" cy="384048"/>
          </a:xfrm>
          <a:prstGeom prst="rect">
            <a:avLst/>
          </a:prstGeom>
          <a:noFill/>
        </p:spPr>
        <p:txBody>
          <a:bodyPr wrap="square" anchor="ctr">
            <a:spAutoFit/>
          </a:bodyPr>
          <a:lstStyle/>
          <a:p>
            <a:pPr algn="l"/>
            <a:r>
              <a:rPr sz="1450" b="1">
                <a:solidFill>
                  <a:srgbClr val="004A77"/>
                </a:solidFill>
                <a:latin typeface="Arial"/>
              </a:rPr>
              <a:t>CHECK A SERVICE</a:t>
            </a:r>
          </a:p>
        </p:txBody>
      </p:sp>
      <p:sp>
        <p:nvSpPr>
          <p:cNvPr id="17" name="TextBox 16"/>
          <p:cNvSpPr txBox="1"/>
          <p:nvPr/>
        </p:nvSpPr>
        <p:spPr>
          <a:xfrm>
            <a:off x="9061704" y="2157984"/>
            <a:ext cx="2304287" cy="384048"/>
          </a:xfrm>
          <a:prstGeom prst="rect">
            <a:avLst/>
          </a:prstGeom>
          <a:noFill/>
        </p:spPr>
        <p:txBody>
          <a:bodyPr wrap="square" anchor="ctr">
            <a:spAutoFit/>
          </a:bodyPr>
          <a:lstStyle/>
          <a:p>
            <a:pPr algn="l"/>
            <a:r>
              <a:rPr sz="1150" b="0">
                <a:solidFill>
                  <a:srgbClr val="4D687A"/>
                </a:solidFill>
                <a:latin typeface="Arial"/>
              </a:rPr>
              <a:t>Does UASHMC offer it?</a:t>
            </a:r>
          </a:p>
        </p:txBody>
      </p:sp>
      <p:sp>
        <p:nvSpPr>
          <p:cNvPr id="18" name="Rounded Rectangle 17"/>
          <p:cNvSpPr/>
          <p:nvPr/>
        </p:nvSpPr>
        <p:spPr>
          <a:xfrm>
            <a:off x="658368" y="3337560"/>
            <a:ext cx="3246120" cy="1234440"/>
          </a:xfrm>
          <a:prstGeom prst="roundRect">
            <a:avLst/>
          </a:prstGeom>
          <a:solidFill>
            <a:srgbClr val="FFFFFF"/>
          </a:solidFill>
          <a:ln w="12700">
            <a:solidFill>
              <a:srgbClr val="C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22959" y="3502152"/>
            <a:ext cx="475488" cy="475488"/>
          </a:xfrm>
          <a:prstGeom prst="roundRect">
            <a:avLst/>
          </a:prstGeom>
          <a:solidFill>
            <a:srgbClr val="14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59" y="3502152"/>
            <a:ext cx="475488" cy="475488"/>
          </a:xfrm>
          <a:prstGeom prst="rect">
            <a:avLst/>
          </a:prstGeom>
          <a:noFill/>
        </p:spPr>
        <p:txBody>
          <a:bodyPr wrap="square" anchor="ctr">
            <a:spAutoFit/>
          </a:bodyPr>
          <a:lstStyle/>
          <a:p>
            <a:pPr algn="ctr"/>
            <a:r>
              <a:rPr sz="1000" b="1">
                <a:solidFill>
                  <a:srgbClr val="FFFFFF"/>
                </a:solidFill>
                <a:latin typeface="Arial"/>
              </a:rPr>
              <a:t>03</a:t>
            </a:r>
          </a:p>
        </p:txBody>
      </p:sp>
      <p:sp>
        <p:nvSpPr>
          <p:cNvPr id="21" name="TextBox 20"/>
          <p:cNvSpPr txBox="1"/>
          <p:nvPr/>
        </p:nvSpPr>
        <p:spPr>
          <a:xfrm>
            <a:off x="1435607" y="3502152"/>
            <a:ext cx="2304287" cy="384048"/>
          </a:xfrm>
          <a:prstGeom prst="rect">
            <a:avLst/>
          </a:prstGeom>
          <a:noFill/>
        </p:spPr>
        <p:txBody>
          <a:bodyPr wrap="square" anchor="ctr">
            <a:spAutoFit/>
          </a:bodyPr>
          <a:lstStyle/>
          <a:p>
            <a:pPr algn="l"/>
            <a:r>
              <a:rPr sz="1450" b="1">
                <a:solidFill>
                  <a:srgbClr val="004A77"/>
                </a:solidFill>
                <a:latin typeface="Arial"/>
              </a:rPr>
              <a:t>CHECK COVERAGE</a:t>
            </a:r>
          </a:p>
        </p:txBody>
      </p:sp>
      <p:sp>
        <p:nvSpPr>
          <p:cNvPr id="22" name="TextBox 21"/>
          <p:cNvSpPr txBox="1"/>
          <p:nvPr/>
        </p:nvSpPr>
        <p:spPr>
          <a:xfrm>
            <a:off x="1435607" y="3922776"/>
            <a:ext cx="2304287" cy="384048"/>
          </a:xfrm>
          <a:prstGeom prst="rect">
            <a:avLst/>
          </a:prstGeom>
          <a:noFill/>
        </p:spPr>
        <p:txBody>
          <a:bodyPr wrap="square" anchor="ctr">
            <a:spAutoFit/>
          </a:bodyPr>
          <a:lstStyle/>
          <a:p>
            <a:pPr algn="l"/>
            <a:r>
              <a:rPr sz="1150" b="0">
                <a:solidFill>
                  <a:srgbClr val="4D687A"/>
                </a:solidFill>
                <a:latin typeface="Arial"/>
              </a:rPr>
              <a:t>Do you accept my HMO?</a:t>
            </a:r>
          </a:p>
        </p:txBody>
      </p:sp>
      <p:sp>
        <p:nvSpPr>
          <p:cNvPr id="23" name="Rounded Rectangle 22"/>
          <p:cNvSpPr/>
          <p:nvPr/>
        </p:nvSpPr>
        <p:spPr>
          <a:xfrm>
            <a:off x="8284464" y="3337560"/>
            <a:ext cx="3246120" cy="1234440"/>
          </a:xfrm>
          <a:prstGeom prst="roundRect">
            <a:avLst/>
          </a:prstGeom>
          <a:solidFill>
            <a:srgbClr val="FFFFFF"/>
          </a:solidFill>
          <a:ln w="12700">
            <a:solidFill>
              <a:srgbClr val="C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449056" y="3502152"/>
            <a:ext cx="475488" cy="475488"/>
          </a:xfrm>
          <a:prstGeom prst="roundRect">
            <a:avLst/>
          </a:prstGeom>
          <a:solidFill>
            <a:srgbClr val="14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49056" y="3502152"/>
            <a:ext cx="475488" cy="475488"/>
          </a:xfrm>
          <a:prstGeom prst="rect">
            <a:avLst/>
          </a:prstGeom>
          <a:noFill/>
        </p:spPr>
        <p:txBody>
          <a:bodyPr wrap="square" anchor="ctr">
            <a:spAutoFit/>
          </a:bodyPr>
          <a:lstStyle/>
          <a:p>
            <a:pPr algn="ctr"/>
            <a:r>
              <a:rPr sz="1000" b="1">
                <a:solidFill>
                  <a:srgbClr val="FFFFFF"/>
                </a:solidFill>
                <a:latin typeface="Arial"/>
              </a:rPr>
              <a:t>04</a:t>
            </a:r>
          </a:p>
        </p:txBody>
      </p:sp>
      <p:sp>
        <p:nvSpPr>
          <p:cNvPr id="26" name="TextBox 25"/>
          <p:cNvSpPr txBox="1"/>
          <p:nvPr/>
        </p:nvSpPr>
        <p:spPr>
          <a:xfrm>
            <a:off x="9061704" y="3502152"/>
            <a:ext cx="2304287" cy="384048"/>
          </a:xfrm>
          <a:prstGeom prst="rect">
            <a:avLst/>
          </a:prstGeom>
          <a:noFill/>
        </p:spPr>
        <p:txBody>
          <a:bodyPr wrap="square" anchor="ctr">
            <a:spAutoFit/>
          </a:bodyPr>
          <a:lstStyle/>
          <a:p>
            <a:pPr algn="l"/>
            <a:r>
              <a:rPr sz="1450" b="1">
                <a:solidFill>
                  <a:srgbClr val="004A77"/>
                </a:solidFill>
                <a:latin typeface="Arial"/>
              </a:rPr>
              <a:t>PREPARE FOR MY VISIT</a:t>
            </a:r>
          </a:p>
        </p:txBody>
      </p:sp>
      <p:sp>
        <p:nvSpPr>
          <p:cNvPr id="27" name="TextBox 26"/>
          <p:cNvSpPr txBox="1"/>
          <p:nvPr/>
        </p:nvSpPr>
        <p:spPr>
          <a:xfrm>
            <a:off x="9061704" y="3922776"/>
            <a:ext cx="2304287" cy="384048"/>
          </a:xfrm>
          <a:prstGeom prst="rect">
            <a:avLst/>
          </a:prstGeom>
          <a:noFill/>
        </p:spPr>
        <p:txBody>
          <a:bodyPr wrap="square" anchor="ctr">
            <a:spAutoFit/>
          </a:bodyPr>
          <a:lstStyle/>
          <a:p>
            <a:pPr algn="l"/>
            <a:r>
              <a:rPr sz="1150" b="0">
                <a:solidFill>
                  <a:srgbClr val="4D687A"/>
                </a:solidFill>
                <a:latin typeface="Arial"/>
              </a:rPr>
              <a:t>What do I need to know?</a:t>
            </a:r>
          </a:p>
        </p:txBody>
      </p:sp>
      <p:sp>
        <p:nvSpPr>
          <p:cNvPr id="28" name="Rounded Rectangle 27"/>
          <p:cNvSpPr/>
          <p:nvPr/>
        </p:nvSpPr>
        <p:spPr>
          <a:xfrm>
            <a:off x="1847088" y="5047488"/>
            <a:ext cx="3246120" cy="1234440"/>
          </a:xfrm>
          <a:prstGeom prst="roundRect">
            <a:avLst/>
          </a:prstGeom>
          <a:solidFill>
            <a:srgbClr val="FFFFFF"/>
          </a:solidFill>
          <a:ln w="12700">
            <a:solidFill>
              <a:srgbClr val="C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2011680" y="5212079"/>
            <a:ext cx="475488" cy="475488"/>
          </a:xfrm>
          <a:prstGeom prst="roundRect">
            <a:avLst/>
          </a:prstGeom>
          <a:solidFill>
            <a:srgbClr val="14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11680" y="5212079"/>
            <a:ext cx="475488" cy="475488"/>
          </a:xfrm>
          <a:prstGeom prst="rect">
            <a:avLst/>
          </a:prstGeom>
          <a:noFill/>
        </p:spPr>
        <p:txBody>
          <a:bodyPr wrap="square" anchor="ctr">
            <a:spAutoFit/>
          </a:bodyPr>
          <a:lstStyle/>
          <a:p>
            <a:pPr algn="ctr"/>
            <a:r>
              <a:rPr sz="1000" b="1">
                <a:solidFill>
                  <a:srgbClr val="FFFFFF"/>
                </a:solidFill>
                <a:latin typeface="Arial"/>
              </a:rPr>
              <a:t>05</a:t>
            </a:r>
          </a:p>
        </p:txBody>
      </p:sp>
      <p:sp>
        <p:nvSpPr>
          <p:cNvPr id="31" name="TextBox 30"/>
          <p:cNvSpPr txBox="1"/>
          <p:nvPr/>
        </p:nvSpPr>
        <p:spPr>
          <a:xfrm>
            <a:off x="2624328" y="5212079"/>
            <a:ext cx="2304287" cy="384048"/>
          </a:xfrm>
          <a:prstGeom prst="rect">
            <a:avLst/>
          </a:prstGeom>
          <a:noFill/>
        </p:spPr>
        <p:txBody>
          <a:bodyPr wrap="square" anchor="ctr">
            <a:spAutoFit/>
          </a:bodyPr>
          <a:lstStyle/>
          <a:p>
            <a:pPr algn="l"/>
            <a:r>
              <a:rPr sz="1450" b="1">
                <a:solidFill>
                  <a:srgbClr val="004A77"/>
                </a:solidFill>
                <a:latin typeface="Arial"/>
              </a:rPr>
              <a:t>GET URGENT HELP</a:t>
            </a:r>
          </a:p>
        </p:txBody>
      </p:sp>
      <p:sp>
        <p:nvSpPr>
          <p:cNvPr id="32" name="TextBox 31"/>
          <p:cNvSpPr txBox="1"/>
          <p:nvPr/>
        </p:nvSpPr>
        <p:spPr>
          <a:xfrm>
            <a:off x="2624328" y="5632703"/>
            <a:ext cx="2304287" cy="384048"/>
          </a:xfrm>
          <a:prstGeom prst="rect">
            <a:avLst/>
          </a:prstGeom>
          <a:noFill/>
        </p:spPr>
        <p:txBody>
          <a:bodyPr wrap="square" anchor="ctr">
            <a:spAutoFit/>
          </a:bodyPr>
          <a:lstStyle/>
          <a:p>
            <a:pPr algn="l"/>
            <a:r>
              <a:rPr sz="1150" b="0">
                <a:solidFill>
                  <a:srgbClr val="4D687A"/>
                </a:solidFill>
                <a:latin typeface="Arial"/>
              </a:rPr>
              <a:t>What do I do now?</a:t>
            </a:r>
          </a:p>
        </p:txBody>
      </p:sp>
      <p:sp>
        <p:nvSpPr>
          <p:cNvPr id="33" name="Rounded Rectangle 32"/>
          <p:cNvSpPr/>
          <p:nvPr/>
        </p:nvSpPr>
        <p:spPr>
          <a:xfrm>
            <a:off x="7095744" y="5047488"/>
            <a:ext cx="3246120" cy="1234440"/>
          </a:xfrm>
          <a:prstGeom prst="roundRect">
            <a:avLst/>
          </a:prstGeom>
          <a:solidFill>
            <a:srgbClr val="FFFFFF"/>
          </a:solidFill>
          <a:ln w="12700">
            <a:solidFill>
              <a:srgbClr val="C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7260336" y="5212079"/>
            <a:ext cx="475488" cy="475488"/>
          </a:xfrm>
          <a:prstGeom prst="roundRect">
            <a:avLst/>
          </a:prstGeom>
          <a:solidFill>
            <a:srgbClr val="14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60336" y="5212079"/>
            <a:ext cx="475488" cy="475488"/>
          </a:xfrm>
          <a:prstGeom prst="rect">
            <a:avLst/>
          </a:prstGeom>
          <a:noFill/>
        </p:spPr>
        <p:txBody>
          <a:bodyPr wrap="square" anchor="ctr">
            <a:spAutoFit/>
          </a:bodyPr>
          <a:lstStyle/>
          <a:p>
            <a:pPr algn="ctr"/>
            <a:r>
              <a:rPr sz="1000" b="1">
                <a:solidFill>
                  <a:srgbClr val="FFFFFF"/>
                </a:solidFill>
                <a:latin typeface="Arial"/>
              </a:rPr>
              <a:t>06</a:t>
            </a:r>
          </a:p>
        </p:txBody>
      </p:sp>
      <p:sp>
        <p:nvSpPr>
          <p:cNvPr id="36" name="TextBox 35"/>
          <p:cNvSpPr txBox="1"/>
          <p:nvPr/>
        </p:nvSpPr>
        <p:spPr>
          <a:xfrm>
            <a:off x="7872983" y="5212079"/>
            <a:ext cx="2304287" cy="384048"/>
          </a:xfrm>
          <a:prstGeom prst="rect">
            <a:avLst/>
          </a:prstGeom>
          <a:noFill/>
        </p:spPr>
        <p:txBody>
          <a:bodyPr wrap="square" anchor="ctr">
            <a:spAutoFit/>
          </a:bodyPr>
          <a:lstStyle/>
          <a:p>
            <a:pPr algn="l"/>
            <a:r>
              <a:rPr sz="1450" b="1">
                <a:solidFill>
                  <a:srgbClr val="004A77"/>
                </a:solidFill>
                <a:latin typeface="Arial"/>
              </a:rPr>
              <a:t>GET THERE</a:t>
            </a:r>
          </a:p>
        </p:txBody>
      </p:sp>
      <p:sp>
        <p:nvSpPr>
          <p:cNvPr id="37" name="TextBox 36"/>
          <p:cNvSpPr txBox="1"/>
          <p:nvPr/>
        </p:nvSpPr>
        <p:spPr>
          <a:xfrm>
            <a:off x="7872983" y="5632703"/>
            <a:ext cx="2304287" cy="384048"/>
          </a:xfrm>
          <a:prstGeom prst="rect">
            <a:avLst/>
          </a:prstGeom>
          <a:noFill/>
        </p:spPr>
        <p:txBody>
          <a:bodyPr wrap="square" anchor="ctr">
            <a:spAutoFit/>
          </a:bodyPr>
          <a:lstStyle/>
          <a:p>
            <a:pPr algn="l"/>
            <a:r>
              <a:rPr sz="1150" b="0">
                <a:solidFill>
                  <a:srgbClr val="4D687A"/>
                </a:solidFill>
                <a:latin typeface="Arial"/>
              </a:rPr>
              <a:t>Where is UASHMC?</a:t>
            </a:r>
          </a:p>
        </p:txBody>
      </p:sp>
      <p:sp>
        <p:nvSpPr>
          <p:cNvPr id="38" name="Rectangle 37"/>
          <p:cNvSpPr/>
          <p:nvPr/>
        </p:nvSpPr>
        <p:spPr>
          <a:xfrm>
            <a:off x="3904487" y="2112264"/>
            <a:ext cx="658368" cy="45720"/>
          </a:xfrm>
          <a:prstGeom prst="rect">
            <a:avLst/>
          </a:prstGeom>
          <a:solidFill>
            <a:srgbClr val="14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644383" y="2112264"/>
            <a:ext cx="640080" cy="45720"/>
          </a:xfrm>
          <a:prstGeom prst="rect">
            <a:avLst/>
          </a:prstGeom>
          <a:solidFill>
            <a:srgbClr val="14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904487" y="3922776"/>
            <a:ext cx="658368" cy="45720"/>
          </a:xfrm>
          <a:prstGeom prst="rect">
            <a:avLst/>
          </a:prstGeom>
          <a:solidFill>
            <a:srgbClr val="14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644383" y="3922776"/>
            <a:ext cx="640080" cy="45720"/>
          </a:xfrm>
          <a:prstGeom prst="rect">
            <a:avLst/>
          </a:prstGeom>
          <a:solidFill>
            <a:srgbClr val="14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718304" y="4572000"/>
            <a:ext cx="45720" cy="475488"/>
          </a:xfrm>
          <a:prstGeom prst="rect">
            <a:avLst/>
          </a:prstGeom>
          <a:solidFill>
            <a:srgbClr val="14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424927" y="4572000"/>
            <a:ext cx="45720" cy="475488"/>
          </a:xfrm>
          <a:prstGeom prst="rect">
            <a:avLst/>
          </a:prstGeom>
          <a:solidFill>
            <a:srgbClr val="14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0" y="6473952"/>
            <a:ext cx="12191695" cy="384048"/>
          </a:xfrm>
          <a:prstGeom prst="rect">
            <a:avLst/>
          </a:prstGeom>
          <a:solidFill>
            <a:srgbClr val="004A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77240" y="6501384"/>
            <a:ext cx="10652760" cy="256032"/>
          </a:xfrm>
          <a:prstGeom prst="rect">
            <a:avLst/>
          </a:prstGeom>
          <a:noFill/>
        </p:spPr>
        <p:txBody>
          <a:bodyPr wrap="square" anchor="ctr">
            <a:spAutoFit/>
          </a:bodyPr>
          <a:lstStyle/>
          <a:p>
            <a:pPr algn="ctr"/>
            <a:r>
              <a:rPr sz="1150" b="1">
                <a:solidFill>
                  <a:srgbClr val="FFFFFF"/>
                </a:solidFill>
                <a:latin typeface="Arial"/>
              </a:rPr>
              <a:t>Design the website around what patients are trying to accomplish — not around the hospital’s internal structure.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881360" cy="502920"/>
          </a:xfrm>
          <a:prstGeom prst="rect">
            <a:avLst/>
          </a:prstGeom>
          <a:noFill/>
        </p:spPr>
        <p:txBody>
          <a:bodyPr wrap="square" anchor="ctr">
            <a:spAutoFit/>
          </a:bodyPr>
          <a:lstStyle/>
          <a:p>
            <a:pPr algn="l"/>
            <a:r>
              <a:rPr sz="2700" b="1">
                <a:solidFill>
                  <a:srgbClr val="004878"/>
                </a:solidFill>
                <a:latin typeface="Arial" panose="020B0604020202020204"/>
              </a:rPr>
              <a:t>A PREVIEW OF YOUR NEW WEBSITE</a:t>
            </a:r>
          </a:p>
        </p:txBody>
      </p:sp>
      <p:sp>
        <p:nvSpPr>
          <p:cNvPr id="4" name="Rounded Rectangle 3"/>
          <p:cNvSpPr/>
          <p:nvPr/>
        </p:nvSpPr>
        <p:spPr>
          <a:xfrm>
            <a:off x="713232" y="1417320"/>
            <a:ext cx="566928" cy="566928"/>
          </a:xfrm>
          <a:prstGeom prst="roundRect">
            <a:avLst/>
          </a:prstGeom>
          <a:solidFill>
            <a:srgbClr val="0EB5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417320"/>
            <a:ext cx="566928" cy="566928"/>
          </a:xfrm>
          <a:prstGeom prst="rect">
            <a:avLst/>
          </a:prstGeom>
          <a:noFill/>
        </p:spPr>
        <p:txBody>
          <a:bodyPr wrap="square" anchor="ctr">
            <a:spAutoFit/>
          </a:bodyPr>
          <a:lstStyle/>
          <a:p>
            <a:pPr algn="ctr"/>
            <a:r>
              <a:rPr sz="1400" b="1">
                <a:solidFill>
                  <a:srgbClr val="FFFFFF"/>
                </a:solidFill>
                <a:latin typeface="Arial" panose="020B0604020202020204"/>
              </a:rPr>
              <a:t>1</a:t>
            </a:r>
          </a:p>
        </p:txBody>
      </p:sp>
      <p:sp>
        <p:nvSpPr>
          <p:cNvPr id="6" name="TextBox 5"/>
          <p:cNvSpPr txBox="1"/>
          <p:nvPr/>
        </p:nvSpPr>
        <p:spPr>
          <a:xfrm>
            <a:off x="1536192" y="1399032"/>
            <a:ext cx="2926080" cy="320040"/>
          </a:xfrm>
          <a:prstGeom prst="rect">
            <a:avLst/>
          </a:prstGeom>
          <a:noFill/>
        </p:spPr>
        <p:txBody>
          <a:bodyPr wrap="square" anchor="ctr">
            <a:spAutoFit/>
          </a:bodyPr>
          <a:lstStyle/>
          <a:p>
            <a:pPr algn="l"/>
            <a:r>
              <a:rPr sz="1500" b="1">
                <a:solidFill>
                  <a:srgbClr val="004878"/>
                </a:solidFill>
                <a:latin typeface="Arial" panose="020B0604020202020204"/>
              </a:rPr>
              <a:t>CLEAN &amp; EASY</a:t>
            </a:r>
          </a:p>
        </p:txBody>
      </p:sp>
      <p:sp>
        <p:nvSpPr>
          <p:cNvPr id="7" name="TextBox 6"/>
          <p:cNvSpPr txBox="1"/>
          <p:nvPr/>
        </p:nvSpPr>
        <p:spPr>
          <a:xfrm>
            <a:off x="1536192" y="1764792"/>
            <a:ext cx="3063240" cy="347472"/>
          </a:xfrm>
          <a:prstGeom prst="rect">
            <a:avLst/>
          </a:prstGeom>
          <a:noFill/>
        </p:spPr>
        <p:txBody>
          <a:bodyPr wrap="square" anchor="ctr">
            <a:spAutoFit/>
          </a:bodyPr>
          <a:lstStyle/>
          <a:p>
            <a:pPr algn="l"/>
            <a:r>
              <a:rPr sz="1300" b="0">
                <a:solidFill>
                  <a:srgbClr val="506C80"/>
                </a:solidFill>
                <a:latin typeface="Arial" panose="020B0604020202020204"/>
              </a:rPr>
              <a:t>Mobile-friendly.</a:t>
            </a:r>
          </a:p>
        </p:txBody>
      </p:sp>
      <p:sp>
        <p:nvSpPr>
          <p:cNvPr id="8" name="Rounded Rectangle 7"/>
          <p:cNvSpPr/>
          <p:nvPr/>
        </p:nvSpPr>
        <p:spPr>
          <a:xfrm>
            <a:off x="713232" y="2560320"/>
            <a:ext cx="566928" cy="566928"/>
          </a:xfrm>
          <a:prstGeom prst="roundRect">
            <a:avLst/>
          </a:prstGeom>
          <a:solidFill>
            <a:srgbClr val="0EB5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2560320"/>
            <a:ext cx="566928" cy="566928"/>
          </a:xfrm>
          <a:prstGeom prst="rect">
            <a:avLst/>
          </a:prstGeom>
          <a:noFill/>
        </p:spPr>
        <p:txBody>
          <a:bodyPr wrap="square" anchor="ctr">
            <a:spAutoFit/>
          </a:bodyPr>
          <a:lstStyle/>
          <a:p>
            <a:pPr algn="ctr"/>
            <a:r>
              <a:rPr sz="1400" b="1">
                <a:solidFill>
                  <a:srgbClr val="FFFFFF"/>
                </a:solidFill>
                <a:latin typeface="Arial" panose="020B0604020202020204"/>
              </a:rPr>
              <a:t>2</a:t>
            </a:r>
          </a:p>
        </p:txBody>
      </p:sp>
      <p:sp>
        <p:nvSpPr>
          <p:cNvPr id="10" name="TextBox 9"/>
          <p:cNvSpPr txBox="1"/>
          <p:nvPr/>
        </p:nvSpPr>
        <p:spPr>
          <a:xfrm>
            <a:off x="1536192" y="2542032"/>
            <a:ext cx="2926080" cy="320040"/>
          </a:xfrm>
          <a:prstGeom prst="rect">
            <a:avLst/>
          </a:prstGeom>
          <a:noFill/>
        </p:spPr>
        <p:txBody>
          <a:bodyPr wrap="square" anchor="ctr">
            <a:spAutoFit/>
          </a:bodyPr>
          <a:lstStyle/>
          <a:p>
            <a:pPr algn="l"/>
            <a:r>
              <a:rPr sz="1500" b="1">
                <a:solidFill>
                  <a:srgbClr val="004878"/>
                </a:solidFill>
                <a:latin typeface="Arial" panose="020B0604020202020204"/>
              </a:rPr>
              <a:t>FIND IT FASTER</a:t>
            </a:r>
          </a:p>
        </p:txBody>
      </p:sp>
      <p:sp>
        <p:nvSpPr>
          <p:cNvPr id="11" name="TextBox 10"/>
          <p:cNvSpPr txBox="1"/>
          <p:nvPr/>
        </p:nvSpPr>
        <p:spPr>
          <a:xfrm>
            <a:off x="1536192" y="2907791"/>
            <a:ext cx="3063240" cy="347472"/>
          </a:xfrm>
          <a:prstGeom prst="rect">
            <a:avLst/>
          </a:prstGeom>
          <a:noFill/>
        </p:spPr>
        <p:txBody>
          <a:bodyPr wrap="square" anchor="ctr">
            <a:spAutoFit/>
          </a:bodyPr>
          <a:lstStyle/>
          <a:p>
            <a:pPr algn="l"/>
            <a:r>
              <a:rPr sz="1300" b="0">
                <a:solidFill>
                  <a:srgbClr val="506C80"/>
                </a:solidFill>
                <a:latin typeface="Arial" panose="020B0604020202020204"/>
              </a:rPr>
              <a:t>Doctors, services and HMOs.</a:t>
            </a:r>
          </a:p>
        </p:txBody>
      </p:sp>
      <p:sp>
        <p:nvSpPr>
          <p:cNvPr id="12" name="Rounded Rectangle 11"/>
          <p:cNvSpPr/>
          <p:nvPr/>
        </p:nvSpPr>
        <p:spPr>
          <a:xfrm>
            <a:off x="713232" y="3703320"/>
            <a:ext cx="566928" cy="566928"/>
          </a:xfrm>
          <a:prstGeom prst="roundRect">
            <a:avLst/>
          </a:prstGeom>
          <a:solidFill>
            <a:srgbClr val="0EB5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 y="3703320"/>
            <a:ext cx="566928" cy="566928"/>
          </a:xfrm>
          <a:prstGeom prst="rect">
            <a:avLst/>
          </a:prstGeom>
          <a:noFill/>
        </p:spPr>
        <p:txBody>
          <a:bodyPr wrap="square" anchor="ctr">
            <a:spAutoFit/>
          </a:bodyPr>
          <a:lstStyle/>
          <a:p>
            <a:pPr algn="ctr"/>
            <a:r>
              <a:rPr sz="1400" b="1">
                <a:solidFill>
                  <a:srgbClr val="FFFFFF"/>
                </a:solidFill>
                <a:latin typeface="Arial" panose="020B0604020202020204"/>
              </a:rPr>
              <a:t>3</a:t>
            </a:r>
          </a:p>
        </p:txBody>
      </p:sp>
      <p:sp>
        <p:nvSpPr>
          <p:cNvPr id="14" name="TextBox 13"/>
          <p:cNvSpPr txBox="1"/>
          <p:nvPr/>
        </p:nvSpPr>
        <p:spPr>
          <a:xfrm>
            <a:off x="1536192" y="3685032"/>
            <a:ext cx="2926080" cy="320040"/>
          </a:xfrm>
          <a:prstGeom prst="rect">
            <a:avLst/>
          </a:prstGeom>
          <a:noFill/>
        </p:spPr>
        <p:txBody>
          <a:bodyPr wrap="square" anchor="ctr">
            <a:spAutoFit/>
          </a:bodyPr>
          <a:lstStyle/>
          <a:p>
            <a:pPr algn="l"/>
            <a:r>
              <a:rPr sz="1500" b="1">
                <a:solidFill>
                  <a:srgbClr val="004878"/>
                </a:solidFill>
                <a:latin typeface="Arial" panose="020B0604020202020204"/>
              </a:rPr>
              <a:t>BUILT FOR ACTION</a:t>
            </a:r>
          </a:p>
        </p:txBody>
      </p:sp>
      <p:sp>
        <p:nvSpPr>
          <p:cNvPr id="15" name="TextBox 14"/>
          <p:cNvSpPr txBox="1"/>
          <p:nvPr/>
        </p:nvSpPr>
        <p:spPr>
          <a:xfrm>
            <a:off x="1536192" y="4050791"/>
            <a:ext cx="3063240" cy="347472"/>
          </a:xfrm>
          <a:prstGeom prst="rect">
            <a:avLst/>
          </a:prstGeom>
          <a:noFill/>
        </p:spPr>
        <p:txBody>
          <a:bodyPr wrap="square" anchor="ctr">
            <a:spAutoFit/>
          </a:bodyPr>
          <a:lstStyle/>
          <a:p>
            <a:pPr algn="l"/>
            <a:r>
              <a:rPr sz="1300" b="0">
                <a:solidFill>
                  <a:srgbClr val="506C80"/>
                </a:solidFill>
                <a:latin typeface="Arial" panose="020B0604020202020204"/>
              </a:rPr>
              <a:t>Clear next steps for patients.</a:t>
            </a:r>
          </a:p>
        </p:txBody>
      </p:sp>
      <p:pic>
        <p:nvPicPr>
          <p:cNvPr id="16" name="Picture 15" descr="image.jpg"/>
          <p:cNvPicPr>
            <a:picLocks noChangeAspect="1"/>
          </p:cNvPicPr>
          <p:nvPr/>
        </p:nvPicPr>
        <p:blipFill>
          <a:blip r:embed="rId3"/>
          <a:stretch>
            <a:fillRect/>
          </a:stretch>
        </p:blipFill>
        <p:spPr>
          <a:xfrm>
            <a:off x="4709160" y="1234440"/>
            <a:ext cx="6903720" cy="4526280"/>
          </a:xfrm>
          <a:prstGeom prst="rect">
            <a:avLst/>
          </a:prstGeom>
        </p:spPr>
      </p:pic>
      <p:sp>
        <p:nvSpPr>
          <p:cNvPr id="17" name="Rectangle 16"/>
          <p:cNvSpPr/>
          <p:nvPr/>
        </p:nvSpPr>
        <p:spPr>
          <a:xfrm>
            <a:off x="0" y="6126480"/>
            <a:ext cx="12191695" cy="731520"/>
          </a:xfrm>
          <a:prstGeom prst="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6291072"/>
            <a:ext cx="10789920" cy="310896"/>
          </a:xfrm>
          <a:prstGeom prst="rect">
            <a:avLst/>
          </a:prstGeom>
          <a:noFill/>
        </p:spPr>
        <p:txBody>
          <a:bodyPr wrap="square" anchor="ctr">
            <a:spAutoFit/>
          </a:bodyPr>
          <a:lstStyle/>
          <a:p>
            <a:pPr algn="ctr"/>
            <a:r>
              <a:rPr sz="1400" b="1">
                <a:solidFill>
                  <a:srgbClr val="FFFFFF"/>
                </a:solidFill>
                <a:latin typeface="Arial" panose="020B0604020202020204"/>
              </a:rPr>
              <a:t>We’ll shape the final experience around UASHMC’s priorities.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881360" cy="502920"/>
          </a:xfrm>
          <a:prstGeom prst="rect">
            <a:avLst/>
          </a:prstGeom>
          <a:noFill/>
        </p:spPr>
        <p:txBody>
          <a:bodyPr wrap="square" anchor="ctr">
            <a:spAutoFit/>
          </a:bodyPr>
          <a:lstStyle/>
          <a:p>
            <a:pPr algn="l"/>
            <a:r>
              <a:rPr sz="2700" b="1">
                <a:solidFill>
                  <a:srgbClr val="004878"/>
                </a:solidFill>
                <a:latin typeface="Arial" panose="020B0604020202020204"/>
              </a:rPr>
              <a:t>UPSERV + KRISS AI: ONE DIGITAL FRONT DOOR</a:t>
            </a:r>
          </a:p>
        </p:txBody>
      </p:sp>
      <p:sp>
        <p:nvSpPr>
          <p:cNvPr id="4" name="Rounded Rectangle 3"/>
          <p:cNvSpPr/>
          <p:nvPr/>
        </p:nvSpPr>
        <p:spPr>
          <a:xfrm>
            <a:off x="731520" y="1417320"/>
            <a:ext cx="4709160" cy="4526280"/>
          </a:xfrm>
          <a:prstGeom prst="roundRect">
            <a:avLst/>
          </a:prstGeom>
          <a:solidFill>
            <a:srgbClr val="EFF8FB"/>
          </a:solidFill>
          <a:ln>
            <a:solidFill>
              <a:srgbClr val="D1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783080"/>
            <a:ext cx="4069080" cy="347472"/>
          </a:xfrm>
          <a:prstGeom prst="rect">
            <a:avLst/>
          </a:prstGeom>
          <a:noFill/>
        </p:spPr>
        <p:txBody>
          <a:bodyPr wrap="square" anchor="ctr">
            <a:spAutoFit/>
          </a:bodyPr>
          <a:lstStyle/>
          <a:p>
            <a:pPr algn="ctr"/>
            <a:r>
              <a:rPr sz="1700" b="1">
                <a:solidFill>
                  <a:srgbClr val="004878"/>
                </a:solidFill>
                <a:latin typeface="Arial" panose="020B0604020202020204"/>
              </a:rPr>
              <a:t>WEBSITE (UPSERV)</a:t>
            </a:r>
          </a:p>
        </p:txBody>
      </p:sp>
      <p:sp>
        <p:nvSpPr>
          <p:cNvPr id="6" name="TextBox 5"/>
          <p:cNvSpPr txBox="1"/>
          <p:nvPr/>
        </p:nvSpPr>
        <p:spPr>
          <a:xfrm>
            <a:off x="1051560" y="2468880"/>
            <a:ext cx="4069080" cy="530352"/>
          </a:xfrm>
          <a:prstGeom prst="rect">
            <a:avLst/>
          </a:prstGeom>
          <a:noFill/>
        </p:spPr>
        <p:txBody>
          <a:bodyPr wrap="square" anchor="ctr">
            <a:spAutoFit/>
          </a:bodyPr>
          <a:lstStyle/>
          <a:p>
            <a:pPr algn="ctr"/>
            <a:r>
              <a:rPr sz="2600" b="1">
                <a:solidFill>
                  <a:srgbClr val="0EB5CA"/>
                </a:solidFill>
                <a:latin typeface="Arial" panose="020B0604020202020204"/>
              </a:rPr>
              <a:t>Patients FIND.</a:t>
            </a:r>
          </a:p>
        </p:txBody>
      </p:sp>
      <p:sp>
        <p:nvSpPr>
          <p:cNvPr id="7" name="TextBox 6"/>
          <p:cNvSpPr txBox="1"/>
          <p:nvPr/>
        </p:nvSpPr>
        <p:spPr>
          <a:xfrm>
            <a:off x="1143000" y="3246120"/>
            <a:ext cx="3886200" cy="1051560"/>
          </a:xfrm>
          <a:prstGeom prst="rect">
            <a:avLst/>
          </a:prstGeom>
          <a:noFill/>
        </p:spPr>
        <p:txBody>
          <a:bodyPr wrap="square" anchor="ctr">
            <a:spAutoFit/>
          </a:bodyPr>
          <a:lstStyle/>
          <a:p>
            <a:pPr algn="ctr"/>
            <a:r>
              <a:rPr sz="1500" b="0">
                <a:solidFill>
                  <a:srgbClr val="506C80"/>
                </a:solidFill>
                <a:latin typeface="Arial" panose="020B0604020202020204"/>
              </a:rPr>
              <a:t>Doctors • Services
HMOs • Patient Information</a:t>
            </a:r>
          </a:p>
        </p:txBody>
      </p:sp>
      <p:sp>
        <p:nvSpPr>
          <p:cNvPr id="8" name="Rounded Rectangle 7"/>
          <p:cNvSpPr/>
          <p:nvPr/>
        </p:nvSpPr>
        <p:spPr>
          <a:xfrm>
            <a:off x="5760720" y="1417320"/>
            <a:ext cx="5669280" cy="4526280"/>
          </a:xfrm>
          <a:prstGeom prst="round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0" y="1783080"/>
            <a:ext cx="4937760" cy="347472"/>
          </a:xfrm>
          <a:prstGeom prst="rect">
            <a:avLst/>
          </a:prstGeom>
          <a:noFill/>
        </p:spPr>
        <p:txBody>
          <a:bodyPr wrap="square" anchor="ctr">
            <a:spAutoFit/>
          </a:bodyPr>
          <a:lstStyle/>
          <a:p>
            <a:pPr algn="ctr"/>
            <a:r>
              <a:rPr sz="1700" b="1">
                <a:solidFill>
                  <a:srgbClr val="FFFFFF"/>
                </a:solidFill>
                <a:latin typeface="Arial" panose="020B0604020202020204"/>
              </a:rPr>
              <a:t>KRISS AI</a:t>
            </a:r>
          </a:p>
        </p:txBody>
      </p:sp>
      <p:sp>
        <p:nvSpPr>
          <p:cNvPr id="10" name="TextBox 9"/>
          <p:cNvSpPr txBox="1"/>
          <p:nvPr/>
        </p:nvSpPr>
        <p:spPr>
          <a:xfrm>
            <a:off x="6126480" y="2468880"/>
            <a:ext cx="4937760" cy="530352"/>
          </a:xfrm>
          <a:prstGeom prst="rect">
            <a:avLst/>
          </a:prstGeom>
          <a:noFill/>
        </p:spPr>
        <p:txBody>
          <a:bodyPr wrap="square" anchor="ctr">
            <a:spAutoFit/>
          </a:bodyPr>
          <a:lstStyle/>
          <a:p>
            <a:pPr algn="ctr"/>
            <a:r>
              <a:rPr sz="2600" b="1">
                <a:solidFill>
                  <a:srgbClr val="0EB5CA"/>
                </a:solidFill>
                <a:latin typeface="Arial" panose="020B0604020202020204"/>
              </a:rPr>
              <a:t>Patients ASK.</a:t>
            </a:r>
          </a:p>
        </p:txBody>
      </p:sp>
      <p:sp>
        <p:nvSpPr>
          <p:cNvPr id="11" name="TextBox 10"/>
          <p:cNvSpPr txBox="1"/>
          <p:nvPr/>
        </p:nvSpPr>
        <p:spPr>
          <a:xfrm>
            <a:off x="6492240" y="3246120"/>
            <a:ext cx="4206240" cy="1143000"/>
          </a:xfrm>
          <a:prstGeom prst="rect">
            <a:avLst/>
          </a:prstGeom>
          <a:noFill/>
        </p:spPr>
        <p:txBody>
          <a:bodyPr wrap="square" anchor="ctr">
            <a:spAutoFit/>
          </a:bodyPr>
          <a:lstStyle/>
          <a:p>
            <a:pPr algn="ctr"/>
            <a:r>
              <a:rPr sz="1500" b="0">
                <a:solidFill>
                  <a:srgbClr val="FFFFFF"/>
                </a:solidFill>
                <a:latin typeface="Arial" panose="020B0604020202020204"/>
              </a:rPr>
              <a:t>“Do you accept my HMO?”
“Do you have a cardiologist?”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881360" cy="502920"/>
          </a:xfrm>
          <a:prstGeom prst="rect">
            <a:avLst/>
          </a:prstGeom>
          <a:noFill/>
        </p:spPr>
        <p:txBody>
          <a:bodyPr wrap="square" anchor="ctr">
            <a:spAutoFit/>
          </a:bodyPr>
          <a:lstStyle/>
          <a:p>
            <a:pPr algn="l"/>
            <a:r>
              <a:rPr sz="2700" b="1">
                <a:solidFill>
                  <a:srgbClr val="004878"/>
                </a:solidFill>
                <a:latin typeface="Arial" panose="020B0604020202020204"/>
              </a:rPr>
              <a:t>FROM FACEBOOK TO A SEARCHABLE PATIENT RESOURCE</a:t>
            </a:r>
          </a:p>
        </p:txBody>
      </p:sp>
      <p:sp>
        <p:nvSpPr>
          <p:cNvPr id="4" name="TextBox 3"/>
          <p:cNvSpPr txBox="1"/>
          <p:nvPr/>
        </p:nvSpPr>
        <p:spPr>
          <a:xfrm>
            <a:off x="685800" y="1325880"/>
            <a:ext cx="2743200" cy="1097280"/>
          </a:xfrm>
          <a:prstGeom prst="rect">
            <a:avLst/>
          </a:prstGeom>
          <a:noFill/>
        </p:spPr>
        <p:txBody>
          <a:bodyPr wrap="square" anchor="ctr">
            <a:spAutoFit/>
          </a:bodyPr>
          <a:lstStyle/>
          <a:p>
            <a:pPr algn="l"/>
            <a:r>
              <a:rPr sz="1800" b="0">
                <a:solidFill>
                  <a:srgbClr val="133552"/>
                </a:solidFill>
                <a:latin typeface="Arial" panose="020B0604020202020204"/>
              </a:rPr>
              <a:t>Awareness today.
Searchable patient
information tomorrow.</a:t>
            </a:r>
          </a:p>
        </p:txBody>
      </p:sp>
      <p:pic>
        <p:nvPicPr>
          <p:cNvPr id="5" name="Picture 4" descr="183a37dc-52c5-41c8-b11f-c0ab4ae9b80a.jpg"/>
          <p:cNvPicPr>
            <a:picLocks noChangeAspect="1"/>
          </p:cNvPicPr>
          <p:nvPr/>
        </p:nvPicPr>
        <p:blipFill>
          <a:blip r:embed="rId3"/>
          <a:stretch>
            <a:fillRect/>
          </a:stretch>
        </p:blipFill>
        <p:spPr>
          <a:xfrm>
            <a:off x="3794760" y="1234440"/>
            <a:ext cx="2423160" cy="4434840"/>
          </a:xfrm>
          <a:prstGeom prst="rect">
            <a:avLst/>
          </a:prstGeom>
        </p:spPr>
      </p:pic>
      <p:sp>
        <p:nvSpPr>
          <p:cNvPr id="6" name="Rectangle 5"/>
          <p:cNvSpPr/>
          <p:nvPr/>
        </p:nvSpPr>
        <p:spPr>
          <a:xfrm>
            <a:off x="3794760" y="5230368"/>
            <a:ext cx="2423160" cy="438912"/>
          </a:xfrm>
          <a:prstGeom prst="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0" y="5303520"/>
            <a:ext cx="2331720" cy="228600"/>
          </a:xfrm>
          <a:prstGeom prst="rect">
            <a:avLst/>
          </a:prstGeom>
          <a:noFill/>
        </p:spPr>
        <p:txBody>
          <a:bodyPr wrap="square" anchor="ctr">
            <a:spAutoFit/>
          </a:bodyPr>
          <a:lstStyle/>
          <a:p>
            <a:pPr algn="ctr"/>
            <a:r>
              <a:rPr sz="1050" b="1">
                <a:solidFill>
                  <a:srgbClr val="FFFFFF"/>
                </a:solidFill>
                <a:latin typeface="Arial" panose="020B0604020202020204"/>
              </a:rPr>
              <a:t>CT SCAN</a:t>
            </a:r>
          </a:p>
        </p:txBody>
      </p:sp>
      <p:pic>
        <p:nvPicPr>
          <p:cNvPr id="8" name="Picture 7" descr="d1196b80-82bf-46b9-a94e-3e3a82692fef.jpg"/>
          <p:cNvPicPr>
            <a:picLocks noChangeAspect="1"/>
          </p:cNvPicPr>
          <p:nvPr/>
        </p:nvPicPr>
        <p:blipFill>
          <a:blip r:embed="rId4"/>
          <a:stretch>
            <a:fillRect/>
          </a:stretch>
        </p:blipFill>
        <p:spPr>
          <a:xfrm>
            <a:off x="6492240" y="1234440"/>
            <a:ext cx="2423160" cy="4434840"/>
          </a:xfrm>
          <a:prstGeom prst="rect">
            <a:avLst/>
          </a:prstGeom>
        </p:spPr>
      </p:pic>
      <p:sp>
        <p:nvSpPr>
          <p:cNvPr id="9" name="Rectangle 8"/>
          <p:cNvSpPr/>
          <p:nvPr/>
        </p:nvSpPr>
        <p:spPr>
          <a:xfrm>
            <a:off x="6492240" y="5230368"/>
            <a:ext cx="2423160" cy="438912"/>
          </a:xfrm>
          <a:prstGeom prst="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5303520"/>
            <a:ext cx="2331720" cy="228600"/>
          </a:xfrm>
          <a:prstGeom prst="rect">
            <a:avLst/>
          </a:prstGeom>
          <a:noFill/>
        </p:spPr>
        <p:txBody>
          <a:bodyPr wrap="square" anchor="ctr">
            <a:spAutoFit/>
          </a:bodyPr>
          <a:lstStyle/>
          <a:p>
            <a:pPr algn="ctr"/>
            <a:r>
              <a:rPr sz="1050" b="1">
                <a:solidFill>
                  <a:srgbClr val="FFFFFF"/>
                </a:solidFill>
                <a:latin typeface="Arial" panose="020B0604020202020204"/>
              </a:rPr>
              <a:t>SLEEP STUDY</a:t>
            </a:r>
          </a:p>
        </p:txBody>
      </p:sp>
      <p:pic>
        <p:nvPicPr>
          <p:cNvPr id="11" name="Picture 10" descr="0b022c5b-f02c-4570-a3f2-177299f176c7.jpg"/>
          <p:cNvPicPr>
            <a:picLocks noChangeAspect="1"/>
          </p:cNvPicPr>
          <p:nvPr/>
        </p:nvPicPr>
        <p:blipFill>
          <a:blip r:embed="rId5"/>
          <a:stretch>
            <a:fillRect/>
          </a:stretch>
        </p:blipFill>
        <p:spPr>
          <a:xfrm>
            <a:off x="9189720" y="1234440"/>
            <a:ext cx="2423160" cy="4434840"/>
          </a:xfrm>
          <a:prstGeom prst="rect">
            <a:avLst/>
          </a:prstGeom>
        </p:spPr>
      </p:pic>
      <p:sp>
        <p:nvSpPr>
          <p:cNvPr id="12" name="Rectangle 11"/>
          <p:cNvSpPr/>
          <p:nvPr/>
        </p:nvSpPr>
        <p:spPr>
          <a:xfrm>
            <a:off x="9189720" y="5230368"/>
            <a:ext cx="2423160" cy="438912"/>
          </a:xfrm>
          <a:prstGeom prst="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0" y="5303520"/>
            <a:ext cx="2331720" cy="228600"/>
          </a:xfrm>
          <a:prstGeom prst="rect">
            <a:avLst/>
          </a:prstGeom>
          <a:noFill/>
        </p:spPr>
        <p:txBody>
          <a:bodyPr wrap="square" anchor="ctr">
            <a:spAutoFit/>
          </a:bodyPr>
          <a:lstStyle/>
          <a:p>
            <a:pPr algn="ctr"/>
            <a:r>
              <a:rPr sz="1050" b="1">
                <a:solidFill>
                  <a:srgbClr val="FFFFFF"/>
                </a:solidFill>
                <a:latin typeface="Arial" panose="020B0604020202020204"/>
              </a:rPr>
              <a:t>LAPAROSCOPIC SURGERY</a:t>
            </a:r>
          </a:p>
        </p:txBody>
      </p:sp>
      <p:sp>
        <p:nvSpPr>
          <p:cNvPr id="14" name="TextBox 13"/>
          <p:cNvSpPr txBox="1"/>
          <p:nvPr/>
        </p:nvSpPr>
        <p:spPr>
          <a:xfrm>
            <a:off x="3794760" y="5897880"/>
            <a:ext cx="7818120" cy="347472"/>
          </a:xfrm>
          <a:prstGeom prst="rect">
            <a:avLst/>
          </a:prstGeom>
          <a:noFill/>
        </p:spPr>
        <p:txBody>
          <a:bodyPr wrap="square" anchor="ctr">
            <a:spAutoFit/>
          </a:bodyPr>
          <a:lstStyle/>
          <a:p>
            <a:pPr algn="ctr"/>
            <a:r>
              <a:rPr sz="1200" b="1">
                <a:solidFill>
                  <a:srgbClr val="506C80"/>
                </a:solidFill>
                <a:latin typeface="Arial" panose="020B0604020202020204"/>
              </a:rPr>
              <a:t>Actual UASHMC service posts become organized, searchable website content.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F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881360" cy="502920"/>
          </a:xfrm>
          <a:prstGeom prst="rect">
            <a:avLst/>
          </a:prstGeom>
          <a:noFill/>
        </p:spPr>
        <p:txBody>
          <a:bodyPr wrap="square" anchor="ctr">
            <a:spAutoFit/>
          </a:bodyPr>
          <a:lstStyle/>
          <a:p>
            <a:pPr algn="l"/>
            <a:r>
              <a:rPr sz="2700" b="1">
                <a:solidFill>
                  <a:srgbClr val="004878"/>
                </a:solidFill>
                <a:latin typeface="Arial" panose="020B0604020202020204"/>
              </a:rPr>
              <a:t>HOW WE GET FROM GO-AHEAD TO GO-LIVE</a:t>
            </a:r>
          </a:p>
        </p:txBody>
      </p:sp>
      <p:sp>
        <p:nvSpPr>
          <p:cNvPr id="4" name="Rounded Rectangle 3"/>
          <p:cNvSpPr/>
          <p:nvPr/>
        </p:nvSpPr>
        <p:spPr>
          <a:xfrm>
            <a:off x="868680" y="1600200"/>
            <a:ext cx="3154680" cy="3337560"/>
          </a:xfrm>
          <a:prstGeom prst="roundRect">
            <a:avLst/>
          </a:prstGeom>
          <a:solidFill>
            <a:srgbClr val="FFFFFF"/>
          </a:solidFill>
          <a:ln>
            <a:solidFill>
              <a:srgbClr val="CE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68680" y="1600200"/>
            <a:ext cx="3154680" cy="164592"/>
          </a:xfrm>
          <a:prstGeom prst="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 y="1993392"/>
            <a:ext cx="594360" cy="384048"/>
          </a:xfrm>
          <a:prstGeom prst="rect">
            <a:avLst/>
          </a:prstGeom>
          <a:noFill/>
        </p:spPr>
        <p:txBody>
          <a:bodyPr wrap="square" anchor="ctr">
            <a:spAutoFit/>
          </a:bodyPr>
          <a:lstStyle/>
          <a:p>
            <a:pPr algn="l"/>
            <a:r>
              <a:rPr sz="1500" b="1">
                <a:solidFill>
                  <a:srgbClr val="0EB5CA"/>
                </a:solidFill>
                <a:latin typeface="Arial" panose="020B0604020202020204"/>
              </a:rPr>
              <a:t>01</a:t>
            </a:r>
          </a:p>
        </p:txBody>
      </p:sp>
      <p:sp>
        <p:nvSpPr>
          <p:cNvPr id="7" name="TextBox 6"/>
          <p:cNvSpPr txBox="1"/>
          <p:nvPr/>
        </p:nvSpPr>
        <p:spPr>
          <a:xfrm>
            <a:off x="1143000" y="2514600"/>
            <a:ext cx="2606040" cy="438912"/>
          </a:xfrm>
          <a:prstGeom prst="rect">
            <a:avLst/>
          </a:prstGeom>
          <a:noFill/>
        </p:spPr>
        <p:txBody>
          <a:bodyPr wrap="square" anchor="ctr">
            <a:spAutoFit/>
          </a:bodyPr>
          <a:lstStyle/>
          <a:p>
            <a:pPr algn="l"/>
            <a:r>
              <a:rPr sz="2200" b="1">
                <a:solidFill>
                  <a:srgbClr val="004878"/>
                </a:solidFill>
                <a:latin typeface="Arial" panose="020B0604020202020204"/>
              </a:rPr>
              <a:t>ALIGN</a:t>
            </a:r>
          </a:p>
        </p:txBody>
      </p:sp>
      <p:sp>
        <p:nvSpPr>
          <p:cNvPr id="8" name="TextBox 7"/>
          <p:cNvSpPr txBox="1"/>
          <p:nvPr/>
        </p:nvSpPr>
        <p:spPr>
          <a:xfrm>
            <a:off x="1143000" y="3182112"/>
            <a:ext cx="2606040" cy="868680"/>
          </a:xfrm>
          <a:prstGeom prst="rect">
            <a:avLst/>
          </a:prstGeom>
          <a:noFill/>
        </p:spPr>
        <p:txBody>
          <a:bodyPr wrap="square" anchor="ctr">
            <a:spAutoFit/>
          </a:bodyPr>
          <a:lstStyle/>
          <a:p>
            <a:pPr algn="l"/>
            <a:r>
              <a:rPr sz="1600" b="0">
                <a:solidFill>
                  <a:srgbClr val="506C80"/>
                </a:solidFill>
                <a:latin typeface="Arial" panose="020B0604020202020204"/>
              </a:rPr>
              <a:t>Confirm scope
&amp; project owner</a:t>
            </a:r>
          </a:p>
        </p:txBody>
      </p:sp>
      <p:sp>
        <p:nvSpPr>
          <p:cNvPr id="9" name="TextBox 8"/>
          <p:cNvSpPr txBox="1"/>
          <p:nvPr/>
        </p:nvSpPr>
        <p:spPr>
          <a:xfrm>
            <a:off x="4069080" y="2743200"/>
            <a:ext cx="457200" cy="457200"/>
          </a:xfrm>
          <a:prstGeom prst="rect">
            <a:avLst/>
          </a:prstGeom>
          <a:noFill/>
        </p:spPr>
        <p:txBody>
          <a:bodyPr wrap="square" anchor="ctr">
            <a:spAutoFit/>
          </a:bodyPr>
          <a:lstStyle/>
          <a:p>
            <a:pPr algn="ctr"/>
            <a:r>
              <a:rPr sz="2400" b="1">
                <a:solidFill>
                  <a:srgbClr val="0EB5CA"/>
                </a:solidFill>
                <a:latin typeface="Arial" panose="020B0604020202020204"/>
              </a:rPr>
              <a:t>→</a:t>
            </a:r>
          </a:p>
        </p:txBody>
      </p:sp>
      <p:sp>
        <p:nvSpPr>
          <p:cNvPr id="10" name="Rounded Rectangle 9"/>
          <p:cNvSpPr/>
          <p:nvPr/>
        </p:nvSpPr>
        <p:spPr>
          <a:xfrm>
            <a:off x="4617720" y="1600200"/>
            <a:ext cx="3154680" cy="3337560"/>
          </a:xfrm>
          <a:prstGeom prst="roundRect">
            <a:avLst/>
          </a:prstGeom>
          <a:solidFill>
            <a:srgbClr val="FFFFFF"/>
          </a:solidFill>
          <a:ln>
            <a:solidFill>
              <a:srgbClr val="CE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617720" y="1600200"/>
            <a:ext cx="3154680" cy="164592"/>
          </a:xfrm>
          <a:prstGeom prst="rect">
            <a:avLst/>
          </a:prstGeom>
          <a:solidFill>
            <a:srgbClr val="0EB5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2040" y="1993392"/>
            <a:ext cx="594360" cy="384048"/>
          </a:xfrm>
          <a:prstGeom prst="rect">
            <a:avLst/>
          </a:prstGeom>
          <a:noFill/>
        </p:spPr>
        <p:txBody>
          <a:bodyPr wrap="square" anchor="ctr">
            <a:spAutoFit/>
          </a:bodyPr>
          <a:lstStyle/>
          <a:p>
            <a:pPr algn="l"/>
            <a:r>
              <a:rPr sz="1500" b="1">
                <a:solidFill>
                  <a:srgbClr val="0EB5CA"/>
                </a:solidFill>
                <a:latin typeface="Arial" panose="020B0604020202020204"/>
              </a:rPr>
              <a:t>02</a:t>
            </a:r>
          </a:p>
        </p:txBody>
      </p:sp>
      <p:sp>
        <p:nvSpPr>
          <p:cNvPr id="13" name="TextBox 12"/>
          <p:cNvSpPr txBox="1"/>
          <p:nvPr/>
        </p:nvSpPr>
        <p:spPr>
          <a:xfrm>
            <a:off x="4892040" y="2514600"/>
            <a:ext cx="2606040" cy="438912"/>
          </a:xfrm>
          <a:prstGeom prst="rect">
            <a:avLst/>
          </a:prstGeom>
          <a:noFill/>
        </p:spPr>
        <p:txBody>
          <a:bodyPr wrap="square" anchor="ctr">
            <a:spAutoFit/>
          </a:bodyPr>
          <a:lstStyle/>
          <a:p>
            <a:pPr algn="l"/>
            <a:r>
              <a:rPr sz="2200" b="1">
                <a:solidFill>
                  <a:srgbClr val="004878"/>
                </a:solidFill>
                <a:latin typeface="Arial" panose="020B0604020202020204"/>
              </a:rPr>
              <a:t>BUILD</a:t>
            </a:r>
          </a:p>
        </p:txBody>
      </p:sp>
      <p:sp>
        <p:nvSpPr>
          <p:cNvPr id="14" name="TextBox 13"/>
          <p:cNvSpPr txBox="1"/>
          <p:nvPr/>
        </p:nvSpPr>
        <p:spPr>
          <a:xfrm>
            <a:off x="4892040" y="3182112"/>
            <a:ext cx="2606040" cy="868680"/>
          </a:xfrm>
          <a:prstGeom prst="rect">
            <a:avLst/>
          </a:prstGeom>
          <a:noFill/>
        </p:spPr>
        <p:txBody>
          <a:bodyPr wrap="square" anchor="ctr">
            <a:spAutoFit/>
          </a:bodyPr>
          <a:lstStyle/>
          <a:p>
            <a:pPr algn="l"/>
            <a:r>
              <a:rPr sz="1600" b="0">
                <a:solidFill>
                  <a:srgbClr val="506C80"/>
                </a:solidFill>
                <a:latin typeface="Arial" panose="020B0604020202020204"/>
              </a:rPr>
              <a:t>Gather content
&amp; develop</a:t>
            </a:r>
          </a:p>
        </p:txBody>
      </p:sp>
      <p:sp>
        <p:nvSpPr>
          <p:cNvPr id="15" name="TextBox 14"/>
          <p:cNvSpPr txBox="1"/>
          <p:nvPr/>
        </p:nvSpPr>
        <p:spPr>
          <a:xfrm>
            <a:off x="7818120" y="2743200"/>
            <a:ext cx="457200" cy="457200"/>
          </a:xfrm>
          <a:prstGeom prst="rect">
            <a:avLst/>
          </a:prstGeom>
          <a:noFill/>
        </p:spPr>
        <p:txBody>
          <a:bodyPr wrap="square" anchor="ctr">
            <a:spAutoFit/>
          </a:bodyPr>
          <a:lstStyle/>
          <a:p>
            <a:pPr algn="ctr"/>
            <a:r>
              <a:rPr sz="2400" b="1">
                <a:solidFill>
                  <a:srgbClr val="0EB5CA"/>
                </a:solidFill>
                <a:latin typeface="Arial" panose="020B0604020202020204"/>
              </a:rPr>
              <a:t>→</a:t>
            </a:r>
          </a:p>
        </p:txBody>
      </p:sp>
      <p:sp>
        <p:nvSpPr>
          <p:cNvPr id="16" name="Rounded Rectangle 15"/>
          <p:cNvSpPr/>
          <p:nvPr/>
        </p:nvSpPr>
        <p:spPr>
          <a:xfrm>
            <a:off x="8366759" y="1600200"/>
            <a:ext cx="3154680" cy="3337560"/>
          </a:xfrm>
          <a:prstGeom prst="roundRect">
            <a:avLst/>
          </a:prstGeom>
          <a:solidFill>
            <a:srgbClr val="FFFFFF"/>
          </a:solidFill>
          <a:ln>
            <a:solidFill>
              <a:srgbClr val="CE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66759" y="1600200"/>
            <a:ext cx="3154680" cy="164592"/>
          </a:xfrm>
          <a:prstGeom prst="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41080" y="1993392"/>
            <a:ext cx="594360" cy="384048"/>
          </a:xfrm>
          <a:prstGeom prst="rect">
            <a:avLst/>
          </a:prstGeom>
          <a:noFill/>
        </p:spPr>
        <p:txBody>
          <a:bodyPr wrap="square" anchor="ctr">
            <a:spAutoFit/>
          </a:bodyPr>
          <a:lstStyle/>
          <a:p>
            <a:pPr algn="l"/>
            <a:r>
              <a:rPr sz="1500" b="1">
                <a:solidFill>
                  <a:srgbClr val="0EB5CA"/>
                </a:solidFill>
                <a:latin typeface="Arial" panose="020B0604020202020204"/>
              </a:rPr>
              <a:t>03</a:t>
            </a:r>
          </a:p>
        </p:txBody>
      </p:sp>
      <p:sp>
        <p:nvSpPr>
          <p:cNvPr id="19" name="TextBox 18"/>
          <p:cNvSpPr txBox="1"/>
          <p:nvPr/>
        </p:nvSpPr>
        <p:spPr>
          <a:xfrm>
            <a:off x="8641080" y="2514600"/>
            <a:ext cx="2606040" cy="438912"/>
          </a:xfrm>
          <a:prstGeom prst="rect">
            <a:avLst/>
          </a:prstGeom>
          <a:noFill/>
        </p:spPr>
        <p:txBody>
          <a:bodyPr wrap="square" anchor="ctr">
            <a:spAutoFit/>
          </a:bodyPr>
          <a:lstStyle/>
          <a:p>
            <a:pPr algn="l"/>
            <a:r>
              <a:rPr sz="2200" b="1">
                <a:solidFill>
                  <a:srgbClr val="004878"/>
                </a:solidFill>
                <a:latin typeface="Arial" panose="020B0604020202020204"/>
              </a:rPr>
              <a:t>LAUNCH</a:t>
            </a:r>
          </a:p>
        </p:txBody>
      </p:sp>
      <p:sp>
        <p:nvSpPr>
          <p:cNvPr id="20" name="TextBox 19"/>
          <p:cNvSpPr txBox="1"/>
          <p:nvPr/>
        </p:nvSpPr>
        <p:spPr>
          <a:xfrm>
            <a:off x="8641080" y="3182112"/>
            <a:ext cx="2606040" cy="868680"/>
          </a:xfrm>
          <a:prstGeom prst="rect">
            <a:avLst/>
          </a:prstGeom>
          <a:noFill/>
        </p:spPr>
        <p:txBody>
          <a:bodyPr wrap="square" anchor="ctr">
            <a:spAutoFit/>
          </a:bodyPr>
          <a:lstStyle/>
          <a:p>
            <a:pPr algn="l"/>
            <a:r>
              <a:rPr sz="1600" b="0">
                <a:solidFill>
                  <a:srgbClr val="506C80"/>
                </a:solidFill>
                <a:latin typeface="Arial" panose="020B0604020202020204"/>
              </a:rPr>
              <a:t>Test, refine
&amp; go live</a:t>
            </a:r>
          </a:p>
        </p:txBody>
      </p:sp>
      <p:sp>
        <p:nvSpPr>
          <p:cNvPr id="21" name="Rounded Rectangle 20"/>
          <p:cNvSpPr/>
          <p:nvPr/>
        </p:nvSpPr>
        <p:spPr>
          <a:xfrm>
            <a:off x="2926080" y="5394960"/>
            <a:ext cx="6309360" cy="713232"/>
          </a:xfrm>
          <a:prstGeom prst="round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08960" y="5559552"/>
            <a:ext cx="5943600" cy="310896"/>
          </a:xfrm>
          <a:prstGeom prst="rect">
            <a:avLst/>
          </a:prstGeom>
          <a:noFill/>
        </p:spPr>
        <p:txBody>
          <a:bodyPr wrap="square" anchor="ctr">
            <a:spAutoFit/>
          </a:bodyPr>
          <a:lstStyle/>
          <a:p>
            <a:pPr algn="ctr"/>
            <a:r>
              <a:rPr sz="1400" b="1">
                <a:solidFill>
                  <a:srgbClr val="FFFFFF"/>
                </a:solidFill>
                <a:latin typeface="Arial" panose="020B0604020202020204"/>
              </a:rPr>
              <a:t>We work with the UASHMC team at every step.</a:t>
            </a:r>
          </a:p>
        </p:txBody>
      </p:sp>
      <p:pic>
        <p:nvPicPr>
          <p:cNvPr id="24" name="Picture 23">
            <a:extLst>
              <a:ext uri="{FF2B5EF4-FFF2-40B4-BE49-F238E27FC236}">
                <a16:creationId xmlns:a16="http://schemas.microsoft.com/office/drawing/2014/main" id="{AA5F5F33-1E7B-F1C8-747D-324A3CD69B72}"/>
              </a:ext>
            </a:extLst>
          </p:cNvPr>
          <p:cNvPicPr>
            <a:picLocks noChangeAspect="1"/>
          </p:cNvPicPr>
          <p:nvPr/>
        </p:nvPicPr>
        <p:blipFill>
          <a:blip r:embed="rId3"/>
          <a:stretch>
            <a:fillRect/>
          </a:stretch>
        </p:blipFill>
        <p:spPr>
          <a:xfrm>
            <a:off x="-1" y="0"/>
            <a:ext cx="12191695" cy="68604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881360" cy="502920"/>
          </a:xfrm>
          <a:prstGeom prst="rect">
            <a:avLst/>
          </a:prstGeom>
          <a:noFill/>
        </p:spPr>
        <p:txBody>
          <a:bodyPr wrap="square" anchor="ctr">
            <a:spAutoFit/>
          </a:bodyPr>
          <a:lstStyle/>
          <a:p>
            <a:pPr algn="l"/>
            <a:r>
              <a:rPr sz="2700" b="1">
                <a:solidFill>
                  <a:srgbClr val="004878"/>
                </a:solidFill>
                <a:latin typeface="Arial" panose="020B0604020202020204"/>
              </a:rPr>
              <a:t>INVESTMENT OPTIONS</a:t>
            </a:r>
          </a:p>
        </p:txBody>
      </p:sp>
      <p:sp>
        <p:nvSpPr>
          <p:cNvPr id="4" name="Rounded Rectangle 3"/>
          <p:cNvSpPr/>
          <p:nvPr/>
        </p:nvSpPr>
        <p:spPr>
          <a:xfrm>
            <a:off x="658368" y="1325880"/>
            <a:ext cx="3456432" cy="4389120"/>
          </a:xfrm>
          <a:prstGeom prst="round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161288" y="1572768"/>
            <a:ext cx="2450592" cy="384048"/>
          </a:xfrm>
          <a:prstGeom prst="roundRect">
            <a:avLst/>
          </a:prstGeom>
          <a:solidFill>
            <a:srgbClr val="0EB5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61288" y="1572768"/>
            <a:ext cx="2450592" cy="384048"/>
          </a:xfrm>
          <a:prstGeom prst="rect">
            <a:avLst/>
          </a:prstGeom>
          <a:noFill/>
        </p:spPr>
        <p:txBody>
          <a:bodyPr wrap="square" anchor="ctr">
            <a:spAutoFit/>
          </a:bodyPr>
          <a:lstStyle/>
          <a:p>
            <a:pPr algn="ctr"/>
            <a:r>
              <a:rPr sz="1000" b="1">
                <a:solidFill>
                  <a:srgbClr val="FFFFFF"/>
                </a:solidFill>
                <a:latin typeface="Arial" panose="020B0604020202020204"/>
              </a:rPr>
              <a:t>RECOMMENDED</a:t>
            </a:r>
          </a:p>
        </p:txBody>
      </p:sp>
      <p:sp>
        <p:nvSpPr>
          <p:cNvPr id="7" name="TextBox 6"/>
          <p:cNvSpPr txBox="1"/>
          <p:nvPr/>
        </p:nvSpPr>
        <p:spPr>
          <a:xfrm>
            <a:off x="914400" y="2148840"/>
            <a:ext cx="2944368" cy="640080"/>
          </a:xfrm>
          <a:prstGeom prst="rect">
            <a:avLst/>
          </a:prstGeom>
          <a:noFill/>
        </p:spPr>
        <p:txBody>
          <a:bodyPr wrap="square" anchor="ctr">
            <a:spAutoFit/>
          </a:bodyPr>
          <a:lstStyle/>
          <a:p>
            <a:pPr algn="ctr"/>
            <a:r>
              <a:rPr sz="1800" b="1">
                <a:solidFill>
                  <a:srgbClr val="FFFFFF"/>
                </a:solidFill>
                <a:latin typeface="Arial" panose="020B0604020202020204"/>
              </a:rPr>
              <a:t>WEBSITE + KRISS AI</a:t>
            </a:r>
          </a:p>
        </p:txBody>
      </p:sp>
      <p:sp>
        <p:nvSpPr>
          <p:cNvPr id="8" name="TextBox 7"/>
          <p:cNvSpPr txBox="1"/>
          <p:nvPr/>
        </p:nvSpPr>
        <p:spPr>
          <a:xfrm>
            <a:off x="914400" y="3063240"/>
            <a:ext cx="2944368" cy="530352"/>
          </a:xfrm>
          <a:prstGeom prst="rect">
            <a:avLst/>
          </a:prstGeom>
          <a:noFill/>
        </p:spPr>
        <p:txBody>
          <a:bodyPr wrap="square" anchor="ctr">
            <a:spAutoFit/>
          </a:bodyPr>
          <a:lstStyle/>
          <a:p>
            <a:pPr algn="ctr"/>
            <a:r>
              <a:rPr sz="2800" b="1">
                <a:solidFill>
                  <a:srgbClr val="FFFFFF"/>
                </a:solidFill>
                <a:latin typeface="Arial" panose="020B0604020202020204"/>
              </a:rPr>
              <a:t>$1,500</a:t>
            </a:r>
          </a:p>
        </p:txBody>
      </p:sp>
      <p:sp>
        <p:nvSpPr>
          <p:cNvPr id="9" name="TextBox 8"/>
          <p:cNvSpPr txBox="1"/>
          <p:nvPr/>
        </p:nvSpPr>
        <p:spPr>
          <a:xfrm>
            <a:off x="914400" y="3593592"/>
            <a:ext cx="2944368" cy="274320"/>
          </a:xfrm>
          <a:prstGeom prst="rect">
            <a:avLst/>
          </a:prstGeom>
          <a:noFill/>
        </p:spPr>
        <p:txBody>
          <a:bodyPr wrap="square" anchor="ctr">
            <a:spAutoFit/>
          </a:bodyPr>
          <a:lstStyle/>
          <a:p>
            <a:pPr algn="ctr"/>
            <a:r>
              <a:rPr sz="1000" b="1">
                <a:solidFill>
                  <a:srgbClr val="FFFFFF"/>
                </a:solidFill>
                <a:latin typeface="Arial" panose="020B0604020202020204"/>
              </a:rPr>
              <a:t>SETUP PROMO</a:t>
            </a:r>
          </a:p>
        </p:txBody>
      </p:sp>
      <p:sp>
        <p:nvSpPr>
          <p:cNvPr id="10" name="TextBox 9"/>
          <p:cNvSpPr txBox="1"/>
          <p:nvPr/>
        </p:nvSpPr>
        <p:spPr>
          <a:xfrm>
            <a:off x="914400" y="4343400"/>
            <a:ext cx="2944368" cy="384048"/>
          </a:xfrm>
          <a:prstGeom prst="rect">
            <a:avLst/>
          </a:prstGeom>
          <a:noFill/>
        </p:spPr>
        <p:txBody>
          <a:bodyPr wrap="square" anchor="ctr">
            <a:spAutoFit/>
          </a:bodyPr>
          <a:lstStyle/>
          <a:p>
            <a:pPr algn="ctr"/>
            <a:r>
              <a:rPr sz="1800" b="1">
                <a:solidFill>
                  <a:srgbClr val="FFFFFF"/>
                </a:solidFill>
                <a:latin typeface="Arial" panose="020B0604020202020204"/>
              </a:rPr>
              <a:t>$250 / month</a:t>
            </a:r>
          </a:p>
        </p:txBody>
      </p:sp>
      <p:sp>
        <p:nvSpPr>
          <p:cNvPr id="11" name="TextBox 10"/>
          <p:cNvSpPr txBox="1"/>
          <p:nvPr/>
        </p:nvSpPr>
        <p:spPr>
          <a:xfrm>
            <a:off x="914400" y="4956048"/>
            <a:ext cx="2944368" cy="365760"/>
          </a:xfrm>
          <a:prstGeom prst="rect">
            <a:avLst/>
          </a:prstGeom>
          <a:noFill/>
        </p:spPr>
        <p:txBody>
          <a:bodyPr wrap="square" anchor="ctr">
            <a:spAutoFit/>
          </a:bodyPr>
          <a:lstStyle/>
          <a:p>
            <a:pPr algn="ctr"/>
            <a:r>
              <a:rPr sz="1000" b="1">
                <a:solidFill>
                  <a:srgbClr val="0EB5CA"/>
                </a:solidFill>
                <a:latin typeface="Arial" panose="020B0604020202020204"/>
              </a:rPr>
              <a:t>Promo until Nov. 30, 2026</a:t>
            </a:r>
          </a:p>
        </p:txBody>
      </p:sp>
      <p:sp>
        <p:nvSpPr>
          <p:cNvPr id="12" name="Rounded Rectangle 11"/>
          <p:cNvSpPr/>
          <p:nvPr/>
        </p:nvSpPr>
        <p:spPr>
          <a:xfrm>
            <a:off x="4480559" y="1325880"/>
            <a:ext cx="3456432" cy="4389120"/>
          </a:xfrm>
          <a:prstGeom prst="roundRect">
            <a:avLst/>
          </a:prstGeom>
          <a:solidFill>
            <a:srgbClr val="EAF6F9"/>
          </a:solidFill>
          <a:ln>
            <a:solidFill>
              <a:srgbClr val="CD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36592" y="2148840"/>
            <a:ext cx="2944368" cy="640080"/>
          </a:xfrm>
          <a:prstGeom prst="rect">
            <a:avLst/>
          </a:prstGeom>
          <a:noFill/>
        </p:spPr>
        <p:txBody>
          <a:bodyPr wrap="square" anchor="ctr">
            <a:spAutoFit/>
          </a:bodyPr>
          <a:lstStyle/>
          <a:p>
            <a:pPr algn="ctr"/>
            <a:r>
              <a:rPr sz="1800" b="1">
                <a:solidFill>
                  <a:srgbClr val="004878"/>
                </a:solidFill>
                <a:latin typeface="Arial" panose="020B0604020202020204"/>
              </a:rPr>
              <a:t>WEBSITE</a:t>
            </a:r>
          </a:p>
        </p:txBody>
      </p:sp>
      <p:sp>
        <p:nvSpPr>
          <p:cNvPr id="14" name="TextBox 13"/>
          <p:cNvSpPr txBox="1"/>
          <p:nvPr/>
        </p:nvSpPr>
        <p:spPr>
          <a:xfrm>
            <a:off x="4736592" y="3063240"/>
            <a:ext cx="2944368" cy="530352"/>
          </a:xfrm>
          <a:prstGeom prst="rect">
            <a:avLst/>
          </a:prstGeom>
          <a:noFill/>
        </p:spPr>
        <p:txBody>
          <a:bodyPr wrap="square" anchor="ctr">
            <a:spAutoFit/>
          </a:bodyPr>
          <a:lstStyle/>
          <a:p>
            <a:pPr algn="ctr"/>
            <a:r>
              <a:rPr sz="2800" b="1">
                <a:solidFill>
                  <a:srgbClr val="004878"/>
                </a:solidFill>
                <a:latin typeface="Arial" panose="020B0604020202020204"/>
              </a:rPr>
              <a:t>$1,000</a:t>
            </a:r>
          </a:p>
        </p:txBody>
      </p:sp>
      <p:sp>
        <p:nvSpPr>
          <p:cNvPr id="15" name="TextBox 14"/>
          <p:cNvSpPr txBox="1"/>
          <p:nvPr/>
        </p:nvSpPr>
        <p:spPr>
          <a:xfrm>
            <a:off x="4736592" y="3593592"/>
            <a:ext cx="2944368" cy="274320"/>
          </a:xfrm>
          <a:prstGeom prst="rect">
            <a:avLst/>
          </a:prstGeom>
          <a:noFill/>
        </p:spPr>
        <p:txBody>
          <a:bodyPr wrap="square" anchor="ctr">
            <a:spAutoFit/>
          </a:bodyPr>
          <a:lstStyle/>
          <a:p>
            <a:pPr algn="ctr"/>
            <a:r>
              <a:rPr sz="1000" b="1">
                <a:solidFill>
                  <a:srgbClr val="506C80"/>
                </a:solidFill>
                <a:latin typeface="Arial" panose="020B0604020202020204"/>
              </a:rPr>
              <a:t>SETUP</a:t>
            </a:r>
          </a:p>
        </p:txBody>
      </p:sp>
      <p:sp>
        <p:nvSpPr>
          <p:cNvPr id="16" name="TextBox 15"/>
          <p:cNvSpPr txBox="1"/>
          <p:nvPr/>
        </p:nvSpPr>
        <p:spPr>
          <a:xfrm>
            <a:off x="4736592" y="4343400"/>
            <a:ext cx="2944368" cy="384048"/>
          </a:xfrm>
          <a:prstGeom prst="rect">
            <a:avLst/>
          </a:prstGeom>
          <a:noFill/>
        </p:spPr>
        <p:txBody>
          <a:bodyPr wrap="square" anchor="ctr">
            <a:spAutoFit/>
          </a:bodyPr>
          <a:lstStyle/>
          <a:p>
            <a:pPr algn="ctr"/>
            <a:r>
              <a:rPr sz="1800" b="1">
                <a:solidFill>
                  <a:srgbClr val="0EB5CA"/>
                </a:solidFill>
                <a:latin typeface="Arial" panose="020B0604020202020204"/>
              </a:rPr>
              <a:t>$150 / month</a:t>
            </a:r>
          </a:p>
        </p:txBody>
      </p:sp>
      <p:sp>
        <p:nvSpPr>
          <p:cNvPr id="17" name="Rounded Rectangle 16"/>
          <p:cNvSpPr/>
          <p:nvPr/>
        </p:nvSpPr>
        <p:spPr>
          <a:xfrm>
            <a:off x="8302752" y="1325880"/>
            <a:ext cx="3456432" cy="4389120"/>
          </a:xfrm>
          <a:prstGeom prst="roundRect">
            <a:avLst/>
          </a:prstGeom>
          <a:solidFill>
            <a:srgbClr val="EAF6F9"/>
          </a:solidFill>
          <a:ln>
            <a:solidFill>
              <a:srgbClr val="CD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58784" y="2148840"/>
            <a:ext cx="2944368" cy="640080"/>
          </a:xfrm>
          <a:prstGeom prst="rect">
            <a:avLst/>
          </a:prstGeom>
          <a:noFill/>
        </p:spPr>
        <p:txBody>
          <a:bodyPr wrap="square" anchor="ctr">
            <a:spAutoFit/>
          </a:bodyPr>
          <a:lstStyle/>
          <a:p>
            <a:pPr algn="ctr"/>
            <a:r>
              <a:rPr sz="1800" b="1">
                <a:solidFill>
                  <a:srgbClr val="004878"/>
                </a:solidFill>
                <a:latin typeface="Arial" panose="020B0604020202020204"/>
              </a:rPr>
              <a:t>KRISS AI</a:t>
            </a:r>
          </a:p>
        </p:txBody>
      </p:sp>
      <p:sp>
        <p:nvSpPr>
          <p:cNvPr id="19" name="TextBox 18"/>
          <p:cNvSpPr txBox="1"/>
          <p:nvPr/>
        </p:nvSpPr>
        <p:spPr>
          <a:xfrm>
            <a:off x="8558784" y="3063240"/>
            <a:ext cx="2944368" cy="530352"/>
          </a:xfrm>
          <a:prstGeom prst="rect">
            <a:avLst/>
          </a:prstGeom>
          <a:noFill/>
        </p:spPr>
        <p:txBody>
          <a:bodyPr wrap="square" anchor="ctr">
            <a:spAutoFit/>
          </a:bodyPr>
          <a:lstStyle/>
          <a:p>
            <a:pPr algn="ctr"/>
            <a:r>
              <a:rPr sz="2800" b="1">
                <a:solidFill>
                  <a:srgbClr val="004878"/>
                </a:solidFill>
                <a:latin typeface="Arial" panose="020B0604020202020204"/>
              </a:rPr>
              <a:t>$1,000</a:t>
            </a:r>
          </a:p>
        </p:txBody>
      </p:sp>
      <p:sp>
        <p:nvSpPr>
          <p:cNvPr id="20" name="TextBox 19"/>
          <p:cNvSpPr txBox="1"/>
          <p:nvPr/>
        </p:nvSpPr>
        <p:spPr>
          <a:xfrm>
            <a:off x="8558784" y="3593592"/>
            <a:ext cx="2944368" cy="274320"/>
          </a:xfrm>
          <a:prstGeom prst="rect">
            <a:avLst/>
          </a:prstGeom>
          <a:noFill/>
        </p:spPr>
        <p:txBody>
          <a:bodyPr wrap="square" anchor="ctr">
            <a:spAutoFit/>
          </a:bodyPr>
          <a:lstStyle/>
          <a:p>
            <a:pPr algn="ctr"/>
            <a:r>
              <a:rPr sz="1000" b="1">
                <a:solidFill>
                  <a:srgbClr val="506C80"/>
                </a:solidFill>
                <a:latin typeface="Arial" panose="020B0604020202020204"/>
              </a:rPr>
              <a:t>SETUP</a:t>
            </a:r>
          </a:p>
        </p:txBody>
      </p:sp>
      <p:sp>
        <p:nvSpPr>
          <p:cNvPr id="21" name="TextBox 20"/>
          <p:cNvSpPr txBox="1"/>
          <p:nvPr/>
        </p:nvSpPr>
        <p:spPr>
          <a:xfrm>
            <a:off x="8558784" y="4343400"/>
            <a:ext cx="2944368" cy="384048"/>
          </a:xfrm>
          <a:prstGeom prst="rect">
            <a:avLst/>
          </a:prstGeom>
          <a:noFill/>
        </p:spPr>
        <p:txBody>
          <a:bodyPr wrap="square" anchor="ctr">
            <a:spAutoFit/>
          </a:bodyPr>
          <a:lstStyle/>
          <a:p>
            <a:pPr algn="ctr"/>
            <a:r>
              <a:rPr sz="1800" b="1">
                <a:solidFill>
                  <a:srgbClr val="0EB5CA"/>
                </a:solidFill>
                <a:latin typeface="Arial" panose="020B0604020202020204"/>
              </a:rPr>
              <a:t>$199 / month</a:t>
            </a:r>
          </a:p>
        </p:txBody>
      </p:sp>
      <p:sp>
        <p:nvSpPr>
          <p:cNvPr id="22" name="Rectangle 21"/>
          <p:cNvSpPr/>
          <p:nvPr/>
        </p:nvSpPr>
        <p:spPr>
          <a:xfrm>
            <a:off x="0" y="6245352"/>
            <a:ext cx="12191695" cy="612648"/>
          </a:xfrm>
          <a:prstGeom prst="rect">
            <a:avLst/>
          </a:prstGeom>
          <a:solidFill>
            <a:srgbClr val="0EB5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400800"/>
            <a:ext cx="10927080" cy="219456"/>
          </a:xfrm>
          <a:prstGeom prst="rect">
            <a:avLst/>
          </a:prstGeom>
          <a:noFill/>
        </p:spPr>
        <p:txBody>
          <a:bodyPr wrap="square" anchor="ctr">
            <a:spAutoFit/>
          </a:bodyPr>
          <a:lstStyle/>
          <a:p>
            <a:pPr algn="ctr"/>
            <a:r>
              <a:rPr sz="1050" b="1">
                <a:solidFill>
                  <a:srgbClr val="FFFFFF"/>
                </a:solidFill>
                <a:latin typeface="Arial" panose="020B0604020202020204"/>
              </a:rPr>
              <a:t>20% discount on recurring fees when paid annually upfront.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658368" y="384048"/>
            <a:ext cx="4114800" cy="1074360"/>
          </a:xfrm>
          <a:prstGeom prst="rect">
            <a:avLst/>
          </a:prstGeom>
        </p:spPr>
      </p:pic>
      <p:sp>
        <p:nvSpPr>
          <p:cNvPr id="4" name="TextBox 3"/>
          <p:cNvSpPr txBox="1"/>
          <p:nvPr/>
        </p:nvSpPr>
        <p:spPr>
          <a:xfrm>
            <a:off x="658368" y="1417320"/>
            <a:ext cx="4251960" cy="475488"/>
          </a:xfrm>
          <a:prstGeom prst="rect">
            <a:avLst/>
          </a:prstGeom>
          <a:noFill/>
        </p:spPr>
        <p:txBody>
          <a:bodyPr wrap="square" anchor="ctr">
            <a:spAutoFit/>
          </a:bodyPr>
          <a:lstStyle/>
          <a:p>
            <a:pPr algn="l"/>
            <a:r>
              <a:rPr sz="2000" b="1">
                <a:solidFill>
                  <a:srgbClr val="004878"/>
                </a:solidFill>
                <a:latin typeface="Arial" panose="020B0604020202020204"/>
              </a:rPr>
              <a:t>EXCELLENCE IN EVERY LIFE WE TOUCH.</a:t>
            </a:r>
          </a:p>
        </p:txBody>
      </p:sp>
      <p:sp>
        <p:nvSpPr>
          <p:cNvPr id="5" name="TextBox 4"/>
          <p:cNvSpPr txBox="1"/>
          <p:nvPr/>
        </p:nvSpPr>
        <p:spPr>
          <a:xfrm>
            <a:off x="658367" y="2068770"/>
            <a:ext cx="10123363" cy="800219"/>
          </a:xfrm>
          <a:prstGeom prst="rect">
            <a:avLst/>
          </a:prstGeom>
          <a:noFill/>
        </p:spPr>
        <p:txBody>
          <a:bodyPr wrap="square" anchor="ctr">
            <a:spAutoFit/>
          </a:bodyPr>
          <a:lstStyle/>
          <a:p>
            <a:pPr algn="l"/>
            <a:r>
              <a:rPr sz="2300" b="1" dirty="0">
                <a:solidFill>
                  <a:srgbClr val="0EB5CA"/>
                </a:solidFill>
                <a:latin typeface="Arial" panose="020B0604020202020204"/>
              </a:rPr>
              <a:t>Now extending to every
digital patient touchpoint.</a:t>
            </a:r>
          </a:p>
        </p:txBody>
      </p:sp>
      <p:sp>
        <p:nvSpPr>
          <p:cNvPr id="6" name="TextBox 5"/>
          <p:cNvSpPr txBox="1"/>
          <p:nvPr/>
        </p:nvSpPr>
        <p:spPr>
          <a:xfrm>
            <a:off x="658368" y="3703320"/>
            <a:ext cx="4297680" cy="365760"/>
          </a:xfrm>
          <a:prstGeom prst="rect">
            <a:avLst/>
          </a:prstGeom>
          <a:noFill/>
        </p:spPr>
        <p:txBody>
          <a:bodyPr wrap="square" anchor="ctr">
            <a:spAutoFit/>
          </a:bodyPr>
          <a:lstStyle/>
          <a:p>
            <a:pPr algn="l"/>
            <a:r>
              <a:rPr sz="1600" b="1">
                <a:solidFill>
                  <a:srgbClr val="004878"/>
                </a:solidFill>
                <a:latin typeface="Arial" panose="020B0604020202020204"/>
              </a:rPr>
              <a:t>Website + KRISS AI</a:t>
            </a:r>
          </a:p>
        </p:txBody>
      </p:sp>
      <p:sp>
        <p:nvSpPr>
          <p:cNvPr id="7" name="Rounded Rectangle 6"/>
          <p:cNvSpPr/>
          <p:nvPr/>
        </p:nvSpPr>
        <p:spPr>
          <a:xfrm>
            <a:off x="658368" y="4983480"/>
            <a:ext cx="4297680" cy="731520"/>
          </a:xfrm>
          <a:prstGeom prst="roundRect">
            <a:avLst/>
          </a:prstGeom>
          <a:solidFill>
            <a:srgbClr val="004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 y="5148072"/>
            <a:ext cx="3931920" cy="365760"/>
          </a:xfrm>
          <a:prstGeom prst="rect">
            <a:avLst/>
          </a:prstGeom>
          <a:noFill/>
        </p:spPr>
        <p:txBody>
          <a:bodyPr wrap="square" anchor="ctr">
            <a:spAutoFit/>
          </a:bodyPr>
          <a:lstStyle/>
          <a:p>
            <a:pPr algn="ctr"/>
            <a:r>
              <a:rPr sz="1100" b="1">
                <a:solidFill>
                  <a:srgbClr val="FFFFFF"/>
                </a:solidFill>
                <a:latin typeface="Arial" panose="020B0604020202020204"/>
              </a:rPr>
              <a:t>Better experience. Stronger connections. Better care.</a:t>
            </a:r>
          </a:p>
        </p:txBody>
      </p:sp>
      <p:pic>
        <p:nvPicPr>
          <p:cNvPr id="14" name="Picture 13">
            <a:extLst>
              <a:ext uri="{FF2B5EF4-FFF2-40B4-BE49-F238E27FC236}">
                <a16:creationId xmlns:a16="http://schemas.microsoft.com/office/drawing/2014/main" id="{1B107DCE-A2EB-3D97-1C65-525F8E7B38BA}"/>
              </a:ext>
            </a:extLst>
          </p:cNvPr>
          <p:cNvPicPr>
            <a:picLocks noChangeAspect="1"/>
          </p:cNvPicPr>
          <p:nvPr/>
        </p:nvPicPr>
        <p:blipFill>
          <a:blip r:embed="rId4"/>
          <a:stretch>
            <a:fillRect/>
          </a:stretch>
        </p:blipFill>
        <p:spPr>
          <a:xfrm>
            <a:off x="3239" y="0"/>
            <a:ext cx="12185522"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2678</Words>
  <Application>Microsoft Office PowerPoint</Application>
  <PresentationFormat>Widescreen</PresentationFormat>
  <Paragraphs>261</Paragraphs>
  <Slides>10</Slides>
  <Notes>9</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How I would manage the meeting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Zerlina Villa</cp:lastModifiedBy>
  <cp:revision>8</cp:revision>
  <dcterms:created xsi:type="dcterms:W3CDTF">2013-01-27T09:14:00Z</dcterms:created>
  <dcterms:modified xsi:type="dcterms:W3CDTF">2026-08-24T12:01:42Z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A5DA02CBCAA745F9B3B0F8C3CF12A4AE_13</vt:lpwstr>
  </property>
  <property fmtid="{D5CDD505-2E9C-101B-9397-08002B2CF9AE}" pid="3" name="KSOProductBuildVer">
    <vt:lpwstr>1033-12.1.0.28032</vt:lpwstr>
  </property>
</Properties>
</file>