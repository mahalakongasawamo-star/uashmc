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a443445f62744e6" /><Relationship Type="http://schemas.openxmlformats.org/officeDocument/2006/relationships/extended-properties" Target="/docProps/app.xml" Id="R10d68a2d1b974462" /><Relationship Type="http://schemas.openxmlformats.org/officeDocument/2006/relationships/officeDocument" Target="/ppt/presentation.xml" Id="R1bf872a013774036" /></Relationships>
</file>

<file path=ppt/presentation.xml><?xml version="1.0" encoding="utf-8"?>
<p:presentation xmlns:p="http://schemas.openxmlformats.org/presentationml/2006/main">
  <p:sldMasterIdLst>
    <p:sldMasterId xmlns:r="http://schemas.openxmlformats.org/officeDocument/2006/relationships" id="2147483648" r:id="R6e2a7d039cfc448f"/>
  </p:sldMasterIdLst>
  <p:notesMasterIdLst>
    <p:notesMasterId xmlns:r="http://schemas.openxmlformats.org/officeDocument/2006/relationships" r:id="R7396f7c93525425d"/>
  </p:notesMasterIdLst>
  <p:sldIdLst>
    <p:sldId xmlns:r="http://schemas.openxmlformats.org/officeDocument/2006/relationships" id="256" r:id="R6851441be2a24425"/>
    <p:sldId xmlns:r="http://schemas.openxmlformats.org/officeDocument/2006/relationships" id="257" r:id="Rba93978534594a23"/>
    <p:sldId xmlns:r="http://schemas.openxmlformats.org/officeDocument/2006/relationships" id="258" r:id="R4cb628d5f7af4eca"/>
    <p:sldId xmlns:r="http://schemas.openxmlformats.org/officeDocument/2006/relationships" id="259" r:id="R110f54250c914a35"/>
    <p:sldId xmlns:r="http://schemas.openxmlformats.org/officeDocument/2006/relationships" id="260" r:id="R29b8f6b383874dc0"/>
    <p:sldId xmlns:r="http://schemas.openxmlformats.org/officeDocument/2006/relationships" id="261" r:id="R1fbba7b3e1f9439b"/>
    <p:sldId xmlns:r="http://schemas.openxmlformats.org/officeDocument/2006/relationships" id="262" r:id="R7728d5652cdb4db8"/>
    <p:sldId xmlns:r="http://schemas.openxmlformats.org/officeDocument/2006/relationships" id="263" r:id="R0f3d3a160b5e4b48"/>
    <p:sldId xmlns:r="http://schemas.openxmlformats.org/officeDocument/2006/relationships" id="264" r:id="Rf5d9772dba464f1e"/>
    <p:sldId xmlns:r="http://schemas.openxmlformats.org/officeDocument/2006/relationships" id="265" r:id="R908d4a9466e040bb"/>
    <p:sldId xmlns:r="http://schemas.openxmlformats.org/officeDocument/2006/relationships" id="266" r:id="Rc5711e09b3a740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9697dd92c384462" /><Relationship Type="http://schemas.openxmlformats.org/officeDocument/2006/relationships/slideMaster" Target="/ppt/slideMasters/slideMaster1.xml" Id="R6e2a7d039cfc448f" /><Relationship Type="http://schemas.openxmlformats.org/officeDocument/2006/relationships/notesMaster" Target="/ppt/notesMasters/notesMaster1.xml" Id="R7396f7c93525425d" /><Relationship Type="http://schemas.openxmlformats.org/officeDocument/2006/relationships/presProps" Target="/ppt/presProps.xml" Id="Rb8a9b93ee9ec4b44" /><Relationship Type="http://schemas.openxmlformats.org/officeDocument/2006/relationships/viewProps" Target="/ppt/viewProps.xml" Id="Rdca6396406ab4840" /><Relationship Type="http://schemas.openxmlformats.org/officeDocument/2006/relationships/tableStyles" Target="/ppt/tableStyles.xml" Id="Rb0d4197dda39433e" /><Relationship Type="http://schemas.openxmlformats.org/officeDocument/2006/relationships/slide" Target="/ppt/slides/slide1.xml" Id="R6851441be2a24425" /><Relationship Type="http://schemas.openxmlformats.org/officeDocument/2006/relationships/slide" Target="/ppt/slides/slide2.xml" Id="Rba93978534594a23" /><Relationship Type="http://schemas.openxmlformats.org/officeDocument/2006/relationships/slide" Target="/ppt/slides/slide3.xml" Id="R4cb628d5f7af4eca" /><Relationship Type="http://schemas.openxmlformats.org/officeDocument/2006/relationships/slide" Target="/ppt/slides/slide4.xml" Id="R110f54250c914a35" /><Relationship Type="http://schemas.openxmlformats.org/officeDocument/2006/relationships/slide" Target="/ppt/slides/slide5.xml" Id="R29b8f6b383874dc0" /><Relationship Type="http://schemas.openxmlformats.org/officeDocument/2006/relationships/slide" Target="/ppt/slides/slide6.xml" Id="R1fbba7b3e1f9439b" /><Relationship Type="http://schemas.openxmlformats.org/officeDocument/2006/relationships/slide" Target="/ppt/slides/slide7.xml" Id="R7728d5652cdb4db8" /><Relationship Type="http://schemas.openxmlformats.org/officeDocument/2006/relationships/slide" Target="/ppt/slides/slide8.xml" Id="R0f3d3a160b5e4b48" /><Relationship Type="http://schemas.openxmlformats.org/officeDocument/2006/relationships/slide" Target="/ppt/slides/slide9.xml" Id="Rf5d9772dba464f1e" /><Relationship Type="http://schemas.openxmlformats.org/officeDocument/2006/relationships/slide" Target="/ppt/slides/slide10.xml" Id="R908d4a9466e040bb" /><Relationship Type="http://schemas.openxmlformats.org/officeDocument/2006/relationships/slide" Target="/ppt/slides/slide11.xml" Id="Rc5711e09b3a740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5edf279fcf47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2cc5db30674ad9" /><Relationship Type="http://schemas.openxmlformats.org/officeDocument/2006/relationships/notesMaster" Target="/ppt/notesMasters/notesMaster1.xml" Id="R64bd28f5419f4b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d2c52d3e71434d" /><Relationship Type="http://schemas.openxmlformats.org/officeDocument/2006/relationships/notesMaster" Target="/ppt/notesMasters/notesMaster1.xml" Id="Rd8bf91b1d23142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f50d2e3b29403d" /><Relationship Type="http://schemas.openxmlformats.org/officeDocument/2006/relationships/notesMaster" Target="/ppt/notesMasters/notesMaster1.xml" Id="Rd62bbff6c2684c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ee5ecc9cb4eee" /><Relationship Type="http://schemas.openxmlformats.org/officeDocument/2006/relationships/notesMaster" Target="/ppt/notesMasters/notesMaster1.xml" Id="R6b35a2ac68cb450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20abfed1684daa" /><Relationship Type="http://schemas.openxmlformats.org/officeDocument/2006/relationships/notesMaster" Target="/ppt/notesMasters/notesMaster1.xml" Id="R10fc50ccffe84b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08b26711534aec" /><Relationship Type="http://schemas.openxmlformats.org/officeDocument/2006/relationships/notesMaster" Target="/ppt/notesMasters/notesMaster1.xml" Id="Rd742e222600d4c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418c693c1b4c98" /><Relationship Type="http://schemas.openxmlformats.org/officeDocument/2006/relationships/notesMaster" Target="/ppt/notesMasters/notesMaster1.xml" Id="R7d830cea12a94e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00a10e41f9499a" /><Relationship Type="http://schemas.openxmlformats.org/officeDocument/2006/relationships/notesMaster" Target="/ppt/notesMasters/notesMaster1.xml" Id="R024ce6bfa9c045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2c63807f524b93" /><Relationship Type="http://schemas.openxmlformats.org/officeDocument/2006/relationships/notesMaster" Target="/ppt/notesMasters/notesMaster1.xml" Id="R4623ec832d5941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52362abd964f70" /><Relationship Type="http://schemas.openxmlformats.org/officeDocument/2006/relationships/notesMaster" Target="/ppt/notesMasters/notesMaster1.xml" Id="Rbef3398bec7646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cda18d1e244786" /><Relationship Type="http://schemas.openxmlformats.org/officeDocument/2006/relationships/notesMaster" Target="/ppt/notesMasters/notesMaster1.xml" Id="R81555e1870fb41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1 — A Better Digital Front Door for MarMed Diagnostics</a:t>
            </a:r>
          </a:p>
          <a:p xmlns:a="http://schemas.openxmlformats.org/drawingml/2006/main">
            <a:r>
              <a:t/>
            </a:r>
          </a:p>
          <a:p xmlns:a="http://schemas.openxmlformats.org/drawingml/2006/main">
            <a:r>
              <a:t>Good afternoon, Dr. Sol—and thank you again for sharing MarMed’s official logo and complete service portfolio with us.</a:t>
            </a:r>
          </a:p>
          <a:p xmlns:a="http://schemas.openxmlformats.org/drawingml/2006/main">
            <a:r>
              <a:t/>
            </a:r>
          </a:p>
          <a:p xmlns:a="http://schemas.openxmlformats.org/drawingml/2006/main">
            <a:r>
              <a:t>When we reviewed the list, one thing became very clear: MarMed already offers far more than most people would probably realize from its current online presence.</a:t>
            </a:r>
            <a:endParaRPr/>
          </a:p>
          <a:p xmlns:a="http://schemas.openxmlformats.org/drawingml/2006/main">
            <a:r>
              <a:t/>
            </a:r>
          </a:p>
          <a:p xmlns:a="http://schemas.openxmlformats.org/drawingml/2006/main">
            <a:r>
              <a:t>You have multispecialty care. You have sophisticated diagnostics and imaging. You have ambulatory surgery, individual and corporate APE, drug testing and a mobile clinic.</a:t>
            </a:r>
          </a:p>
          <a:p xmlns:a="http://schemas.openxmlformats.org/drawingml/2006/main">
            <a:r>
              <a:rPr b="1"/>
              <a:t/>
            </a:r>
          </a:p>
          <a:p xmlns:a="http://schemas.openxmlformats.org/drawingml/2006/main">
            <a:r>
              <a:rPr b="1"/>
              <a:t>That is a strong outpatient-care story.</a:t>
            </a:r>
          </a:p>
          <a:p xmlns:a="http://schemas.openxmlformats.org/drawingml/2006/main">
            <a:r>
              <a:t/>
            </a:r>
          </a:p>
          <a:p xmlns:a="http://schemas.openxmlformats.org/drawingml/2006/main">
            <a:r>
              <a:rPr b="1"/>
              <a:t>The opportunity is not to reinvent MarMed. The opportunity is to finally make the strength of MarMed visible.</a:t>
            </a:r>
          </a:p>
          <a:p xmlns:a="http://schemas.openxmlformats.org/drawingml/2006/main">
            <a:r>
              <a:t/>
            </a:r>
            <a:endParaRPr b="1"/>
          </a:p>
          <a:p xmlns:a="http://schemas.openxmlformats.org/drawingml/2006/main">
            <a:r>
              <a:t>Imagine a prospective patient—or even an HR manager looking for an APE partner—finding MarMed online and immediately thinking: “This clinic can take care of what we need.”</a:t>
            </a:r>
          </a:p>
          <a:p xmlns:a="http://schemas.openxmlformats.org/drawingml/2006/main">
            <a:r>
              <a:t/>
            </a:r>
          </a:p>
          <a:p xmlns:a="http://schemas.openxmlformats.org/drawingml/2006/main">
            <a:r>
              <a:t>That is what we mean by a better digital front door.</a:t>
            </a:r>
          </a:p>
          <a:p xmlns:a="http://schemas.openxmlformats.org/drawingml/2006/main">
            <a:r>
              <a:t/>
            </a:r>
          </a:p>
          <a:p xmlns:a="http://schemas.openxmlformats.org/drawingml/2006/main">
            <a:r>
              <a:t>Today, I would like to show you a practical way to build that front door—starting with the website, without requiring MarMed to make a large or complicated AI commitment.</a:t>
            </a:r>
          </a:p>
          <a:p xmlns:a="http://schemas.openxmlformats.org/drawingml/2006/main">
            <a:r>
              <a:t/>
            </a:r>
          </a:p>
          <a:p xmlns:a="http://schemas.openxmlformats.org/drawingml/2006/main">
            <a:r>
              <a:t>And more importantly, I hope we can give you a clear proposition that you would feel confident bringing to Dr. Ton and the board.</a:t>
            </a:r>
          </a:p>
          <a:p xmlns:a="http://schemas.openxmlformats.org/drawingml/2006/main">
            <a:r>
              <a:t/>
            </a:r>
          </a:p>
          <a:p xmlns:a="http://schemas.openxmlformats.org/drawingml/2006/main">
            <a:r>
              <a:t>Transition</a:t>
            </a:r>
          </a:p>
          <a:p xmlns:a="http://schemas.openxmlformats.org/drawingml/2006/main">
            <a:r>
              <a:t>Let me begin with what makes the opportunity worth pursuing.</a:t>
            </a:r>
          </a:p>
          <a:p xmlns:a="http://schemas.openxmlformats.org/drawingml/2006/main">
            <a:r>
              <a:t/>
            </a:r>
          </a:p>
          <a:p xmlns:a="http://schemas.openxmlformats.org/drawingml/2006/main">
            <a:r>
              <a:t>[Sources]</a:t>
            </a:r>
          </a:p>
          <a:p xmlns:a="http://schemas.openxmlformats.org/drawingml/2006/main">
            <a:r>
              <a:t>- Official MarMed logo and service portfolio supplied by Dr. Sol, 27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2 — MarMed’s Value Needs a Clearer Digital Expression</a:t>
            </a:r>
          </a:p>
          <a:p xmlns:a="http://schemas.openxmlformats.org/drawingml/2006/main">
            <a:r>
              <a:rPr b="1"/>
              <a:t/>
            </a:r>
          </a:p>
          <a:p xmlns:a="http://schemas.openxmlformats.org/drawingml/2006/main">
            <a:r>
              <a:t>This is what genuinely makes the project exciting.</a:t>
            </a:r>
          </a:p>
          <a:p xmlns:a="http://schemas.openxmlformats.org/drawingml/2006/main">
            <a:r>
              <a:rPr b="1"/>
              <a:t/>
            </a:r>
          </a:p>
          <a:p xmlns:a="http://schemas.openxmlformats.org/drawingml/2006/main">
            <a:r>
              <a:t>MarMed is not offering only one or two services. It already brings together several important outpatient needs in one location.</a:t>
            </a:r>
          </a:p>
          <a:p xmlns:a="http://schemas.openxmlformats.org/drawingml/2006/main">
            <a:r>
              <a:t/>
            </a:r>
          </a:p>
          <a:p xmlns:a="http://schemas.openxmlformats.org/drawingml/2006/main">
            <a:r>
              <a:t>A patient can begin with a multispecialty consultation. If further evaluation is needed, MarMed offers services such as adult, pediatric and fetal 2D Echo, ultrasound, imaging and scans.</a:t>
            </a:r>
          </a:p>
          <a:p xmlns:a="http://schemas.openxmlformats.org/drawingml/2006/main">
            <a:r>
              <a:t/>
            </a:r>
          </a:p>
          <a:p xmlns:a="http://schemas.openxmlformats.org/drawingml/2006/main">
            <a:r>
              <a:t>For procedures, MarMed provides ambulatory surgery, including wound and ostomy care.</a:t>
            </a:r>
          </a:p>
          <a:p xmlns:a="http://schemas.openxmlformats.org/drawingml/2006/main">
            <a:r>
              <a:t/>
            </a:r>
          </a:p>
          <a:p xmlns:a="http://schemas.openxmlformats.org/drawingml/2006/main">
            <a:r>
              <a:t>And beyond individual patients, MarMed can serve a wider market through individual and corporate APE, drug testing and the mobile clinic.</a:t>
            </a:r>
            <a:endParaRPr/>
          </a:p>
          <a:p xmlns:a="http://schemas.openxmlformats.org/drawingml/2006/main">
            <a:r>
              <a:t/>
            </a:r>
          </a:p>
          <a:p xmlns:a="http://schemas.openxmlformats.org/drawingml/2006/main">
            <a:r>
              <a:rPr b="1"/>
              <a:t>That last group is especially important because it means the website is not only a patient-information tool. It can also open a more professional inquiry channel for companies looking for an employee-health partner.</a:t>
            </a:r>
          </a:p>
          <a:p xmlns:a="http://schemas.openxmlformats.org/drawingml/2006/main">
            <a:r>
              <a:rPr b="1"/>
              <a:t/>
            </a:r>
          </a:p>
          <a:p xmlns:a="http://schemas.openxmlformats.org/drawingml/2006/main">
            <a:r>
              <a:rPr b="1"/>
              <a:t>So the real question is not whether MarMed has enough to feature on a website.</a:t>
            </a:r>
          </a:p>
          <a:p xmlns:a="http://schemas.openxmlformats.org/drawingml/2006/main">
            <a:r>
              <a:rPr b="1"/>
              <a:t/>
            </a:r>
          </a:p>
          <a:p xmlns:a="http://schemas.openxmlformats.org/drawingml/2006/main">
            <a:r>
              <a:rPr b="1"/>
              <a:t>The question is: why should this much value remain difficult to see?</a:t>
            </a:r>
          </a:p>
          <a:p xmlns:a="http://schemas.openxmlformats.org/drawingml/2006/main">
            <a:r>
              <a:rPr b="1"/>
              <a:t/>
            </a:r>
          </a:p>
          <a:p xmlns:a="http://schemas.openxmlformats.org/drawingml/2006/main">
            <a:r>
              <a:rPr b="1"/>
              <a:t>Transition</a:t>
            </a:r>
          </a:p>
          <a:p xmlns:a="http://schemas.openxmlformats.org/drawingml/2006/main">
            <a:r>
              <a:rPr b="1"/>
              <a:t>Because at the moment, someone interested in MarMed may still have to work too hard to understand the complete picture.</a:t>
            </a:r>
          </a:p>
          <a:p xmlns:a="http://schemas.openxmlformats.org/drawingml/2006/main">
            <a:r>
              <a:rPr b="1"/>
              <a:t/>
            </a:r>
          </a:p>
          <a:p xmlns:a="http://schemas.openxmlformats.org/drawingml/2006/main">
            <a:r>
              <a:rPr b="1"/>
              <a:t>[Sources]</a:t>
            </a:r>
          </a:p>
          <a:p xmlns:a="http://schemas.openxmlformats.org/drawingml/2006/main">
            <a:r>
              <a:rPr b="1"/>
              <a:t>- Service portfolio supplied by Dr. Sol; APE and ambulatory-surgery clarifications confirmed by MarMed’s representative, 27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3 — Patients Must Currently Piece the Story Together</a:t>
            </a:r>
          </a:p>
          <a:p xmlns:a="http://schemas.openxmlformats.org/drawingml/2006/main">
            <a:r>
              <a:rPr b="1"/>
              <a:t/>
            </a:r>
          </a:p>
          <a:p xmlns:a="http://schemas.openxmlformats.org/drawingml/2006/main">
            <a:r>
              <a:t>Let us look at this from the patient’s point of view.</a:t>
            </a:r>
          </a:p>
          <a:p xmlns:a="http://schemas.openxmlformats.org/drawingml/2006/main">
            <a:r>
              <a:rPr b="1"/>
              <a:t/>
            </a:r>
          </a:p>
          <a:p xmlns:a="http://schemas.openxmlformats.org/drawingml/2006/main">
            <a:r>
              <a:t>Someone sees a Facebook post, hears about MarMed from a friend, or searches for a particular test. Interest is created—but the next questions are practical.</a:t>
            </a:r>
          </a:p>
          <a:p xmlns:a="http://schemas.openxmlformats.org/drawingml/2006/main">
            <a:r>
              <a:t/>
            </a:r>
          </a:p>
          <a:p xmlns:a="http://schemas.openxmlformats.org/drawingml/2006/main">
            <a:r>
              <a:t>Do you offer the service I need? Is there an appropriate doctor? How should I prepare? Do I need an appointment? Is my HMO accepted? Who should I contact?</a:t>
            </a:r>
          </a:p>
          <a:p xmlns:a="http://schemas.openxmlformats.org/drawingml/2006/main">
            <a:r>
              <a:t/>
            </a:r>
          </a:p>
          <a:p xmlns:a="http://schemas.openxmlformats.org/drawingml/2006/main">
            <a:r>
              <a:t>If those answers are scattered across old posts, images, messages and phone conversations, the patient carries the burden of piecing everything together.</a:t>
            </a:r>
          </a:p>
          <a:p xmlns:a="http://schemas.openxmlformats.org/drawingml/2006/main">
            <a:r>
              <a:t/>
            </a:r>
          </a:p>
          <a:p xmlns:a="http://schemas.openxmlformats.org/drawingml/2006/main">
            <a:r>
              <a:t>And every extra step creates uncertainty.</a:t>
            </a:r>
          </a:p>
          <a:p xmlns:a="http://schemas.openxmlformats.org/drawingml/2006/main">
            <a:r>
              <a:t/>
            </a:r>
          </a:p>
          <a:p xmlns:a="http://schemas.openxmlformats.org/drawingml/2006/main">
            <a:r>
              <a:t>The same is true for a company considering MarMed for corporate APE. An HR representative should not have to search through social-media posts just to understand whether MarMed can support the requirement and whom to contact.</a:t>
            </a:r>
          </a:p>
          <a:p xmlns:a="http://schemas.openxmlformats.org/drawingml/2006/main">
            <a:r>
              <a:t/>
            </a:r>
          </a:p>
          <a:p xmlns:a="http://schemas.openxmlformats.org/drawingml/2006/main">
            <a:r>
              <a:t>Facebook can continue doing what it does well: building awareness, sharing promotions and keeping the community updated.</a:t>
            </a:r>
          </a:p>
          <a:p xmlns:a="http://schemas.openxmlformats.org/drawingml/2006/main">
            <a:r>
              <a:t/>
            </a:r>
          </a:p>
          <a:p xmlns:a="http://schemas.openxmlformats.org/drawingml/2006/main">
            <a:r>
              <a:t>The website serves a different purpose. It becomes the official place where interest turns into understanding—and understanding turns into action.</a:t>
            </a:r>
          </a:p>
          <a:p xmlns:a="http://schemas.openxmlformats.org/drawingml/2006/main">
            <a:r>
              <a:t/>
            </a:r>
          </a:p>
          <a:p xmlns:a="http://schemas.openxmlformats.org/drawingml/2006/main">
            <a:r>
              <a:t>Transition</a:t>
            </a:r>
          </a:p>
          <a:p xmlns:a="http://schemas.openxmlformats.org/drawingml/2006/main">
            <a:r>
              <a:rPr b="1"/>
              <a:t>So what should MarMed’s official digital story be?</a:t>
            </a:r>
          </a:p>
          <a:p xmlns:a="http://schemas.openxmlformats.org/drawingml/2006/main">
            <a:r>
              <a:t/>
            </a:r>
          </a:p>
          <a:p xmlns:a="http://schemas.openxmlformats.org/drawingml/2006/main">
            <a:r>
              <a:rPr b="1"/>
              <a:t>[Sources]</a:t>
            </a:r>
          </a:p>
          <a:p xmlns:a="http://schemas.openxmlformats.org/drawingml/2006/main">
            <a:r>
              <a:t>- Patient and corporate inquiry scenarios are based on MarMed’s management-confirmed service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4 — Complete Outpatient Care in One Convenient Location</a:t>
            </a:r>
          </a:p>
          <a:p xmlns:a="http://schemas.openxmlformats.org/drawingml/2006/main">
            <a:r>
              <a:rPr b="1"/>
              <a:t/>
            </a:r>
          </a:p>
          <a:p xmlns:a="http://schemas.openxmlformats.org/drawingml/2006/main">
            <a:r>
              <a:t>This is the story we believe MarMed should own:</a:t>
            </a:r>
          </a:p>
          <a:p xmlns:a="http://schemas.openxmlformats.org/drawingml/2006/main">
            <a:r>
              <a:rPr b="1"/>
              <a:t/>
            </a:r>
          </a:p>
          <a:p xmlns:a="http://schemas.openxmlformats.org/drawingml/2006/main">
            <a:r>
              <a:t>Complete Outpatient Care in One Convenient Location.</a:t>
            </a:r>
          </a:p>
          <a:p xmlns:a="http://schemas.openxmlformats.org/drawingml/2006/main">
            <a:r>
              <a:rPr b="1"/>
              <a:t/>
            </a:r>
            <a:endParaRPr/>
          </a:p>
          <a:p xmlns:a="http://schemas.openxmlformats.org/drawingml/2006/main">
            <a:r>
              <a:t>It is simple, but it is powerful because MarMed can support it with real services.</a:t>
            </a:r>
          </a:p>
          <a:p xmlns:a="http://schemas.openxmlformats.org/drawingml/2006/main">
            <a:r>
              <a:t/>
            </a:r>
          </a:p>
          <a:p xmlns:a="http://schemas.openxmlformats.org/drawingml/2006/main">
            <a:r>
              <a:t>Behind that statement are multispecialty consultations, diagnostic and imaging services, ambulatory surgery, individual and corporate APE, drug testing and the mobile clinic.</a:t>
            </a:r>
            <a:endParaRPr b="1"/>
          </a:p>
          <a:p xmlns:a="http://schemas.openxmlformats.org/drawingml/2006/main">
            <a:r>
              <a:rPr b="1"/>
              <a:t/>
            </a:r>
          </a:p>
          <a:p xmlns:a="http://schemas.openxmlformats.org/drawingml/2006/main">
            <a:r>
              <a:t>This gives MarMed a much stronger identity than simply being another clinic or laboratory.</a:t>
            </a:r>
          </a:p>
          <a:p xmlns:a="http://schemas.openxmlformats.org/drawingml/2006/main">
            <a:r>
              <a:rPr b="1"/>
              <a:t/>
            </a:r>
          </a:p>
          <a:p xmlns:a="http://schemas.openxmlformats.org/drawingml/2006/main">
            <a:r>
              <a:t>It positions MarMed as a convenient outpatient-care destination—one clinic, one clear service story and one trusted place to begin.</a:t>
            </a:r>
          </a:p>
          <a:p xmlns:a="http://schemas.openxmlformats.org/drawingml/2006/main">
            <a:r>
              <a:t/>
            </a:r>
          </a:p>
          <a:p xmlns:a="http://schemas.openxmlformats.org/drawingml/2006/main">
            <a:r>
              <a:t>The homepage then gives visitors two obvious actions.</a:t>
            </a:r>
          </a:p>
          <a:p xmlns:a="http://schemas.openxmlformats.org/drawingml/2006/main">
            <a:r>
              <a:t/>
            </a:r>
          </a:p>
          <a:p xmlns:a="http://schemas.openxmlformats.org/drawingml/2006/main">
            <a:r>
              <a:t>If they are still exploring, they choose “Explore Our Services.” If they are ready to move forward, they choose “Request an Appointment.”</a:t>
            </a:r>
          </a:p>
          <a:p xmlns:a="http://schemas.openxmlformats.org/drawingml/2006/main">
            <a:r>
              <a:t/>
            </a:r>
          </a:p>
          <a:p xmlns:a="http://schemas.openxmlformats.org/drawingml/2006/main">
            <a:r>
              <a:t>That sounds simple—and it should feel simple to the patient. But behind it is a much more organized and commercially useful way of presenting MarMed.</a:t>
            </a:r>
          </a:p>
          <a:p xmlns:a="http://schemas.openxmlformats.org/drawingml/2006/main">
            <a:r>
              <a:t/>
            </a:r>
          </a:p>
          <a:p xmlns:a="http://schemas.openxmlformats.org/drawingml/2006/main">
            <a:r>
              <a:t>Dr. Sol, if this were the first impression Dr. Ton and the board saw of MarMed online, would it feel consistent with the institution you are building?</a:t>
            </a:r>
          </a:p>
          <a:p xmlns:a="http://schemas.openxmlformats.org/drawingml/2006/main">
            <a:r>
              <a:t/>
            </a:r>
          </a:p>
          <a:p xmlns:a="http://schemas.openxmlformats.org/drawingml/2006/main">
            <a:r>
              <a:t>Transition</a:t>
            </a:r>
          </a:p>
          <a:p xmlns:a="http://schemas.openxmlformats.org/drawingml/2006/main">
            <a:r>
              <a:t>Let me show you what this changes for the person actually trying to access care.</a:t>
            </a:r>
          </a:p>
          <a:p xmlns:a="http://schemas.openxmlformats.org/drawingml/2006/main">
            <a:r>
              <a:t/>
            </a:r>
          </a:p>
          <a:p xmlns:a="http://schemas.openxmlformats.org/drawingml/2006/main">
            <a:r>
              <a:t>[Sources]</a:t>
            </a:r>
          </a:p>
          <a:p xmlns:a="http://schemas.openxmlformats.org/drawingml/2006/main">
            <a:r>
              <a:t>- Positioning is based on the official MarMed identity and management-confirmed service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5 — One Website Can Guide the Patient Journey</a:t>
            </a:r>
          </a:p>
          <a:p xmlns:a="http://schemas.openxmlformats.org/drawingml/2006/main">
            <a:r>
              <a:t/>
            </a:r>
          </a:p>
          <a:p xmlns:a="http://schemas.openxmlformats.org/drawingml/2006/main">
            <a:r>
              <a:t>This is where the website starts becoming more than a company profile.</a:t>
            </a:r>
          </a:p>
          <a:p xmlns:a="http://schemas.openxmlformats.org/drawingml/2006/main">
            <a:r>
              <a:t/>
            </a:r>
          </a:p>
          <a:p xmlns:a="http://schemas.openxmlformats.org/drawingml/2006/main">
            <a:r>
              <a:t>Imagine a mother searching for a pediatric 2D Echo. Or a woman looking for an obstetric ultrasound. Or an HR manager trying to arrange APE for employees.</a:t>
            </a:r>
          </a:p>
          <a:p xmlns:a="http://schemas.openxmlformats.org/drawingml/2006/main">
            <a:r>
              <a:t/>
            </a:r>
          </a:p>
          <a:p xmlns:a="http://schemas.openxmlformats.org/drawingml/2006/main">
            <a:r>
              <a:t>Each of them begins with a different need—but the website can guide them through the same clear journey.</a:t>
            </a:r>
          </a:p>
          <a:p xmlns:a="http://schemas.openxmlformats.org/drawingml/2006/main">
            <a:r>
              <a:t/>
            </a:r>
          </a:p>
          <a:p xmlns:a="http://schemas.openxmlformats.org/drawingml/2006/main">
            <a:r>
              <a:t>First: find the right care. They immediately see whether MarMed offers the doctor, diagnostic service, procedure or corporate program they need.</a:t>
            </a:r>
          </a:p>
          <a:p xmlns:a="http://schemas.openxmlformats.org/drawingml/2006/main">
            <a:r>
              <a:t/>
            </a:r>
          </a:p>
          <a:p xmlns:a="http://schemas.openxmlformats.org/drawingml/2006/main">
            <a:r>
              <a:t>Second: plan the visit. They can review the relevant requirements, preparation instructions, schedules and next steps that MarMed has approved for publication.</a:t>
            </a:r>
          </a:p>
          <a:p xmlns:a="http://schemas.openxmlformats.org/drawingml/2006/main">
            <a:r>
              <a:t/>
            </a:r>
          </a:p>
          <a:p xmlns:a="http://schemas.openxmlformats.org/drawingml/2006/main">
            <a:r>
              <a:t>Third: connect with MarMed. They send the appropriate appointment request or inquiry, and the MarMed team confirms what happens next.</a:t>
            </a:r>
          </a:p>
          <a:p xmlns:a="http://schemas.openxmlformats.org/drawingml/2006/main">
            <a:r>
              <a:t/>
            </a:r>
          </a:p>
          <a:p xmlns:a="http://schemas.openxmlformats.org/drawingml/2006/main">
            <a:r>
              <a:t>For the patient, that means less uncertainty.</a:t>
            </a:r>
          </a:p>
          <a:p xmlns:a="http://schemas.openxmlformats.org/drawingml/2006/main">
            <a:r>
              <a:t/>
            </a:r>
          </a:p>
          <a:p xmlns:a="http://schemas.openxmlformats.org/drawingml/2006/main">
            <a:r>
              <a:t>For MarMed, it means inquiries arrive with better context and can be routed more deliberately.</a:t>
            </a:r>
          </a:p>
          <a:p xmlns:a="http://schemas.openxmlformats.org/drawingml/2006/main">
            <a:r>
              <a:t/>
            </a:r>
          </a:p>
          <a:p xmlns:a="http://schemas.openxmlformats.org/drawingml/2006/main">
            <a:r>
              <a:t>And for management, it creates one official digital foundation that can grow as MarMed grows.</a:t>
            </a:r>
          </a:p>
          <a:p xmlns:a="http://schemas.openxmlformats.org/drawingml/2006/main">
            <a:r>
              <a:t/>
            </a:r>
          </a:p>
          <a:p xmlns:a="http://schemas.openxmlformats.org/drawingml/2006/main">
            <a:r>
              <a:t>That is the real value of the website: it does not simply describe MarMed. It helps people enter the MarMed patient journey.</a:t>
            </a:r>
          </a:p>
          <a:p xmlns:a="http://schemas.openxmlformats.org/drawingml/2006/main">
            <a:r>
              <a:t/>
            </a:r>
          </a:p>
          <a:p xmlns:a="http://schemas.openxmlformats.org/drawingml/2006/main">
            <a:r>
              <a:t>Transition</a:t>
            </a:r>
          </a:p>
          <a:p xmlns:a="http://schemas.openxmlformats.org/drawingml/2006/main">
            <a:r>
              <a:t>Maria has already begun translating that idea into something you can see and react to.</a:t>
            </a:r>
          </a:p>
          <a:p xmlns:a="http://schemas.openxmlformats.org/drawingml/2006/main">
            <a:r>
              <a:t/>
            </a:r>
          </a:p>
          <a:p xmlns:a="http://schemas.openxmlformats.org/drawingml/2006/main">
            <a:r>
              <a:t>[Sources]</a:t>
            </a:r>
          </a:p>
          <a:p xmlns:a="http://schemas.openxmlformats.org/drawingml/2006/main">
            <a:r>
              <a:t>- Journey examples are derived from MarMed’s confirmed diagnostic, APE and outpatient service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6 — Use the Prototype to Validate the Patient Experience</a:t>
            </a:r>
          </a:p>
          <a:p xmlns:a="http://schemas.openxmlformats.org/drawingml/2006/main">
            <a:r>
              <a:rPr b="1"/>
              <a:t/>
            </a:r>
          </a:p>
          <a:p xmlns:a="http://schemas.openxmlformats.org/drawingml/2006/main">
            <a:r>
              <a:t>This is not yet the final website—and I do not want you to judge it as though every word and image has already been approved.</a:t>
            </a:r>
          </a:p>
          <a:p xmlns:a="http://schemas.openxmlformats.org/drawingml/2006/main">
            <a:r>
              <a:rPr b="1"/>
              <a:t/>
            </a:r>
          </a:p>
          <a:p xmlns:a="http://schemas.openxmlformats.org/drawingml/2006/main">
            <a:r>
              <a:t>What is important is that the opportunity is now tangible.</a:t>
            </a:r>
          </a:p>
          <a:p xmlns:a="http://schemas.openxmlformats.org/drawingml/2006/main">
            <a:r>
              <a:t/>
            </a:r>
          </a:p>
          <a:p xmlns:a="http://schemas.openxmlformats.org/drawingml/2006/main">
            <a:r>
              <a:t>You can begin to imagine MarMed’s official logo, services and doctors presented in one consistent experience—whether the visitor is using a laptop or, more likely, a mobile phone.</a:t>
            </a:r>
          </a:p>
          <a:p xmlns:a="http://schemas.openxmlformats.org/drawingml/2006/main">
            <a:r>
              <a:t/>
            </a:r>
          </a:p>
          <a:p xmlns:a="http://schemas.openxmlformats.org/drawingml/2006/main">
            <a:r>
              <a:t>During the walkthrough, I would like us to look at three things.</a:t>
            </a:r>
          </a:p>
          <a:p xmlns:a="http://schemas.openxmlformats.org/drawingml/2006/main">
            <a:r>
              <a:t/>
            </a:r>
          </a:p>
          <a:p xmlns:a="http://schemas.openxmlformats.org/drawingml/2006/main">
            <a:r>
              <a:t>First, does the homepage immediately communicate what MarMed is and why someone should choose it?</a:t>
            </a:r>
          </a:p>
          <a:p xmlns:a="http://schemas.openxmlformats.org/drawingml/2006/main">
            <a:r>
              <a:t/>
            </a:r>
          </a:p>
          <a:p xmlns:a="http://schemas.openxmlformats.org/drawingml/2006/main">
            <a:r>
              <a:t>Second, can patients quickly reach the right service and next step?</a:t>
            </a:r>
          </a:p>
          <a:p xmlns:a="http://schemas.openxmlformats.org/drawingml/2006/main">
            <a:r>
              <a:t/>
            </a:r>
          </a:p>
          <a:p xmlns:a="http://schemas.openxmlformats.org/drawingml/2006/main">
            <a:r>
              <a:t>Third, does the website create an appropriate path for both individual APE and corporate APE inquiries?</a:t>
            </a:r>
          </a:p>
          <a:p xmlns:a="http://schemas.openxmlformats.org/drawingml/2006/main">
            <a:r>
              <a:t/>
            </a:r>
          </a:p>
          <a:p xmlns:a="http://schemas.openxmlformats.org/drawingml/2006/main">
            <a:r>
              <a:t>The prototype gives us something concrete to improve together. It allows Dr. Ton and the board to react to an actual direction rather than approve an abstract idea.</a:t>
            </a:r>
          </a:p>
          <a:p xmlns:a="http://schemas.openxmlformats.org/drawingml/2006/main">
            <a:r>
              <a:t/>
            </a:r>
          </a:p>
          <a:p xmlns:a="http://schemas.openxmlformats.org/drawingml/2006/main">
            <a:r>
              <a:t>As you view it, I invite you to imagine the experience once we replace the temporary materials with MarMed’s approved content, physician information and clinic photographs.</a:t>
            </a:r>
          </a:p>
          <a:p xmlns:a="http://schemas.openxmlformats.org/drawingml/2006/main">
            <a:r>
              <a:t/>
            </a:r>
          </a:p>
          <a:p xmlns:a="http://schemas.openxmlformats.org/drawingml/2006/main">
            <a:r>
              <a:t>Transition</a:t>
            </a:r>
          </a:p>
          <a:p xmlns:a="http://schemas.openxmlformats.org/drawingml/2006/main">
            <a:r>
              <a:t>And once that foundation exists, MarMed has the option to make the same information even easier to access.</a:t>
            </a:r>
          </a:p>
          <a:p xmlns:a="http://schemas.openxmlformats.org/drawingml/2006/main">
            <a:r>
              <a:t/>
            </a:r>
          </a:p>
          <a:p xmlns:a="http://schemas.openxmlformats.org/drawingml/2006/main">
            <a:r>
              <a:t>[Sources]</a:t>
            </a:r>
          </a:p>
          <a:p xmlns:a="http://schemas.openxmlformats.org/drawingml/2006/main">
            <a:r>
              <a:t>- Prototype validation priorities reflect MarMed’s confirmed individual and corporate APE offering.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7 — KRISS AI Makes Approved Clinic Information Easier to Use</a:t>
            </a:r>
          </a:p>
          <a:p xmlns:a="http://schemas.openxmlformats.org/drawingml/2006/main">
            <a:r>
              <a:rPr b="1"/>
              <a:t/>
            </a:r>
          </a:p>
          <a:p xmlns:a="http://schemas.openxmlformats.org/drawingml/2006/main">
            <a:r>
              <a:t>This is where the website can become future-ready—but still remain practical.</a:t>
            </a:r>
          </a:p>
          <a:p xmlns:a="http://schemas.openxmlformats.org/drawingml/2006/main">
            <a:r>
              <a:rPr b="1"/>
              <a:t/>
            </a:r>
          </a:p>
          <a:p xmlns:a="http://schemas.openxmlformats.org/drawingml/2006/main">
            <a:r>
              <a:t>The website organizes MarMed’s information. KRISS AI gives people a natural way to ask for it.</a:t>
            </a:r>
          </a:p>
          <a:p xmlns:a="http://schemas.openxmlformats.org/drawingml/2006/main">
            <a:r>
              <a:t/>
            </a:r>
          </a:p>
          <a:p xmlns:a="http://schemas.openxmlformats.org/drawingml/2006/main">
            <a:r>
              <a:t>Instead of searching through several pages, a patient might ask: “What diagnostic and imaging services does MarMed offer?”</a:t>
            </a:r>
          </a:p>
          <a:p xmlns:a="http://schemas.openxmlformats.org/drawingml/2006/main">
            <a:r>
              <a:t/>
            </a:r>
          </a:p>
          <a:p xmlns:a="http://schemas.openxmlformats.org/drawingml/2006/main">
            <a:r>
              <a:t>A parent might ask: “Does MarMed offer pediatric 2D Echo?”</a:t>
            </a:r>
          </a:p>
          <a:p xmlns:a="http://schemas.openxmlformats.org/drawingml/2006/main">
            <a:r>
              <a:t/>
            </a:r>
          </a:p>
          <a:p xmlns:a="http://schemas.openxmlformats.org/drawingml/2006/main">
            <a:r>
              <a:t>And an HR manager might ask: “How can our company inquire about corporate APE packages?”</a:t>
            </a:r>
            <a:endParaRPr/>
          </a:p>
          <a:p xmlns:a="http://schemas.openxmlformats.org/drawingml/2006/main">
            <a:r>
              <a:t/>
            </a:r>
          </a:p>
          <a:p xmlns:a="http://schemas.openxmlformats.org/drawingml/2006/main">
            <a:r>
              <a:t>The experience feels immediate and conversational—but the information remains controlled by MarMed.</a:t>
            </a:r>
          </a:p>
          <a:p xmlns:a="http://schemas.openxmlformats.org/drawingml/2006/main">
            <a:r>
              <a:t/>
            </a:r>
          </a:p>
          <a:p xmlns:a="http://schemas.openxmlformats.org/drawingml/2006/main">
            <a:r>
              <a:t>That is important: KRISS AI should never invent a package, promise availability or confirm a price that MarMed has not approved. It helps people reach the right next step; it does not replace MarMed’s clinical or operational judgment.</a:t>
            </a:r>
          </a:p>
          <a:p xmlns:a="http://schemas.openxmlformats.org/drawingml/2006/main">
            <a:r>
              <a:t/>
            </a:r>
          </a:p>
          <a:p xmlns:a="http://schemas.openxmlformats.org/drawingml/2006/main">
            <a:r>
              <a:t>For Dr. Ton and the board, the key point is that MarMed does not have to decide on AI today.</a:t>
            </a:r>
          </a:p>
          <a:p xmlns:a="http://schemas.openxmlformats.org/drawingml/2006/main">
            <a:r>
              <a:t/>
            </a:r>
          </a:p>
          <a:p xmlns:a="http://schemas.openxmlformats.org/drawingml/2006/main">
            <a:r>
              <a:t>The website delivers value on its own. KRISS AI is the path MarMed can activate when it is ready—without rebuilding the digital foundation later.</a:t>
            </a:r>
          </a:p>
          <a:p xmlns:a="http://schemas.openxmlformats.org/drawingml/2006/main">
            <a:r>
              <a:t/>
            </a:r>
          </a:p>
          <a:p xmlns:a="http://schemas.openxmlformats.org/drawingml/2006/main">
            <a:r>
              <a:t>Transition</a:t>
            </a:r>
          </a:p>
          <a:p xmlns:a="http://schemas.openxmlformats.org/drawingml/2006/main">
            <a:r>
              <a:t>And because this is healthcare, that future-ready path must come with very clear boundaries.</a:t>
            </a:r>
          </a:p>
          <a:p xmlns:a="http://schemas.openxmlformats.org/drawingml/2006/main">
            <a:r>
              <a:t/>
            </a:r>
          </a:p>
          <a:p xmlns:a="http://schemas.openxmlformats.org/drawingml/2006/main">
            <a:r>
              <a:t>[Sources]</a:t>
            </a:r>
          </a:p>
          <a:p xmlns:a="http://schemas.openxmlformats.org/drawingml/2006/main">
            <a:r>
              <a:t>- Demo questions are based on MarMed’s confirmed diagnostic and corporate APE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8 — Helpful by Design. Safe by Design.</a:t>
            </a:r>
          </a:p>
          <a:p xmlns:a="http://schemas.openxmlformats.org/drawingml/2006/main">
            <a:r>
              <a:rPr b="1"/>
              <a:t/>
            </a:r>
          </a:p>
          <a:p xmlns:a="http://schemas.openxmlformats.org/drawingml/2006/main">
            <a:r>
              <a:t>This is the slide I would want the board to see before making any decision about AI.</a:t>
            </a:r>
          </a:p>
          <a:p xmlns:a="http://schemas.openxmlformats.org/drawingml/2006/main">
            <a:r>
              <a:rPr b="1"/>
              <a:t/>
            </a:r>
          </a:p>
          <a:p xmlns:a="http://schemas.openxmlformats.org/drawingml/2006/main">
            <a:r>
              <a:t>The value is not in allowing an assistant to answer everything. The value is in designing it to be helpful only within clearly approved limits.</a:t>
            </a:r>
          </a:p>
          <a:p xmlns:a="http://schemas.openxmlformats.org/drawingml/2006/main">
            <a:r>
              <a:t/>
            </a:r>
          </a:p>
          <a:p xmlns:a="http://schemas.openxmlformats.org/drawingml/2006/main">
            <a:r>
              <a:t>It can answer approved questions, guide people to the appropriate service and capture an inquiry for staff follow-up.</a:t>
            </a:r>
          </a:p>
          <a:p xmlns:a="http://schemas.openxmlformats.org/drawingml/2006/main">
            <a:r>
              <a:t/>
            </a:r>
          </a:p>
          <a:p xmlns:a="http://schemas.openxmlformats.org/drawingml/2006/main">
            <a:r>
              <a:t>But it should not diagnose, interpret results, recommend medicines, promise appointments or confirm insurance coverage.</a:t>
            </a:r>
          </a:p>
          <a:p xmlns:a="http://schemas.openxmlformats.org/drawingml/2006/main">
            <a:r>
              <a:t/>
            </a:r>
          </a:p>
          <a:p xmlns:a="http://schemas.openxmlformats.org/drawingml/2006/main">
            <a:r>
              <a:t>If a question requires clinical judgment, urgent assessment or information that has not been verified, the assistant directs the person to a MarMed professional.</a:t>
            </a:r>
          </a:p>
          <a:p xmlns:a="http://schemas.openxmlformats.org/drawingml/2006/main">
            <a:r>
              <a:t/>
            </a:r>
          </a:p>
          <a:p xmlns:a="http://schemas.openxmlformats.org/drawingml/2006/main">
            <a:r>
              <a:t>MarMed remains in control of the knowledge, the boundaries and the escalation path.</a:t>
            </a:r>
          </a:p>
          <a:p xmlns:a="http://schemas.openxmlformats.org/drawingml/2006/main">
            <a:r>
              <a:t/>
            </a:r>
          </a:p>
          <a:p xmlns:a="http://schemas.openxmlformats.org/drawingml/2006/main">
            <a:r>
              <a:t>That is why we recommend the website first. It gives management the opportunity to organize and approve the information before deciding how much of it should become conversational.</a:t>
            </a:r>
          </a:p>
          <a:p xmlns:a="http://schemas.openxmlformats.org/drawingml/2006/main">
            <a:r>
              <a:t/>
            </a:r>
          </a:p>
          <a:p xmlns:a="http://schemas.openxmlformats.org/drawingml/2006/main">
            <a:r>
              <a:rPr b="1"/>
              <a:t>So the proposal is forward-looking—but it is not reckless. It gives MarMed room to innovate at a pace the board is comfortable with.</a:t>
            </a:r>
          </a:p>
          <a:p xmlns:a="http://schemas.openxmlformats.org/drawingml/2006/main">
            <a:r>
              <a:t/>
            </a:r>
          </a:p>
          <a:p xmlns:a="http://schemas.openxmlformats.org/drawingml/2006/main">
            <a:r>
              <a:t>Transition</a:t>
            </a:r>
            <a:endParaRPr/>
          </a:p>
          <a:p xmlns:a="http://schemas.openxmlformats.org/drawingml/2006/main">
            <a:r>
              <a:t>Let us now look at what it takes to begin.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9 — A Clear Website Package With an Optional AI Path</a:t>
            </a:r>
          </a:p>
          <a:p xmlns:a="http://schemas.openxmlformats.org/drawingml/2006/main">
            <a:r>
              <a:rPr b="1"/>
              <a:t/>
            </a:r>
          </a:p>
          <a:p xmlns:a="http://schemas.openxmlformats.org/drawingml/2006/main">
            <a:r>
              <a:t>We designed the commercial structure to make the first decision straightforward.</a:t>
            </a:r>
          </a:p>
          <a:p xmlns:a="http://schemas.openxmlformats.org/drawingml/2006/main">
            <a:r>
              <a:rPr b="1"/>
              <a:t/>
            </a:r>
          </a:p>
          <a:p xmlns:a="http://schemas.openxmlformats.org/drawingml/2006/main">
            <a:r>
              <a:t>The immediate proposal is the MarMed website.</a:t>
            </a:r>
          </a:p>
          <a:p xmlns:a="http://schemas.openxmlformats.org/drawingml/2006/main">
            <a:r>
              <a:t/>
            </a:r>
          </a:p>
          <a:p xmlns:a="http://schemas.openxmlformats.org/drawingml/2006/main">
            <a:r>
              <a:t>For a one-time investment of US$1,000, MarMed receives the mobile-responsive website build, structured service pages, doctors and schedules, and the inquiry-request flow.</a:t>
            </a:r>
          </a:p>
          <a:p xmlns:a="http://schemas.openxmlformats.org/drawingml/2006/main">
            <a:r>
              <a:t/>
            </a:r>
          </a:p>
          <a:p xmlns:a="http://schemas.openxmlformats.org/drawingml/2006/main">
            <a:r>
              <a:t>The US$150 monthly maintenance keeps the site current and functional through approved updates, technical maintenance and performance checks.</a:t>
            </a:r>
          </a:p>
          <a:p xmlns:a="http://schemas.openxmlformats.org/drawingml/2006/main">
            <a:r>
              <a:t/>
            </a:r>
          </a:p>
          <a:p xmlns:a="http://schemas.openxmlformats.org/drawingml/2006/main">
            <a:r>
              <a:t>The important point is that Phase 1 already produces a complete and useful business asset.</a:t>
            </a:r>
          </a:p>
          <a:p xmlns:a="http://schemas.openxmlformats.org/drawingml/2006/main">
            <a:r>
              <a:t/>
            </a:r>
          </a:p>
          <a:p xmlns:a="http://schemas.openxmlformats.org/drawingml/2006/main">
            <a:r>
              <a:t>It gives MarMed an official digital presence that can support patients, physician discovery, individual APE inquiries and corporate opportunities.</a:t>
            </a:r>
          </a:p>
          <a:p xmlns:a="http://schemas.openxmlformats.org/drawingml/2006/main">
            <a:r>
              <a:t/>
            </a:r>
          </a:p>
          <a:p xmlns:a="http://schemas.openxmlformats.org/drawingml/2006/main">
            <a:r>
              <a:t>KRISS AI remains separate and optional at US$1,000 setup and US$199 per month.</a:t>
            </a:r>
          </a:p>
          <a:p xmlns:a="http://schemas.openxmlformats.org/drawingml/2006/main">
            <a:r>
              <a:t/>
            </a:r>
          </a:p>
          <a:p xmlns:a="http://schemas.openxmlformats.org/drawingml/2006/main">
            <a:r>
              <a:t>So the board is not being asked to approve a large, all-or-nothing digital transformation. It can approve the website first, see the foundation take shape and consider AI later from a much stronger position.</a:t>
            </a:r>
          </a:p>
          <a:p xmlns:a="http://schemas.openxmlformats.org/drawingml/2006/main">
            <a:r>
              <a:t/>
            </a:r>
          </a:p>
          <a:p xmlns:a="http://schemas.openxmlformats.org/drawingml/2006/main">
            <a:r>
              <a:t>In board terms, the recommendation is simple: begin with the asset MarMed already needs, then expand only when the value and readiness are clear.</a:t>
            </a:r>
          </a:p>
          <a:p xmlns:a="http://schemas.openxmlformats.org/drawingml/2006/main">
            <a:r>
              <a:t/>
            </a:r>
          </a:p>
          <a:p xmlns:a="http://schemas.openxmlformats.org/drawingml/2006/main">
            <a:r>
              <a:t>Transition</a:t>
            </a:r>
          </a:p>
          <a:p xmlns:a="http://schemas.openxmlformats.org/drawingml/2006/main">
            <a:r>
              <a:t>The implementation approach follows exactly that logic.</a:t>
            </a:r>
          </a:p>
          <a:p xmlns:a="http://schemas.openxmlformats.org/drawingml/2006/main">
            <a:r>
              <a:t/>
            </a:r>
          </a:p>
          <a:p xmlns:a="http://schemas.openxmlformats.org/drawingml/2006/main">
            <a:r>
              <a:t>[Sources]</a:t>
            </a:r>
          </a:p>
          <a:p xmlns:a="http://schemas.openxmlformats.org/drawingml/2006/main">
            <a:r>
              <a:t>- Commercial terms and scope are taken from the approved proposal content in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10 — Two Phases Keep Implementation Controlled</a:t>
            </a:r>
          </a:p>
          <a:p xmlns:a="http://schemas.openxmlformats.org/drawingml/2006/main">
            <a:r>
              <a:rPr b="1"/>
              <a:t/>
            </a:r>
          </a:p>
          <a:p xmlns:a="http://schemas.openxmlformats.org/drawingml/2006/main">
            <a:r>
              <a:t>There is no need for MarMed to solve everything at once.</a:t>
            </a:r>
          </a:p>
          <a:p xmlns:a="http://schemas.openxmlformats.org/drawingml/2006/main">
            <a:r>
              <a:rPr b="1"/>
              <a:t/>
            </a:r>
          </a:p>
          <a:p xmlns:a="http://schemas.openxmlformats.org/drawingml/2006/main">
            <a:r>
              <a:t>Phase 1 begins with validation. Together, we confirm the service descriptions, APE workflows, doctors, schedules, privacy language and inquiry routing.</a:t>
            </a:r>
          </a:p>
          <a:p xmlns:a="http://schemas.openxmlformats.org/drawingml/2006/main">
            <a:r>
              <a:rPr b="1"/>
              <a:t/>
            </a:r>
            <a:endParaRPr/>
          </a:p>
          <a:p xmlns:a="http://schemas.openxmlformats.org/drawingml/2006/main">
            <a:r>
              <a:t>Then we build, test and launch the mobile website.</a:t>
            </a:r>
          </a:p>
          <a:p xmlns:a="http://schemas.openxmlformats.org/drawingml/2006/main">
            <a:r>
              <a:t/>
            </a:r>
          </a:p>
          <a:p xmlns:a="http://schemas.openxmlformats.org/drawingml/2006/main">
            <a:r>
              <a:rPr b="1"/>
              <a:t>That gives MarMed a visible result: an official digital front door that can immediately begin supporting patient and corporate inquiries.</a:t>
            </a:r>
            <a:endParaRPr/>
          </a:p>
          <a:p xmlns:a="http://schemas.openxmlformats.org/drawingml/2006/main">
            <a:r>
              <a:t/>
            </a:r>
          </a:p>
          <a:p xmlns:a="http://schemas.openxmlformats.org/drawingml/2006/main">
            <a:r>
              <a:t>Phase 2 happens only if and when MarMed chooses it.</a:t>
            </a:r>
          </a:p>
          <a:p xmlns:a="http://schemas.openxmlformats.org/drawingml/2006/main">
            <a:r>
              <a:t/>
            </a:r>
          </a:p>
          <a:p xmlns:a="http://schemas.openxmlformats.org/drawingml/2006/main">
            <a:r>
              <a:t>At that point, the information has already been organized and approved. We can build the KRISS AI knowledge base, test the boundaries and activate only the inquiry categories management is comfortable with.</a:t>
            </a:r>
          </a:p>
          <a:p xmlns:a="http://schemas.openxmlformats.org/drawingml/2006/main">
            <a:r>
              <a:t/>
            </a:r>
          </a:p>
          <a:p xmlns:a="http://schemas.openxmlformats.org/drawingml/2006/main">
            <a:r>
              <a:t>This structure reduces risk because every major step remains visible, reviewable and reversible before launch.</a:t>
            </a:r>
          </a:p>
          <a:p xmlns:a="http://schemas.openxmlformats.org/drawingml/2006/main">
            <a:r>
              <a:t/>
            </a:r>
          </a:p>
          <a:p xmlns:a="http://schemas.openxmlformats.org/drawingml/2006/main">
            <a:r>
              <a:t>It also gives Dr. Ton and the board a clean decision today: approve the website foundation without being forced to decide the entire AI roadmap.</a:t>
            </a:r>
          </a:p>
          <a:p xmlns:a="http://schemas.openxmlformats.org/drawingml/2006/main">
            <a:r>
              <a:t/>
            </a:r>
          </a:p>
          <a:p xmlns:a="http://schemas.openxmlformats.org/drawingml/2006/main">
            <a:r>
              <a:t>Transition</a:t>
            </a:r>
          </a:p>
          <a:p xmlns:a="http://schemas.openxmlformats.org/drawingml/2006/main">
            <a:r>
              <a:t>Which brings us to the recommendation we hope you will consider.</a:t>
            </a:r>
          </a:p>
          <a:p xmlns:a="http://schemas.openxmlformats.org/drawingml/2006/main">
            <a:r>
              <a:t/>
            </a:r>
          </a:p>
          <a:p xmlns:a="http://schemas.openxmlformats.org/drawingml/2006/main">
            <a:r>
              <a:t>[Sources]</a:t>
            </a:r>
          </a:p>
          <a:p xmlns:a="http://schemas.openxmlformats.org/drawingml/2006/main">
            <a:r>
              <a:t>- Implementation stages reflect the scope and governance approach defined in the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Slide 11 — Approve Phase 1: MarMed Website Development</a:t>
            </a:r>
          </a:p>
          <a:p xmlns:a="http://schemas.openxmlformats.org/drawingml/2006/main">
            <a:r>
              <a:rPr b="1"/>
              <a:t/>
            </a:r>
          </a:p>
          <a:p xmlns:a="http://schemas.openxmlformats.org/drawingml/2006/main">
            <a:r>
              <a:t>Dr. Sol, MarMed already has the substance.</a:t>
            </a:r>
          </a:p>
          <a:p xmlns:a="http://schemas.openxmlformats.org/drawingml/2006/main">
            <a:r>
              <a:rPr b="1"/>
              <a:t/>
            </a:r>
          </a:p>
          <a:p xmlns:a="http://schemas.openxmlformats.org/drawingml/2006/main">
            <a:r>
              <a:t>It has the services. It has the clinical capability. It has opportunities with individual patients and corporate partners.</a:t>
            </a:r>
          </a:p>
          <a:p xmlns:a="http://schemas.openxmlformats.org/drawingml/2006/main">
            <a:r>
              <a:t/>
            </a:r>
          </a:p>
          <a:p xmlns:a="http://schemas.openxmlformats.org/drawingml/2006/main">
            <a:r>
              <a:t>What it does not yet have is a digital front door that brings all of that value together and presents it with the credibility it deserves.</a:t>
            </a:r>
          </a:p>
          <a:p xmlns:a="http://schemas.openxmlformats.org/drawingml/2006/main">
            <a:r>
              <a:t/>
            </a:r>
          </a:p>
          <a:p xmlns:a="http://schemas.openxmlformats.org/drawingml/2006/main">
            <a:r>
              <a:t>That is why our recommendation is to proceed with Phase 1: MarMed website development.</a:t>
            </a:r>
          </a:p>
          <a:p xmlns:a="http://schemas.openxmlformats.org/drawingml/2006/main">
            <a:r>
              <a:t/>
            </a:r>
          </a:p>
          <a:p xmlns:a="http://schemas.openxmlformats.org/drawingml/2006/main">
            <a:r>
              <a:t>The next steps are practical: confirm the package and commercial terms, appoint the content approver, provide the clinic photographs and physician roster, and finalize the service details, APE workflow, inquiry routing and kickoff date.</a:t>
            </a:r>
          </a:p>
          <a:p xmlns:a="http://schemas.openxmlformats.org/drawingml/2006/main">
            <a:r>
              <a:t/>
            </a:r>
          </a:p>
          <a:p xmlns:a="http://schemas.openxmlformats.org/drawingml/2006/main">
            <a:r>
              <a:t>KRISS AI can remain an optional Phase 2 decision.</a:t>
            </a:r>
          </a:p>
          <a:p xmlns:a="http://schemas.openxmlformats.org/drawingml/2006/main">
            <a:r>
              <a:t/>
            </a:r>
          </a:p>
          <a:p xmlns:a="http://schemas.openxmlformats.org/drawingml/2006/main">
            <a:r>
              <a:t>What we hope you can bring to Dr. Ton and the board is this:</a:t>
            </a:r>
          </a:p>
          <a:p xmlns:a="http://schemas.openxmlformats.org/drawingml/2006/main">
            <a:r>
              <a:t/>
            </a:r>
          </a:p>
          <a:p xmlns:a="http://schemas.openxmlformats.org/drawingml/2006/main">
            <a:r>
              <a:t>“MarMed does not need to begin with a complicated AI project. We can begin with a professional website that makes our services easier to discover, strengthens our official presence and creates a foundation we can build on.”</a:t>
            </a:r>
          </a:p>
          <a:p xmlns:a="http://schemas.openxmlformats.org/drawingml/2006/main">
            <a:r>
              <a:t/>
            </a:r>
          </a:p>
          <a:p xmlns:a="http://schemas.openxmlformats.org/drawingml/2006/main">
            <a:r>
              <a:t>That is a controlled first step—but it can make a very visible difference in how patients, physicians and corporate partners experience MarMed.</a:t>
            </a:r>
          </a:p>
          <a:p xmlns:a="http://schemas.openxmlformats.org/drawingml/2006/main">
            <a:r>
              <a:t/>
            </a:r>
          </a:p>
          <a:p xmlns:a="http://schemas.openxmlformats.org/drawingml/2006/main">
            <a:r>
              <a:t>Dr. Sol, based on what you have seen today, would you feel comfortable recommending to Dr. Ton that MarMed proceed with the website as Phase 1?</a:t>
            </a:r>
          </a:p>
          <a:p xmlns:a="http://schemas.openxmlformats.org/drawingml/2006/main">
            <a:r>
              <a:t/>
            </a:r>
          </a:p>
          <a:p xmlns:a="http://schemas.openxmlformats.org/drawingml/2006/main">
            <a:r>
              <a:t>[PAUSE AND ALLOW DR. SOL TO RESPOND]</a:t>
            </a:r>
          </a:p>
          <a:p xmlns:a="http://schemas.openxmlformats.org/drawingml/2006/main">
            <a:r>
              <a:t/>
            </a:r>
          </a:p>
          <a:p xmlns:a="http://schemas.openxmlformats.org/drawingml/2006/main">
            <a:r>
              <a:t>[Sources]</a:t>
            </a:r>
          </a:p>
          <a:p xmlns:a="http://schemas.openxmlformats.org/drawingml/2006/main">
            <a:r>
              <a:t>- Closing recommendation reflects the website-first commercial structure and management-confirmed MarMed service portfolio.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e60177c2784d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41856961a4e92" /><Relationship Type="http://schemas.openxmlformats.org/officeDocument/2006/relationships/slideLayout" Target="/ppt/slideLayouts/slideLayout1.xml" Id="R08422916892b4a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422916892b4a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3aec72d2d074a3f" /><Relationship Type="http://schemas.openxmlformats.org/officeDocument/2006/relationships/image" Target="/ppt/media/image.png" Id="R5cf4a3f4afe141fb" /><Relationship Type="http://schemas.openxmlformats.org/officeDocument/2006/relationships/image" Target="/ppt/media/image2.png" Id="R3c001b2a87084b45" /><Relationship Type="http://schemas.openxmlformats.org/officeDocument/2006/relationships/notesSlide" Target="/ppt/notesSlides/notesSlide1.xml" Id="Rac5e9a8d72e54a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198a1e2d3f4fb7" /><Relationship Type="http://schemas.openxmlformats.org/officeDocument/2006/relationships/image" Target="/ppt/media/image3.png" Id="R5543f62795cf41d4" /><Relationship Type="http://schemas.openxmlformats.org/officeDocument/2006/relationships/notesSlide" Target="/ppt/notesSlides/notesSlide2.xml" Id="R4ff949d9cffb4c0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1a847dc9a24b82" /><Relationship Type="http://schemas.openxmlformats.org/officeDocument/2006/relationships/image" Target="/ppt/media/image4.png" Id="R3f1fc705d7204d05" /><Relationship Type="http://schemas.openxmlformats.org/officeDocument/2006/relationships/notesSlide" Target="/ppt/notesSlides/notesSlide3.xml" Id="Rc086be427e2140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ff6a633edb4408" /><Relationship Type="http://schemas.openxmlformats.org/officeDocument/2006/relationships/image" Target="/ppt/media/image2.png" Id="Ra1b19c509c774175" /><Relationship Type="http://schemas.openxmlformats.org/officeDocument/2006/relationships/notesSlide" Target="/ppt/notesSlides/notesSlide4.xml" Id="Rf1d1da4e12b148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80225e9fd2b4076" /><Relationship Type="http://schemas.openxmlformats.org/officeDocument/2006/relationships/image" Target="/ppt/media/image5.png" Id="R959c1be3b6864765" /><Relationship Type="http://schemas.openxmlformats.org/officeDocument/2006/relationships/notesSlide" Target="/ppt/notesSlides/notesSlide5.xml" Id="R12867b21b61441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025cde96754008" /><Relationship Type="http://schemas.openxmlformats.org/officeDocument/2006/relationships/notesSlide" Target="/ppt/notesSlides/notesSlide6.xml" Id="R7d4d81779161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c872d6ca144f91" /><Relationship Type="http://schemas.openxmlformats.org/officeDocument/2006/relationships/image" Target="/ppt/media/image6.png" Id="Raaa9dd6c9e424d96" /><Relationship Type="http://schemas.openxmlformats.org/officeDocument/2006/relationships/notesSlide" Target="/ppt/notesSlides/notesSlide7.xml" Id="Rae41b59e6e404ee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67a715a2ca4179" /><Relationship Type="http://schemas.openxmlformats.org/officeDocument/2006/relationships/notesSlide" Target="/ppt/notesSlides/notesSlide8.xml" Id="R3ccffc7b38ba431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cac257cfdbf49f3" /><Relationship Type="http://schemas.openxmlformats.org/officeDocument/2006/relationships/notesSlide" Target="/ppt/notesSlides/notesSlide9.xml" Id="R2b31d496aebf4dd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c1bcb6dc4ba4897" /><Relationship Type="http://schemas.openxmlformats.org/officeDocument/2006/relationships/notesSlide" Target="/ppt/notesSlides/notesSlide10.xml" Id="R50cf552b656244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8da3843dc694a1a" /><Relationship Type="http://schemas.openxmlformats.org/officeDocument/2006/relationships/notesSlide" Target="/ppt/notesSlides/notesSlide11.xml" Id="R34696c54265942e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1" name="Picture 8"/>
          <p:cNvPicPr>
            <a:picLocks xmlns:a="http://schemas.openxmlformats.org/drawingml/2006/main" noChangeAspect="1"/>
          </p:cNvPicPr>
          <p:nvPr/>
        </p:nvPicPr>
        <p:blipFill>
          <a:blip xmlns:r="http://schemas.openxmlformats.org/officeDocument/2006/relationships" xmlns:a="http://schemas.openxmlformats.org/drawingml/2006/main" r:embed="R5cf4a3f4afe141f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Rectangle 1">
            <a:extLst xmlns:a="http://schemas.openxmlformats.org/drawingml/2006/main">
              <a:ext uri="{FF2B5EF4-FFF2-40B4-BE49-F238E27FC236}">
                <a16:creationId xmlns:a16="http://schemas.microsoft.com/office/drawing/2014/main" id="{308CA379-2D8C-4CB6-B870-1BE31C3A1AF8}"/>
              </a:ext>
            </a:extLst>
          </p:cNvPr>
          <p:cNvSpPr>
            <a:spLocks xmlns:a="http://schemas.openxmlformats.org/drawingml/2006/main" noGrp="1"/>
          </p:cNvSpPr>
          <p:nvPr/>
        </p:nvSpPr>
        <p:spPr>
          <a:xfrm xmlns:a="http://schemas.openxmlformats.org/drawingml/2006/main">
            <a:off x="0" y="0"/>
            <a:ext cx="6286500" cy="6858000"/>
          </a:xfrm>
          <a:prstGeom xmlns:a="http://schemas.openxmlformats.org/drawingml/2006/main" prst="rect">
            <a:avLst/>
          </a:prstGeom>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 name="Rectangle 2">
            <a:extLst xmlns:a="http://schemas.openxmlformats.org/drawingml/2006/main">
              <a:ext uri="{FF2B5EF4-FFF2-40B4-BE49-F238E27FC236}">
                <a16:creationId xmlns:a16="http://schemas.microsoft.com/office/drawing/2014/main" id="{0ECCEDCE-40CC-47A1-9068-DCC688406F01}"/>
              </a:ext>
            </a:extLst>
          </p:cNvPr>
          <p:cNvSpPr>
            <a:spLocks xmlns:a="http://schemas.openxmlformats.org/drawingml/2006/main" noGrp="1"/>
          </p:cNvSpPr>
          <p:nvPr/>
        </p:nvSpPr>
        <p:spPr>
          <a:xfrm xmlns:a="http://schemas.openxmlformats.org/drawingml/2006/main">
            <a:off x="685800" y="1123950"/>
            <a:ext cx="4953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123B55"/>
                </a:solidFill>
              </a:defRPr>
            </a:pPr>
            <a:r>
              <a:rPr sz="3750" b="1">
                <a:solidFill>
                  <a:srgbClr val="123B55"/>
                </a:solidFill>
              </a:rPr>
              <a:t>A better digital front door for MarMed Diagnostics</a:t>
            </a:r>
          </a:p>
        </p:txBody>
      </p:sp>
      <p:sp>
        <p:nvSpPr>
          <p:cNvPr id="4" name="Rectangle 3">
            <a:extLst xmlns:a="http://schemas.openxmlformats.org/drawingml/2006/main">
              <a:ext uri="{FF2B5EF4-FFF2-40B4-BE49-F238E27FC236}">
                <a16:creationId xmlns:a16="http://schemas.microsoft.com/office/drawing/2014/main" id="{3D13CA6E-9413-4242-8D90-7CD26A23A297}"/>
              </a:ext>
            </a:extLst>
          </p:cNvPr>
          <p:cNvSpPr>
            <a:spLocks xmlns:a="http://schemas.openxmlformats.org/drawingml/2006/main" noGrp="1"/>
          </p:cNvSpPr>
          <p:nvPr/>
        </p:nvSpPr>
        <p:spPr>
          <a:xfrm xmlns:a="http://schemas.openxmlformats.org/drawingml/2006/main">
            <a:off x="685800" y="327660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D7079"/>
                </a:solidFill>
              </a:defRPr>
            </a:pPr>
            <a:r>
              <a:rPr sz="1650" b="1">
                <a:solidFill>
                  <a:srgbClr val="5D7079"/>
                </a:solidFill>
              </a:rPr>
              <a:t>An AI-ready website with the option to add KRISS AI</a:t>
            </a:r>
          </a:p>
        </p:txBody>
      </p:sp>
      <p:sp>
        <p:nvSpPr>
          <p:cNvPr id="5" name="Rectangle 4">
            <a:extLst xmlns:a="http://schemas.openxmlformats.org/drawingml/2006/main">
              <a:ext uri="{FF2B5EF4-FFF2-40B4-BE49-F238E27FC236}">
                <a16:creationId xmlns:a16="http://schemas.microsoft.com/office/drawing/2014/main" id="{9E57F8F3-B073-4EF9-998D-8F58135AC1B9}"/>
              </a:ext>
            </a:extLst>
          </p:cNvPr>
          <p:cNvSpPr>
            <a:spLocks xmlns:a="http://schemas.openxmlformats.org/drawingml/2006/main" noGrp="1"/>
          </p:cNvSpPr>
          <p:nvPr/>
        </p:nvSpPr>
        <p:spPr>
          <a:xfrm xmlns:a="http://schemas.openxmlformats.org/drawingml/2006/main">
            <a:off x="685800" y="4286250"/>
            <a:ext cx="1524000" cy="38100"/>
          </a:xfrm>
          <a:prstGeom xmlns:a="http://schemas.openxmlformats.org/drawingml/2006/main" prst="rect">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DA86B067-1870-4992-9538-D36EAF678393}"/>
              </a:ext>
            </a:extLst>
          </p:cNvPr>
          <p:cNvSpPr>
            <a:spLocks xmlns:a="http://schemas.openxmlformats.org/drawingml/2006/main" noGrp="1"/>
          </p:cNvSpPr>
          <p:nvPr/>
        </p:nvSpPr>
        <p:spPr>
          <a:xfrm xmlns:a="http://schemas.openxmlformats.org/drawingml/2006/main">
            <a:off x="685800" y="46482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8323F"/>
                </a:solidFill>
              </a:defRPr>
            </a:pPr>
            <a:r>
              <a:rPr sz="1200" b="1">
                <a:solidFill>
                  <a:srgbClr val="18323F"/>
                </a:solidFill>
              </a:rPr>
              <a:t>Upserv x MarMed Diagnostics</a:t>
            </a:r>
          </a:p>
        </p:txBody>
      </p:sp>
      <p:sp>
        <p:nvSpPr>
          <p:cNvPr id="7" name="Rectangle 6">
            <a:extLst xmlns:a="http://schemas.openxmlformats.org/drawingml/2006/main">
              <a:ext uri="{FF2B5EF4-FFF2-40B4-BE49-F238E27FC236}">
                <a16:creationId xmlns:a16="http://schemas.microsoft.com/office/drawing/2014/main" id="{B057A794-A994-4FD3-BA24-54E0FCB20B12}"/>
              </a:ext>
            </a:extLst>
          </p:cNvPr>
          <p:cNvSpPr>
            <a:spLocks xmlns:a="http://schemas.openxmlformats.org/drawingml/2006/main" noGrp="1"/>
          </p:cNvSpPr>
          <p:nvPr/>
        </p:nvSpPr>
        <p:spPr>
          <a:xfrm xmlns:a="http://schemas.openxmlformats.org/drawingml/2006/main">
            <a:off x="685800" y="49720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5D7079"/>
                </a:solidFill>
              </a:defRPr>
            </a:pPr>
            <a:r>
              <a:rPr sz="1050" b="0">
                <a:solidFill>
                  <a:srgbClr val="5D7079"/>
                </a:solidFill>
              </a:rPr>
              <a:t>August 28, 2026</a:t>
            </a:r>
          </a:p>
        </p:txBody>
      </p:sp>
      <p:sp>
        <p:nvSpPr>
          <p:cNvPr id="8" name="Rectangle 7">
            <a:extLst xmlns:a="http://schemas.openxmlformats.org/drawingml/2006/main">
              <a:ext uri="{FF2B5EF4-FFF2-40B4-BE49-F238E27FC236}">
                <a16:creationId xmlns:a16="http://schemas.microsoft.com/office/drawing/2014/main" id="{A32EAD49-1617-41D5-9014-71C93436FE23}"/>
              </a:ext>
            </a:extLst>
          </p:cNvPr>
          <p:cNvSpPr>
            <a:spLocks xmlns:a="http://schemas.openxmlformats.org/drawingml/2006/main" noGrp="1"/>
          </p:cNvSpPr>
          <p:nvPr/>
        </p:nvSpPr>
        <p:spPr>
          <a:xfrm xmlns:a="http://schemas.openxmlformats.org/drawingml/2006/main">
            <a:off x="1409700" y="56197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73F59"/>
                </a:solidFill>
              </a:defRPr>
            </a:pPr>
            <a:r>
              <a:rPr sz="900" b="1">
                <a:solidFill>
                  <a:srgbClr val="173F59"/>
                </a:solidFill>
              </a:rPr>
              <a:t>Marikina Medical Doctors Clinic and Laboratory</a:t>
            </a:r>
          </a:p>
        </p:txBody>
      </p:sp>
      <p:pic>
        <p:nvPicPr>
          <p:cNvPr id="19" name="Picture 18"/>
          <p:cNvPicPr>
            <a:picLocks xmlns:a="http://schemas.openxmlformats.org/drawingml/2006/main" noChangeAspect="1"/>
          </p:cNvPicPr>
          <p:nvPr/>
        </p:nvPicPr>
        <p:blipFill>
          <a:blip xmlns:r="http://schemas.openxmlformats.org/officeDocument/2006/relationships" xmlns:a="http://schemas.openxmlformats.org/drawingml/2006/main" r:embed="R3c001b2a87084b45"/>
          <a:stretch xmlns:a="http://schemas.openxmlformats.org/drawingml/2006/main"/>
        </p:blipFill>
        <p:spPr>
          <a:xfrm xmlns:a="http://schemas.openxmlformats.org/drawingml/2006/main">
            <a:off x="685800" y="5429250"/>
            <a:ext cx="609600" cy="609600"/>
          </a:xfrm>
          <a:prstGeom xmlns:a="http://schemas.openxmlformats.org/drawingml/2006/main" prst="rect">
            <a:avLst/>
          </a:prstGeom>
        </p:spPr>
      </p:pic>
    </p:spTree>
    <p:extLst>
      <p:ext uri="{BB962C8B-B14F-4D97-AF65-F5344CB8AC3E}">
        <p14:creationId xmlns:p14="http://schemas.microsoft.com/office/powerpoint/2010/main" val="409115097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A5209C20-74E2-4167-BDC2-B4F918AFFCFD}"/>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THE STARTING POINT</a:t>
            </a:r>
          </a:p>
        </p:txBody>
      </p:sp>
      <p:sp>
        <p:nvSpPr>
          <p:cNvPr id="2" name="Rectangle 1">
            <a:extLst xmlns:a="http://schemas.openxmlformats.org/drawingml/2006/main">
              <a:ext uri="{FF2B5EF4-FFF2-40B4-BE49-F238E27FC236}">
                <a16:creationId xmlns:a16="http://schemas.microsoft.com/office/drawing/2014/main" id="{F974B906-F12D-4830-84B4-F542D056919D}"/>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MarMed’s value needs a clearer digital expression</a:t>
            </a:r>
          </a:p>
        </p:txBody>
      </p:sp>
      <p:sp>
        <p:nvSpPr>
          <p:cNvPr id="3" name="Rectangle 2">
            <a:extLst xmlns:a="http://schemas.openxmlformats.org/drawingml/2006/main">
              <a:ext uri="{FF2B5EF4-FFF2-40B4-BE49-F238E27FC236}">
                <a16:creationId xmlns:a16="http://schemas.microsoft.com/office/drawing/2014/main" id="{9BA276A4-4C0B-439D-A6A8-53C791BEFF1D}"/>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02</a:t>
            </a:r>
          </a:p>
        </p:txBody>
      </p:sp>
      <p:sp>
        <p:nvSpPr>
          <p:cNvPr id="4" name="Rectangle 3">
            <a:extLst xmlns:a="http://schemas.openxmlformats.org/drawingml/2006/main">
              <a:ext uri="{FF2B5EF4-FFF2-40B4-BE49-F238E27FC236}">
                <a16:creationId xmlns:a16="http://schemas.microsoft.com/office/drawing/2014/main" id="{76E2BEE3-AFF6-4408-B36A-AB23EB85EE20}"/>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E81DAF2E-E1E4-4E9A-B9FF-A508565AE833}"/>
              </a:ext>
            </a:extLst>
          </p:cNvPr>
          <p:cNvSpPr>
            <a:spLocks xmlns:a="http://schemas.openxmlformats.org/drawingml/2006/main" noGrp="1"/>
          </p:cNvSpPr>
          <p:nvPr/>
        </p:nvSpPr>
        <p:spPr>
          <a:xfrm xmlns:a="http://schemas.openxmlformats.org/drawingml/2006/main">
            <a:off x="685800" y="1733550"/>
            <a:ext cx="561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23B55"/>
                </a:solidFill>
              </a:defRPr>
            </a:pPr>
            <a:r>
              <a:rPr sz="2025" b="1">
                <a:solidFill>
                  <a:srgbClr val="123B55"/>
                </a:solidFill>
              </a:rPr>
              <a:t>One location. Multiple outpatient needs.</a:t>
            </a:r>
          </a:p>
        </p:txBody>
      </p:sp>
      <p:sp>
        <p:nvSpPr>
          <p:cNvPr id="6" name="Rectangle 5">
            <a:extLst xmlns:a="http://schemas.openxmlformats.org/drawingml/2006/main">
              <a:ext uri="{FF2B5EF4-FFF2-40B4-BE49-F238E27FC236}">
                <a16:creationId xmlns:a16="http://schemas.microsoft.com/office/drawing/2014/main" id="{0E86E9C6-F22B-44B3-92EC-5074F2E0BC41}"/>
              </a:ext>
            </a:extLst>
          </p:cNvPr>
          <p:cNvSpPr>
            <a:spLocks xmlns:a="http://schemas.openxmlformats.org/drawingml/2006/main" noGrp="1"/>
          </p:cNvSpPr>
          <p:nvPr/>
        </p:nvSpPr>
        <p:spPr>
          <a:xfrm xmlns:a="http://schemas.openxmlformats.org/drawingml/2006/main">
            <a:off x="685800" y="220980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5D7079"/>
                </a:solidFill>
              </a:defRPr>
            </a:pPr>
            <a:r>
              <a:rPr sz="1500" b="0">
                <a:solidFill>
                  <a:srgbClr val="5D7079"/>
                </a:solidFill>
              </a:rPr>
              <a:t>The opportunity is to make MarMed’s existing value easier for patients to see and access.</a:t>
            </a:r>
          </a:p>
        </p:txBody>
      </p:sp>
      <p:sp>
        <p:nvSpPr>
          <p:cNvPr id="7" name="Rectangle 6">
            <a:extLst xmlns:a="http://schemas.openxmlformats.org/drawingml/2006/main">
              <a:ext uri="{FF2B5EF4-FFF2-40B4-BE49-F238E27FC236}">
                <a16:creationId xmlns:a16="http://schemas.microsoft.com/office/drawing/2014/main" id="{4A511B06-D129-4BBC-9B27-36EE0B1767AE}"/>
              </a:ext>
            </a:extLst>
          </p:cNvPr>
          <p:cNvSpPr>
            <a:spLocks xmlns:a="http://schemas.openxmlformats.org/drawingml/2006/main" noGrp="1"/>
          </p:cNvSpPr>
          <p:nvPr/>
        </p:nvSpPr>
        <p:spPr>
          <a:xfrm xmlns:a="http://schemas.openxmlformats.org/drawingml/2006/main">
            <a:off x="685800" y="33337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A8C87"/>
                </a:solidFill>
              </a:defRPr>
            </a:pPr>
            <a:r>
              <a:rPr sz="900" b="1">
                <a:solidFill>
                  <a:srgbClr val="2A8C87"/>
                </a:solidFill>
              </a:rPr>
              <a:t>CARE</a:t>
            </a:r>
          </a:p>
        </p:txBody>
      </p:sp>
      <p:sp>
        <p:nvSpPr>
          <p:cNvPr id="8" name="Rectangle 7">
            <a:extLst xmlns:a="http://schemas.openxmlformats.org/drawingml/2006/main">
              <a:ext uri="{FF2B5EF4-FFF2-40B4-BE49-F238E27FC236}">
                <a16:creationId xmlns:a16="http://schemas.microsoft.com/office/drawing/2014/main" id="{E5A35112-C8F3-416C-BE33-F4AB4B704A0D}"/>
              </a:ext>
            </a:extLst>
          </p:cNvPr>
          <p:cNvSpPr>
            <a:spLocks xmlns:a="http://schemas.openxmlformats.org/drawingml/2006/main" noGrp="1"/>
          </p:cNvSpPr>
          <p:nvPr/>
        </p:nvSpPr>
        <p:spPr>
          <a:xfrm xmlns:a="http://schemas.openxmlformats.org/drawingml/2006/main">
            <a:off x="1809750" y="32956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8323F"/>
                </a:solidFill>
              </a:defRPr>
            </a:pPr>
            <a:r>
              <a:rPr sz="1500" b="1">
                <a:solidFill>
                  <a:srgbClr val="18323F"/>
                </a:solidFill>
              </a:rPr>
              <a:t>Multispecialty clinic</a:t>
            </a:r>
          </a:p>
        </p:txBody>
      </p:sp>
      <p:sp>
        <p:nvSpPr>
          <p:cNvPr id="9" name="Rectangle 8">
            <a:extLst xmlns:a="http://schemas.openxmlformats.org/drawingml/2006/main">
              <a:ext uri="{FF2B5EF4-FFF2-40B4-BE49-F238E27FC236}">
                <a16:creationId xmlns:a16="http://schemas.microsoft.com/office/drawing/2014/main" id="{1AE28C76-AFB4-44EC-AF69-B76752C93391}"/>
              </a:ext>
            </a:extLst>
          </p:cNvPr>
          <p:cNvSpPr>
            <a:spLocks xmlns:a="http://schemas.openxmlformats.org/drawingml/2006/main" noGrp="1"/>
          </p:cNvSpPr>
          <p:nvPr/>
        </p:nvSpPr>
        <p:spPr>
          <a:xfrm xmlns:a="http://schemas.openxmlformats.org/drawingml/2006/main">
            <a:off x="685800" y="3667125"/>
            <a:ext cx="512445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CB2C678C-E9B4-48F8-99A1-9E6D35C84DB4}"/>
              </a:ext>
            </a:extLst>
          </p:cNvPr>
          <p:cNvSpPr>
            <a:spLocks xmlns:a="http://schemas.openxmlformats.org/drawingml/2006/main" noGrp="1"/>
          </p:cNvSpPr>
          <p:nvPr/>
        </p:nvSpPr>
        <p:spPr>
          <a:xfrm xmlns:a="http://schemas.openxmlformats.org/drawingml/2006/main">
            <a:off x="685800" y="396240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A8C87"/>
                </a:solidFill>
              </a:defRPr>
            </a:pPr>
            <a:r>
              <a:rPr sz="900" b="1">
                <a:solidFill>
                  <a:srgbClr val="2A8C87"/>
                </a:solidFill>
              </a:rPr>
              <a:t>DIAGNOSTICS</a:t>
            </a:r>
          </a:p>
        </p:txBody>
      </p:sp>
      <p:sp>
        <p:nvSpPr>
          <p:cNvPr id="11" name="Rectangle 10">
            <a:extLst xmlns:a="http://schemas.openxmlformats.org/drawingml/2006/main">
              <a:ext uri="{FF2B5EF4-FFF2-40B4-BE49-F238E27FC236}">
                <a16:creationId xmlns:a16="http://schemas.microsoft.com/office/drawing/2014/main" id="{44AE3E93-5095-4B09-BAF4-1225E9B3A3E1}"/>
              </a:ext>
            </a:extLst>
          </p:cNvPr>
          <p:cNvSpPr>
            <a:spLocks xmlns:a="http://schemas.openxmlformats.org/drawingml/2006/main" noGrp="1"/>
          </p:cNvSpPr>
          <p:nvPr/>
        </p:nvSpPr>
        <p:spPr>
          <a:xfrm xmlns:a="http://schemas.openxmlformats.org/drawingml/2006/main">
            <a:off x="1809750" y="39243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8323F"/>
                </a:solidFill>
              </a:defRPr>
            </a:pPr>
            <a:r>
              <a:rPr sz="1500" b="1">
                <a:solidFill>
                  <a:srgbClr val="18323F"/>
                </a:solidFill>
              </a:rPr>
              <a:t>2D Echo, imaging, ultrasound &amp; scans</a:t>
            </a:r>
          </a:p>
        </p:txBody>
      </p:sp>
      <p:sp>
        <p:nvSpPr>
          <p:cNvPr id="12" name="Rectangle 11">
            <a:extLst xmlns:a="http://schemas.openxmlformats.org/drawingml/2006/main">
              <a:ext uri="{FF2B5EF4-FFF2-40B4-BE49-F238E27FC236}">
                <a16:creationId xmlns:a16="http://schemas.microsoft.com/office/drawing/2014/main" id="{0C2123BF-2CEE-4B69-BECE-55615F8D9513}"/>
              </a:ext>
            </a:extLst>
          </p:cNvPr>
          <p:cNvSpPr>
            <a:spLocks xmlns:a="http://schemas.openxmlformats.org/drawingml/2006/main" noGrp="1"/>
          </p:cNvSpPr>
          <p:nvPr/>
        </p:nvSpPr>
        <p:spPr>
          <a:xfrm xmlns:a="http://schemas.openxmlformats.org/drawingml/2006/main">
            <a:off x="685800" y="4295775"/>
            <a:ext cx="512445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Rectangle 12">
            <a:extLst xmlns:a="http://schemas.openxmlformats.org/drawingml/2006/main">
              <a:ext uri="{FF2B5EF4-FFF2-40B4-BE49-F238E27FC236}">
                <a16:creationId xmlns:a16="http://schemas.microsoft.com/office/drawing/2014/main" id="{E95C7486-31A8-486E-B512-461549A649E2}"/>
              </a:ext>
            </a:extLst>
          </p:cNvPr>
          <p:cNvSpPr>
            <a:spLocks xmlns:a="http://schemas.openxmlformats.org/drawingml/2006/main" noGrp="1"/>
          </p:cNvSpPr>
          <p:nvPr/>
        </p:nvSpPr>
        <p:spPr>
          <a:xfrm xmlns:a="http://schemas.openxmlformats.org/drawingml/2006/main">
            <a:off x="685800" y="459105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2A8C87"/>
                </a:solidFill>
              </a:defRPr>
            </a:pPr>
            <a:r>
              <a:rPr sz="900" b="1">
                <a:solidFill>
                  <a:srgbClr val="2A8C87"/>
                </a:solidFill>
              </a:rPr>
              <a:t>PROCEDURES</a:t>
            </a:r>
          </a:p>
        </p:txBody>
      </p:sp>
      <p:sp>
        <p:nvSpPr>
          <p:cNvPr id="14" name="Rectangle 13">
            <a:extLst xmlns:a="http://schemas.openxmlformats.org/drawingml/2006/main">
              <a:ext uri="{FF2B5EF4-FFF2-40B4-BE49-F238E27FC236}">
                <a16:creationId xmlns:a16="http://schemas.microsoft.com/office/drawing/2014/main" id="{60A876EB-E694-4E2E-89EF-9F7C13C7BCD5}"/>
              </a:ext>
            </a:extLst>
          </p:cNvPr>
          <p:cNvSpPr>
            <a:spLocks xmlns:a="http://schemas.openxmlformats.org/drawingml/2006/main" noGrp="1"/>
          </p:cNvSpPr>
          <p:nvPr/>
        </p:nvSpPr>
        <p:spPr>
          <a:xfrm xmlns:a="http://schemas.openxmlformats.org/drawingml/2006/main">
            <a:off x="1809750" y="45529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8323F"/>
                </a:solidFill>
              </a:defRPr>
            </a:pPr>
            <a:r>
              <a:rPr sz="1500" b="1">
                <a:solidFill>
                  <a:srgbClr val="18323F"/>
                </a:solidFill>
              </a:rPr>
              <a:t>Ambulatory surgery • wound/ostomy</a:t>
            </a:r>
          </a:p>
        </p:txBody>
      </p:sp>
      <p:sp>
        <p:nvSpPr>
          <p:cNvPr id="15" name="Rectangle 14">
            <a:extLst xmlns:a="http://schemas.openxmlformats.org/drawingml/2006/main">
              <a:ext uri="{FF2B5EF4-FFF2-40B4-BE49-F238E27FC236}">
                <a16:creationId xmlns:a16="http://schemas.microsoft.com/office/drawing/2014/main" id="{A7E5EC42-373C-4A40-BD2A-D38325491F5E}"/>
              </a:ext>
            </a:extLst>
          </p:cNvPr>
          <p:cNvSpPr>
            <a:spLocks xmlns:a="http://schemas.openxmlformats.org/drawingml/2006/main" noGrp="1"/>
          </p:cNvSpPr>
          <p:nvPr/>
        </p:nvSpPr>
        <p:spPr>
          <a:xfrm xmlns:a="http://schemas.openxmlformats.org/drawingml/2006/main">
            <a:off x="685800" y="4924425"/>
            <a:ext cx="512445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656DBDD1-7621-416F-9B8A-49A47F624DB4}"/>
              </a:ext>
            </a:extLst>
          </p:cNvPr>
          <p:cNvSpPr>
            <a:spLocks xmlns:a="http://schemas.openxmlformats.org/drawingml/2006/main" noGrp="1"/>
          </p:cNvSpPr>
          <p:nvPr/>
        </p:nvSpPr>
        <p:spPr>
          <a:xfrm xmlns:a="http://schemas.openxmlformats.org/drawingml/2006/main">
            <a:off x="685800" y="5219700"/>
            <a:ext cx="99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5C9B70"/>
                </a:solidFill>
              </a:defRPr>
            </a:pPr>
            <a:r>
              <a:rPr sz="900" b="1">
                <a:solidFill>
                  <a:srgbClr val="5C9B70"/>
                </a:solidFill>
              </a:rPr>
              <a:t>HEALTH</a:t>
            </a:r>
          </a:p>
        </p:txBody>
      </p:sp>
      <p:sp>
        <p:nvSpPr>
          <p:cNvPr id="17" name="Rectangle 16">
            <a:extLst xmlns:a="http://schemas.openxmlformats.org/drawingml/2006/main">
              <a:ext uri="{FF2B5EF4-FFF2-40B4-BE49-F238E27FC236}">
                <a16:creationId xmlns:a16="http://schemas.microsoft.com/office/drawing/2014/main" id="{F8B00971-5DAF-4FEC-9A9C-6FEAD3181664}"/>
              </a:ext>
            </a:extLst>
          </p:cNvPr>
          <p:cNvSpPr>
            <a:spLocks xmlns:a="http://schemas.openxmlformats.org/drawingml/2006/main" noGrp="1"/>
          </p:cNvSpPr>
          <p:nvPr/>
        </p:nvSpPr>
        <p:spPr>
          <a:xfrm xmlns:a="http://schemas.openxmlformats.org/drawingml/2006/main">
            <a:off x="1809750" y="51816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8323F"/>
                </a:solidFill>
              </a:defRPr>
            </a:pPr>
            <a:r>
              <a:rPr sz="1500" b="1">
                <a:solidFill>
                  <a:srgbClr val="18323F"/>
                </a:solidFill>
              </a:rPr>
              <a:t>APE, drug testing &amp; mobile clinic</a:t>
            </a:r>
          </a:p>
        </p:txBody>
      </p:sp>
      <p:sp>
        <p:nvSpPr>
          <p:cNvPr id="18" name="Rectangle 17">
            <a:extLst xmlns:a="http://schemas.openxmlformats.org/drawingml/2006/main">
              <a:ext uri="{FF2B5EF4-FFF2-40B4-BE49-F238E27FC236}">
                <a16:creationId xmlns:a16="http://schemas.microsoft.com/office/drawing/2014/main" id="{945ED263-8D31-4655-AA34-AA15CB00C5F9}"/>
              </a:ext>
            </a:extLst>
          </p:cNvPr>
          <p:cNvSpPr>
            <a:spLocks xmlns:a="http://schemas.openxmlformats.org/drawingml/2006/main" noGrp="1"/>
          </p:cNvSpPr>
          <p:nvPr/>
        </p:nvSpPr>
        <p:spPr>
          <a:xfrm xmlns:a="http://schemas.openxmlformats.org/drawingml/2006/main">
            <a:off x="685800" y="5553075"/>
            <a:ext cx="512445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pic>
        <p:nvPicPr>
          <p:cNvPr id="47" name="Picture 44"/>
          <p:cNvPicPr>
            <a:picLocks xmlns:a="http://schemas.openxmlformats.org/drawingml/2006/main" noChangeAspect="1"/>
          </p:cNvPicPr>
          <p:nvPr/>
        </p:nvPicPr>
        <p:blipFill>
          <a:blip xmlns:r="http://schemas.openxmlformats.org/officeDocument/2006/relationships" xmlns:a="http://schemas.openxmlformats.org/drawingml/2006/main" r:embed="R5543f62795cf41d4"/>
          <a:srcRect xmlns:a="http://schemas.openxmlformats.org/drawingml/2006/main" l="10620" t="0" r="10620" b="0"/>
          <a:stretch xmlns:a="http://schemas.openxmlformats.org/drawingml/2006/main">
            <a:fillRect l="0" t="0" r="0" b="0"/>
          </a:stretch>
        </p:blipFill>
        <p:spPr>
          <a:xfrm xmlns:a="http://schemas.openxmlformats.org/drawingml/2006/main">
            <a:off x="6667500" y="1752600"/>
            <a:ext cx="4838700" cy="4095750"/>
          </a:xfrm>
          <a:prstGeom xmlns:a="http://schemas.openxmlformats.org/drawingml/2006/main" prst="roundRect">
            <a:avLst>
              <a:gd name="adj" fmla="val 3721"/>
            </a:avLst>
          </a:prstGeom>
        </p:spPr>
      </p:pic>
      <p:sp>
        <p:nvSpPr>
          <p:cNvPr id="20" name="Rectangle: Rounded Corners 19">
            <a:extLst xmlns:a="http://schemas.openxmlformats.org/drawingml/2006/main">
              <a:ext uri="{FF2B5EF4-FFF2-40B4-BE49-F238E27FC236}">
                <a16:creationId xmlns:a16="http://schemas.microsoft.com/office/drawing/2014/main" id="{C17A411E-D095-4927-BAAA-EB505D5420CA}"/>
              </a:ext>
            </a:extLst>
          </p:cNvPr>
          <p:cNvSpPr>
            <a:spLocks xmlns:a="http://schemas.openxmlformats.org/drawingml/2006/main" noGrp="1"/>
          </p:cNvSpPr>
          <p:nvPr/>
        </p:nvSpPr>
        <p:spPr>
          <a:xfrm xmlns:a="http://schemas.openxmlformats.org/drawingml/2006/main">
            <a:off x="6896100" y="4210050"/>
            <a:ext cx="4381500" cy="1390650"/>
          </a:xfrm>
          <a:prstGeom xmlns:a="http://schemas.openxmlformats.org/drawingml/2006/main" prst="roundRect">
            <a:avLst>
              <a:gd name="adj" fmla="val 1369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5540FED3-4AE4-4EBB-9D05-DFC302E9CE67}"/>
              </a:ext>
            </a:extLst>
          </p:cNvPr>
          <p:cNvSpPr>
            <a:spLocks xmlns:a="http://schemas.openxmlformats.org/drawingml/2006/main" noGrp="1"/>
          </p:cNvSpPr>
          <p:nvPr/>
        </p:nvSpPr>
        <p:spPr>
          <a:xfrm xmlns:a="http://schemas.openxmlformats.org/drawingml/2006/main">
            <a:off x="7143750" y="440055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23B55"/>
                </a:solidFill>
              </a:defRPr>
            </a:pPr>
            <a:r>
              <a:rPr sz="1875" b="1">
                <a:solidFill>
                  <a:srgbClr val="123B55"/>
                </a:solidFill>
              </a:rPr>
              <a:t>Complete outpatient care in one convenient Marikina location</a:t>
            </a:r>
          </a:p>
        </p:txBody>
      </p:sp>
      <p:sp>
        <p:nvSpPr>
          <p:cNvPr id="22" name="Rectangle 21">
            <a:extLst xmlns:a="http://schemas.openxmlformats.org/drawingml/2006/main">
              <a:ext uri="{FF2B5EF4-FFF2-40B4-BE49-F238E27FC236}">
                <a16:creationId xmlns:a16="http://schemas.microsoft.com/office/drawing/2014/main" id="{13BC7A71-EC69-426D-9930-46BE0E2E439A}"/>
              </a:ext>
            </a:extLst>
          </p:cNvPr>
          <p:cNvSpPr>
            <a:spLocks xmlns:a="http://schemas.openxmlformats.org/drawingml/2006/main" noGrp="1"/>
          </p:cNvSpPr>
          <p:nvPr/>
        </p:nvSpPr>
        <p:spPr>
          <a:xfrm xmlns:a="http://schemas.openxmlformats.org/drawingml/2006/main">
            <a:off x="7143750" y="5105400"/>
            <a:ext cx="3905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A8C87"/>
                </a:solidFill>
              </a:defRPr>
            </a:pPr>
            <a:r>
              <a:rPr sz="1200" b="1">
                <a:solidFill>
                  <a:srgbClr val="2A8C87"/>
                </a:solidFill>
              </a:rPr>
              <a:t>One accessible clinic. Multiple outpatient needs.</a:t>
            </a:r>
          </a:p>
        </p:txBody>
      </p:sp>
      <p:sp>
        <p:nvSpPr>
          <p:cNvPr id="23" name="Rectangle 22">
            <a:extLst xmlns:a="http://schemas.openxmlformats.org/drawingml/2006/main">
              <a:ext uri="{FF2B5EF4-FFF2-40B4-BE49-F238E27FC236}">
                <a16:creationId xmlns:a16="http://schemas.microsoft.com/office/drawing/2014/main" id="{36E5D5D5-0F87-4377-88CB-EEE1F1EE34D2}"/>
              </a:ext>
            </a:extLst>
          </p:cNvPr>
          <p:cNvSpPr>
            <a:spLocks xmlns:a="http://schemas.openxmlformats.org/drawingml/2006/main" noGrp="1"/>
          </p:cNvSpPr>
          <p:nvPr/>
        </p:nvSpPr>
        <p:spPr>
          <a:xfrm xmlns:a="http://schemas.openxmlformats.org/drawingml/2006/main">
            <a:off x="10096500" y="5657850"/>
            <a:ext cx="11811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D7079"/>
                </a:solidFill>
              </a:defRPr>
            </a:pPr>
            <a:r>
              <a:rPr sz="750" b="0">
                <a:solidFill>
                  <a:srgbClr val="5D7079"/>
                </a:solidFill>
              </a:rPr>
              <a:t>Illustrative photo</a:t>
            </a:r>
          </a:p>
        </p:txBody>
      </p:sp>
      <p:sp>
        <p:nvSpPr>
          <p:cNvPr id="24" name="Rectangle 23">
            <a:extLst xmlns:a="http://schemas.openxmlformats.org/drawingml/2006/main">
              <a:ext uri="{FF2B5EF4-FFF2-40B4-BE49-F238E27FC236}">
                <a16:creationId xmlns:a16="http://schemas.microsoft.com/office/drawing/2014/main" id="{47DCE3EB-1DF8-4D77-9F40-D9E23BB0E1FD}"/>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682E89C2-E623-437C-B1F0-5127EBF6BC40}"/>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26" name="Rectangle 25">
            <a:extLst xmlns:a="http://schemas.openxmlformats.org/drawingml/2006/main">
              <a:ext uri="{FF2B5EF4-FFF2-40B4-BE49-F238E27FC236}">
                <a16:creationId xmlns:a16="http://schemas.microsoft.com/office/drawing/2014/main" id="{4CD683D7-43E0-438C-BE1B-DDB6199C4D12}"/>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122163788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68B13698-B427-407D-BB65-EB6D5BBCF5E7}"/>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THE INFORMATION GAP</a:t>
            </a:r>
          </a:p>
        </p:txBody>
      </p:sp>
      <p:sp>
        <p:nvSpPr>
          <p:cNvPr id="2" name="Rectangle 1">
            <a:extLst xmlns:a="http://schemas.openxmlformats.org/drawingml/2006/main">
              <a:ext uri="{FF2B5EF4-FFF2-40B4-BE49-F238E27FC236}">
                <a16:creationId xmlns:a16="http://schemas.microsoft.com/office/drawing/2014/main" id="{7B14FE9C-348F-4BB0-A3FB-2F51672366E0}"/>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Patients must currently piece the story together</a:t>
            </a:r>
          </a:p>
        </p:txBody>
      </p:sp>
      <p:sp>
        <p:nvSpPr>
          <p:cNvPr id="3" name="Rectangle 2">
            <a:extLst xmlns:a="http://schemas.openxmlformats.org/drawingml/2006/main">
              <a:ext uri="{FF2B5EF4-FFF2-40B4-BE49-F238E27FC236}">
                <a16:creationId xmlns:a16="http://schemas.microsoft.com/office/drawing/2014/main" id="{86ADE985-EF99-4A21-976C-B353FD26E6AC}"/>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03</a:t>
            </a:r>
          </a:p>
        </p:txBody>
      </p:sp>
      <p:sp>
        <p:nvSpPr>
          <p:cNvPr id="4" name="Rectangle 3">
            <a:extLst xmlns:a="http://schemas.openxmlformats.org/drawingml/2006/main">
              <a:ext uri="{FF2B5EF4-FFF2-40B4-BE49-F238E27FC236}">
                <a16:creationId xmlns:a16="http://schemas.microsoft.com/office/drawing/2014/main" id="{07B16A1F-60F6-4B92-8F5E-B460D93AE1CB}"/>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pic>
        <p:nvPicPr>
          <p:cNvPr id="33" name="Picture 30"/>
          <p:cNvPicPr>
            <a:picLocks xmlns:a="http://schemas.openxmlformats.org/drawingml/2006/main" noChangeAspect="1"/>
          </p:cNvPicPr>
          <p:nvPr/>
        </p:nvPicPr>
        <p:blipFill>
          <a:blip xmlns:r="http://schemas.openxmlformats.org/officeDocument/2006/relationships" xmlns:a="http://schemas.openxmlformats.org/drawingml/2006/main" r:embed="R3f1fc705d7204d05"/>
          <a:srcRect xmlns:a="http://schemas.openxmlformats.org/drawingml/2006/main" l="6410" t="0" r="6410" b="0"/>
          <a:stretch xmlns:a="http://schemas.openxmlformats.org/drawingml/2006/main">
            <a:fillRect l="0" t="0" r="0" b="0"/>
          </a:stretch>
        </p:blipFill>
        <p:spPr>
          <a:xfrm xmlns:a="http://schemas.openxmlformats.org/drawingml/2006/main">
            <a:off x="685800" y="1809750"/>
            <a:ext cx="4857750" cy="3714750"/>
          </a:xfrm>
          <a:prstGeom xmlns:a="http://schemas.openxmlformats.org/drawingml/2006/main" prst="roundRect">
            <a:avLst>
              <a:gd name="adj" fmla="val 4103"/>
            </a:avLst>
          </a:prstGeom>
        </p:spPr>
      </p:pic>
      <p:sp>
        <p:nvSpPr>
          <p:cNvPr id="6" name="Rectangle: Rounded Corners 5">
            <a:extLst xmlns:a="http://schemas.openxmlformats.org/drawingml/2006/main">
              <a:ext uri="{FF2B5EF4-FFF2-40B4-BE49-F238E27FC236}">
                <a16:creationId xmlns:a16="http://schemas.microsoft.com/office/drawing/2014/main" id="{7285E688-D265-488E-B758-7F01DE1EC15E}"/>
              </a:ext>
            </a:extLst>
          </p:cNvPr>
          <p:cNvSpPr>
            <a:spLocks xmlns:a="http://schemas.openxmlformats.org/drawingml/2006/main" noGrp="1"/>
          </p:cNvSpPr>
          <p:nvPr/>
        </p:nvSpPr>
        <p:spPr>
          <a:xfrm xmlns:a="http://schemas.openxmlformats.org/drawingml/2006/main">
            <a:off x="914400" y="3962400"/>
            <a:ext cx="4400550" cy="13335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71052F8E-1784-4C05-8C8B-39784BFD1104}"/>
              </a:ext>
            </a:extLst>
          </p:cNvPr>
          <p:cNvSpPr>
            <a:spLocks xmlns:a="http://schemas.openxmlformats.org/drawingml/2006/main" noGrp="1"/>
          </p:cNvSpPr>
          <p:nvPr/>
        </p:nvSpPr>
        <p:spPr>
          <a:xfrm xmlns:a="http://schemas.openxmlformats.org/drawingml/2006/main">
            <a:off x="1143000" y="4171950"/>
            <a:ext cx="3943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23B55"/>
                </a:solidFill>
              </a:defRPr>
            </a:pPr>
            <a:r>
              <a:rPr sz="1725" b="1">
                <a:solidFill>
                  <a:srgbClr val="123B55"/>
                </a:solidFill>
              </a:rPr>
              <a:t>Useful updates can be buried by time</a:t>
            </a:r>
          </a:p>
        </p:txBody>
      </p:sp>
      <p:sp>
        <p:nvSpPr>
          <p:cNvPr id="8" name="Rectangle 7">
            <a:extLst xmlns:a="http://schemas.openxmlformats.org/drawingml/2006/main">
              <a:ext uri="{FF2B5EF4-FFF2-40B4-BE49-F238E27FC236}">
                <a16:creationId xmlns:a16="http://schemas.microsoft.com/office/drawing/2014/main" id="{B34E2B5F-8C6D-4683-802B-7C2157ECB9B3}"/>
              </a:ext>
            </a:extLst>
          </p:cNvPr>
          <p:cNvSpPr>
            <a:spLocks xmlns:a="http://schemas.openxmlformats.org/drawingml/2006/main" noGrp="1"/>
          </p:cNvSpPr>
          <p:nvPr/>
        </p:nvSpPr>
        <p:spPr>
          <a:xfrm xmlns:a="http://schemas.openxmlformats.org/drawingml/2006/main">
            <a:off x="1143000" y="4610100"/>
            <a:ext cx="3943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D7079"/>
                </a:solidFill>
              </a:defRPr>
            </a:pPr>
            <a:r>
              <a:rPr sz="1200" b="0">
                <a:solidFill>
                  <a:srgbClr val="5D7079"/>
                </a:solidFill>
              </a:rPr>
              <a:t>Patients still need one current source for services, doctors, schedules, preparation and coverage guidance.</a:t>
            </a:r>
          </a:p>
        </p:txBody>
      </p:sp>
      <p:sp>
        <p:nvSpPr>
          <p:cNvPr id="9" name="Rectangle 8">
            <a:extLst xmlns:a="http://schemas.openxmlformats.org/drawingml/2006/main">
              <a:ext uri="{FF2B5EF4-FFF2-40B4-BE49-F238E27FC236}">
                <a16:creationId xmlns:a16="http://schemas.microsoft.com/office/drawing/2014/main" id="{A770B04B-44C5-45D8-8C60-9DC2F431CF7F}"/>
              </a:ext>
            </a:extLst>
          </p:cNvPr>
          <p:cNvSpPr>
            <a:spLocks xmlns:a="http://schemas.openxmlformats.org/drawingml/2006/main" noGrp="1"/>
          </p:cNvSpPr>
          <p:nvPr/>
        </p:nvSpPr>
        <p:spPr>
          <a:xfrm xmlns:a="http://schemas.openxmlformats.org/drawingml/2006/main">
            <a:off x="4095750" y="5353050"/>
            <a:ext cx="12192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D7079"/>
                </a:solidFill>
              </a:defRPr>
            </a:pPr>
            <a:r>
              <a:rPr sz="750" b="0">
                <a:solidFill>
                  <a:srgbClr val="5D7079"/>
                </a:solidFill>
              </a:rPr>
              <a:t>Illustrative photo</a:t>
            </a:r>
          </a:p>
        </p:txBody>
      </p:sp>
      <p:sp>
        <p:nvSpPr>
          <p:cNvPr id="10" name="Arrow: Right 9">
            <a:extLst xmlns:a="http://schemas.openxmlformats.org/drawingml/2006/main">
              <a:ext uri="{FF2B5EF4-FFF2-40B4-BE49-F238E27FC236}">
                <a16:creationId xmlns:a16="http://schemas.microsoft.com/office/drawing/2014/main" id="{BA358DA1-B52C-4FBE-AEA9-CA0462E2AC2D}"/>
              </a:ext>
            </a:extLst>
          </p:cNvPr>
          <p:cNvSpPr>
            <a:spLocks xmlns:a="http://schemas.openxmlformats.org/drawingml/2006/main" noGrp="1"/>
          </p:cNvSpPr>
          <p:nvPr/>
        </p:nvSpPr>
        <p:spPr>
          <a:xfrm xmlns:a="http://schemas.openxmlformats.org/drawingml/2006/main">
            <a:off x="5772150" y="2895600"/>
            <a:ext cx="838200" cy="685800"/>
          </a:xfrm>
          <a:prstGeom xmlns:a="http://schemas.openxmlformats.org/drawingml/2006/main" prst="rightArrow">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Rounded Corners 10">
            <a:extLst xmlns:a="http://schemas.openxmlformats.org/drawingml/2006/main">
              <a:ext uri="{FF2B5EF4-FFF2-40B4-BE49-F238E27FC236}">
                <a16:creationId xmlns:a16="http://schemas.microsoft.com/office/drawing/2014/main" id="{0BDBBCC1-23FF-4A8A-93E3-08C664D6ECE6}"/>
              </a:ext>
            </a:extLst>
          </p:cNvPr>
          <p:cNvSpPr>
            <a:spLocks xmlns:a="http://schemas.openxmlformats.org/drawingml/2006/main" noGrp="1"/>
          </p:cNvSpPr>
          <p:nvPr/>
        </p:nvSpPr>
        <p:spPr>
          <a:xfrm xmlns:a="http://schemas.openxmlformats.org/drawingml/2006/main">
            <a:off x="6953250" y="1809750"/>
            <a:ext cx="4552950" cy="37147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99DFE836-00EE-4695-9389-3D95FB9C291C}"/>
              </a:ext>
            </a:extLst>
          </p:cNvPr>
          <p:cNvSpPr>
            <a:spLocks xmlns:a="http://schemas.openxmlformats.org/drawingml/2006/main" noGrp="1"/>
          </p:cNvSpPr>
          <p:nvPr/>
        </p:nvSpPr>
        <p:spPr>
          <a:xfrm xmlns:a="http://schemas.openxmlformats.org/drawingml/2006/main">
            <a:off x="7334250" y="2152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A8C87"/>
                </a:solidFill>
              </a:defRPr>
            </a:pPr>
            <a:r>
              <a:rPr sz="975" b="1">
                <a:solidFill>
                  <a:srgbClr val="2A8C87"/>
                </a:solidFill>
              </a:rPr>
              <a:t>WHAT PATIENTS STILL NEED</a:t>
            </a:r>
          </a:p>
        </p:txBody>
      </p:sp>
      <p:sp>
        <p:nvSpPr>
          <p:cNvPr id="13" name="Oval 12">
            <a:extLst xmlns:a="http://schemas.openxmlformats.org/drawingml/2006/main">
              <a:ext uri="{FF2B5EF4-FFF2-40B4-BE49-F238E27FC236}">
                <a16:creationId xmlns:a16="http://schemas.microsoft.com/office/drawing/2014/main" id="{5CA2E145-D766-40FF-88AA-54D3905D1D7C}"/>
              </a:ext>
            </a:extLst>
          </p:cNvPr>
          <p:cNvSpPr>
            <a:spLocks xmlns:a="http://schemas.openxmlformats.org/drawingml/2006/main" noGrp="1"/>
          </p:cNvSpPr>
          <p:nvPr/>
        </p:nvSpPr>
        <p:spPr>
          <a:xfrm xmlns:a="http://schemas.openxmlformats.org/drawingml/2006/main">
            <a:off x="7334250" y="26860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FF687329-2193-4395-A3BF-2C4F2452791F}"/>
              </a:ext>
            </a:extLst>
          </p:cNvPr>
          <p:cNvSpPr>
            <a:spLocks xmlns:a="http://schemas.openxmlformats.org/drawingml/2006/main" noGrp="1"/>
          </p:cNvSpPr>
          <p:nvPr/>
        </p:nvSpPr>
        <p:spPr>
          <a:xfrm xmlns:a="http://schemas.openxmlformats.org/drawingml/2006/main">
            <a:off x="7562850" y="2609850"/>
            <a:ext cx="3390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A clear, current service overview</a:t>
            </a:r>
          </a:p>
        </p:txBody>
      </p:sp>
      <p:sp>
        <p:nvSpPr>
          <p:cNvPr id="15" name="Oval 14">
            <a:extLst xmlns:a="http://schemas.openxmlformats.org/drawingml/2006/main">
              <a:ext uri="{FF2B5EF4-FFF2-40B4-BE49-F238E27FC236}">
                <a16:creationId xmlns:a16="http://schemas.microsoft.com/office/drawing/2014/main" id="{24EBC491-FFCF-49F0-B227-1926A3FC13FF}"/>
              </a:ext>
            </a:extLst>
          </p:cNvPr>
          <p:cNvSpPr>
            <a:spLocks xmlns:a="http://schemas.openxmlformats.org/drawingml/2006/main" noGrp="1"/>
          </p:cNvSpPr>
          <p:nvPr/>
        </p:nvSpPr>
        <p:spPr>
          <a:xfrm xmlns:a="http://schemas.openxmlformats.org/drawingml/2006/main">
            <a:off x="7334250" y="32575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2E8FDF7E-4BC4-4F83-BF6C-EB77DECC7B07}"/>
              </a:ext>
            </a:extLst>
          </p:cNvPr>
          <p:cNvSpPr>
            <a:spLocks xmlns:a="http://schemas.openxmlformats.org/drawingml/2006/main" noGrp="1"/>
          </p:cNvSpPr>
          <p:nvPr/>
        </p:nvSpPr>
        <p:spPr>
          <a:xfrm xmlns:a="http://schemas.openxmlformats.org/drawingml/2006/main">
            <a:off x="7562850" y="3181350"/>
            <a:ext cx="3390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Approved doctors and schedules</a:t>
            </a:r>
          </a:p>
        </p:txBody>
      </p:sp>
      <p:sp>
        <p:nvSpPr>
          <p:cNvPr id="17" name="Oval 16">
            <a:extLst xmlns:a="http://schemas.openxmlformats.org/drawingml/2006/main">
              <a:ext uri="{FF2B5EF4-FFF2-40B4-BE49-F238E27FC236}">
                <a16:creationId xmlns:a16="http://schemas.microsoft.com/office/drawing/2014/main" id="{2EAF8ABF-7F21-446A-8AD8-163905833311}"/>
              </a:ext>
            </a:extLst>
          </p:cNvPr>
          <p:cNvSpPr>
            <a:spLocks xmlns:a="http://schemas.openxmlformats.org/drawingml/2006/main" noGrp="1"/>
          </p:cNvSpPr>
          <p:nvPr/>
        </p:nvSpPr>
        <p:spPr>
          <a:xfrm xmlns:a="http://schemas.openxmlformats.org/drawingml/2006/main">
            <a:off x="7334250" y="38290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7462EC07-D905-457C-B66E-44A950D091C0}"/>
              </a:ext>
            </a:extLst>
          </p:cNvPr>
          <p:cNvSpPr>
            <a:spLocks xmlns:a="http://schemas.openxmlformats.org/drawingml/2006/main" noGrp="1"/>
          </p:cNvSpPr>
          <p:nvPr/>
        </p:nvSpPr>
        <p:spPr>
          <a:xfrm xmlns:a="http://schemas.openxmlformats.org/drawingml/2006/main">
            <a:off x="7562850" y="37528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Preparation and availability guidance</a:t>
            </a:r>
          </a:p>
        </p:txBody>
      </p:sp>
      <p:sp>
        <p:nvSpPr>
          <p:cNvPr id="19" name="Oval 18">
            <a:extLst xmlns:a="http://schemas.openxmlformats.org/drawingml/2006/main">
              <a:ext uri="{FF2B5EF4-FFF2-40B4-BE49-F238E27FC236}">
                <a16:creationId xmlns:a16="http://schemas.microsoft.com/office/drawing/2014/main" id="{70D3CEE4-1C33-4C9C-B242-E532A62B9D8C}"/>
              </a:ext>
            </a:extLst>
          </p:cNvPr>
          <p:cNvSpPr>
            <a:spLocks xmlns:a="http://schemas.openxmlformats.org/drawingml/2006/main" noGrp="1"/>
          </p:cNvSpPr>
          <p:nvPr/>
        </p:nvSpPr>
        <p:spPr>
          <a:xfrm xmlns:a="http://schemas.openxmlformats.org/drawingml/2006/main">
            <a:off x="7334250" y="44005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Rectangle 19">
            <a:extLst xmlns:a="http://schemas.openxmlformats.org/drawingml/2006/main">
              <a:ext uri="{FF2B5EF4-FFF2-40B4-BE49-F238E27FC236}">
                <a16:creationId xmlns:a16="http://schemas.microsoft.com/office/drawing/2014/main" id="{6B2B4A12-FAFC-4B0E-B2F0-FD0D53594D0F}"/>
              </a:ext>
            </a:extLst>
          </p:cNvPr>
          <p:cNvSpPr>
            <a:spLocks xmlns:a="http://schemas.openxmlformats.org/drawingml/2006/main" noGrp="1"/>
          </p:cNvSpPr>
          <p:nvPr/>
        </p:nvSpPr>
        <p:spPr>
          <a:xfrm xmlns:a="http://schemas.openxmlformats.org/drawingml/2006/main">
            <a:off x="7562850" y="43243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A reliable appointment-request path</a:t>
            </a:r>
          </a:p>
        </p:txBody>
      </p:sp>
      <p:sp>
        <p:nvSpPr>
          <p:cNvPr id="21" name="Oval 20">
            <a:extLst xmlns:a="http://schemas.openxmlformats.org/drawingml/2006/main">
              <a:ext uri="{FF2B5EF4-FFF2-40B4-BE49-F238E27FC236}">
                <a16:creationId xmlns:a16="http://schemas.microsoft.com/office/drawing/2014/main" id="{9F76F844-FC2D-464A-BF39-A94FB1B5FABC}"/>
              </a:ext>
            </a:extLst>
          </p:cNvPr>
          <p:cNvSpPr>
            <a:spLocks xmlns:a="http://schemas.openxmlformats.org/drawingml/2006/main" noGrp="1"/>
          </p:cNvSpPr>
          <p:nvPr/>
        </p:nvSpPr>
        <p:spPr>
          <a:xfrm xmlns:a="http://schemas.openxmlformats.org/drawingml/2006/main">
            <a:off x="7334250" y="49720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3D7C9B6F-0A4A-4839-AE6C-16929603D9B6}"/>
              </a:ext>
            </a:extLst>
          </p:cNvPr>
          <p:cNvSpPr>
            <a:spLocks xmlns:a="http://schemas.openxmlformats.org/drawingml/2006/main" noGrp="1"/>
          </p:cNvSpPr>
          <p:nvPr/>
        </p:nvSpPr>
        <p:spPr>
          <a:xfrm xmlns:a="http://schemas.openxmlformats.org/drawingml/2006/main">
            <a:off x="7562850" y="4895850"/>
            <a:ext cx="3486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Coverage information with proper caveats</a:t>
            </a:r>
          </a:p>
        </p:txBody>
      </p:sp>
      <p:sp>
        <p:nvSpPr>
          <p:cNvPr id="23" name="Rectangle 22">
            <a:extLst xmlns:a="http://schemas.openxmlformats.org/drawingml/2006/main">
              <a:ext uri="{FF2B5EF4-FFF2-40B4-BE49-F238E27FC236}">
                <a16:creationId xmlns:a16="http://schemas.microsoft.com/office/drawing/2014/main" id="{D23EA670-6F37-4B84-8334-5EDAF14E93C7}"/>
              </a:ext>
            </a:extLst>
          </p:cNvPr>
          <p:cNvSpPr>
            <a:spLocks xmlns:a="http://schemas.openxmlformats.org/drawingml/2006/main" noGrp="1"/>
          </p:cNvSpPr>
          <p:nvPr/>
        </p:nvSpPr>
        <p:spPr>
          <a:xfrm xmlns:a="http://schemas.openxmlformats.org/drawingml/2006/main">
            <a:off x="6953250" y="5829300"/>
            <a:ext cx="4552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23B55"/>
                </a:solidFill>
              </a:defRPr>
            </a:pPr>
            <a:r>
              <a:rPr sz="1275" b="1">
                <a:solidFill>
                  <a:srgbClr val="123B55"/>
                </a:solidFill>
              </a:rPr>
              <a:t>A website becomes the source of truth; social media remains the channel for timely updates.</a:t>
            </a:r>
          </a:p>
        </p:txBody>
      </p:sp>
      <p:sp>
        <p:nvSpPr>
          <p:cNvPr id="24" name="Rectangle 23">
            <a:extLst xmlns:a="http://schemas.openxmlformats.org/drawingml/2006/main">
              <a:ext uri="{FF2B5EF4-FFF2-40B4-BE49-F238E27FC236}">
                <a16:creationId xmlns:a16="http://schemas.microsoft.com/office/drawing/2014/main" id="{A1210741-6571-4237-AFE2-A54B4499EBA0}"/>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716956EF-1C08-4785-AE07-7F374307C3E9}"/>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26" name="Rectangle 25">
            <a:extLst xmlns:a="http://schemas.openxmlformats.org/drawingml/2006/main">
              <a:ext uri="{FF2B5EF4-FFF2-40B4-BE49-F238E27FC236}">
                <a16:creationId xmlns:a16="http://schemas.microsoft.com/office/drawing/2014/main" id="{13789C8E-E10F-46FE-BDEE-4CA70BDF697C}"/>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2077793932"/>
      </p:ext>
    </p:extLst>
  </p:cSld>
</p:sld>
</file>

<file path=ppt/slides/slide4.xml><?xml version="1.0" encoding="utf-8"?>
<p:sld xmlns:p="http://schemas.openxmlformats.org/presentationml/2006/main">
  <p:cSld>
    <p:bg>
      <p:bgPr>
        <a:solidFill xmlns:a="http://schemas.openxmlformats.org/drawingml/2006/main">
          <a:srgbClr val="123B55"/>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50F9F814-7C32-44D1-A20F-A38D5D0A2D8B}"/>
              </a:ext>
            </a:extLst>
          </p:cNvPr>
          <p:cNvSpPr>
            <a:spLocks xmlns:a="http://schemas.openxmlformats.org/drawingml/2006/main" noGrp="1"/>
          </p:cNvSpPr>
          <p:nvPr/>
        </p:nvSpPr>
        <p:spPr>
          <a:xfrm xmlns:a="http://schemas.openxmlformats.org/drawingml/2006/main">
            <a:off x="685800" y="5143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8ED1C4"/>
                </a:solidFill>
              </a:defRPr>
            </a:pPr>
            <a:r>
              <a:rPr sz="1050" b="1">
                <a:solidFill>
                  <a:srgbClr val="8ED1C4"/>
                </a:solidFill>
              </a:rPr>
              <a:t>THE PROPOSED WEBSITE POSITION</a:t>
            </a:r>
          </a:p>
        </p:txBody>
      </p:sp>
      <p:sp>
        <p:nvSpPr>
          <p:cNvPr id="2" name="Rectangle 1">
            <a:extLst xmlns:a="http://schemas.openxmlformats.org/drawingml/2006/main">
              <a:ext uri="{FF2B5EF4-FFF2-40B4-BE49-F238E27FC236}">
                <a16:creationId xmlns:a16="http://schemas.microsoft.com/office/drawing/2014/main" id="{68324BF8-8354-4DFE-ACE3-4D09E39D88DD}"/>
              </a:ext>
            </a:extLst>
          </p:cNvPr>
          <p:cNvSpPr>
            <a:spLocks xmlns:a="http://schemas.openxmlformats.org/drawingml/2006/main" noGrp="1"/>
          </p:cNvSpPr>
          <p:nvPr/>
        </p:nvSpPr>
        <p:spPr>
          <a:xfrm xmlns:a="http://schemas.openxmlformats.org/drawingml/2006/main">
            <a:off x="685800" y="1066800"/>
            <a:ext cx="80962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75" b="1">
                <a:solidFill>
                  <a:srgbClr val="FFFFFF"/>
                </a:solidFill>
              </a:defRPr>
            </a:pPr>
            <a:r>
              <a:rPr sz="3375" b="1">
                <a:solidFill>
                  <a:srgbClr val="FFFFFF"/>
                </a:solidFill>
              </a:rPr>
              <a:t>Complete Outpatient Care in One Convenient Location</a:t>
            </a:r>
          </a:p>
        </p:txBody>
      </p:sp>
      <p:sp>
        <p:nvSpPr>
          <p:cNvPr id="3" name="Rectangle 2">
            <a:extLst xmlns:a="http://schemas.openxmlformats.org/drawingml/2006/main">
              <a:ext uri="{FF2B5EF4-FFF2-40B4-BE49-F238E27FC236}">
                <a16:creationId xmlns:a16="http://schemas.microsoft.com/office/drawing/2014/main" id="{E1483BAE-F58A-41B3-9174-6B3140B1BDB4}"/>
              </a:ext>
            </a:extLst>
          </p:cNvPr>
          <p:cNvSpPr>
            <a:spLocks xmlns:a="http://schemas.openxmlformats.org/drawingml/2006/main" noGrp="1"/>
          </p:cNvSpPr>
          <p:nvPr/>
        </p:nvSpPr>
        <p:spPr>
          <a:xfrm xmlns:a="http://schemas.openxmlformats.org/drawingml/2006/main">
            <a:off x="685800" y="2571750"/>
            <a:ext cx="7715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D7E4E9"/>
                </a:solidFill>
              </a:defRPr>
            </a:pPr>
            <a:r>
              <a:rPr sz="1500" b="0">
                <a:solidFill>
                  <a:srgbClr val="D7E4E9"/>
                </a:solidFill>
              </a:rPr>
              <a:t>MarMed Diagnostics brings together multispecialty consultations, clinical laboratory and diagnostic services, ambulatory procedures, and comprehensive wound and ostomy care in Marikina.</a:t>
            </a:r>
          </a:p>
        </p:txBody>
      </p:sp>
      <p:sp>
        <p:nvSpPr>
          <p:cNvPr id="4" name="Rectangle: Rounded Corners 3">
            <a:extLst xmlns:a="http://schemas.openxmlformats.org/drawingml/2006/main">
              <a:ext uri="{FF2B5EF4-FFF2-40B4-BE49-F238E27FC236}">
                <a16:creationId xmlns:a16="http://schemas.microsoft.com/office/drawing/2014/main" id="{937E1A62-356E-4729-9EE4-0E18A9691E12}"/>
              </a:ext>
            </a:extLst>
          </p:cNvPr>
          <p:cNvSpPr>
            <a:spLocks xmlns:a="http://schemas.openxmlformats.org/drawingml/2006/main" noGrp="1"/>
          </p:cNvSpPr>
          <p:nvPr/>
        </p:nvSpPr>
        <p:spPr>
          <a:xfrm xmlns:a="http://schemas.openxmlformats.org/drawingml/2006/main">
            <a:off x="685800" y="3943350"/>
            <a:ext cx="2609850" cy="552450"/>
          </a:xfrm>
          <a:prstGeom xmlns:a="http://schemas.openxmlformats.org/drawingml/2006/main" prst="roundRect">
            <a:avLst>
              <a:gd name="adj" fmla="val 31034"/>
            </a:avLst>
          </a:prstGeom>
          <a:solidFill xmlns:a="http://schemas.openxmlformats.org/drawingml/2006/main">
            <a:srgbClr val="2A8C8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1CD34117-B295-4255-B4F7-95D3AADEF267}"/>
              </a:ext>
            </a:extLst>
          </p:cNvPr>
          <p:cNvSpPr>
            <a:spLocks xmlns:a="http://schemas.openxmlformats.org/drawingml/2006/main" noGrp="1"/>
          </p:cNvSpPr>
          <p:nvPr/>
        </p:nvSpPr>
        <p:spPr>
          <a:xfrm xmlns:a="http://schemas.openxmlformats.org/drawingml/2006/main">
            <a:off x="685800" y="4095750"/>
            <a:ext cx="2609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FFFFFF"/>
                </a:solidFill>
              </a:defRPr>
            </a:pPr>
            <a:r>
              <a:rPr sz="1425" b="1">
                <a:solidFill>
                  <a:srgbClr val="FFFFFF"/>
                </a:solidFill>
              </a:rPr>
              <a:t>Explore Our Services</a:t>
            </a:r>
          </a:p>
        </p:txBody>
      </p:sp>
      <p:sp>
        <p:nvSpPr>
          <p:cNvPr id="6" name="Rectangle: Rounded Corners 5">
            <a:extLst xmlns:a="http://schemas.openxmlformats.org/drawingml/2006/main">
              <a:ext uri="{FF2B5EF4-FFF2-40B4-BE49-F238E27FC236}">
                <a16:creationId xmlns:a16="http://schemas.microsoft.com/office/drawing/2014/main" id="{BB764F98-9E65-4257-81F1-023F3E1E5881}"/>
              </a:ext>
            </a:extLst>
          </p:cNvPr>
          <p:cNvSpPr>
            <a:spLocks xmlns:a="http://schemas.openxmlformats.org/drawingml/2006/main" noGrp="1"/>
          </p:cNvSpPr>
          <p:nvPr/>
        </p:nvSpPr>
        <p:spPr>
          <a:xfrm xmlns:a="http://schemas.openxmlformats.org/drawingml/2006/main">
            <a:off x="3486150" y="3943350"/>
            <a:ext cx="2724150" cy="552450"/>
          </a:xfrm>
          <a:prstGeom xmlns:a="http://schemas.openxmlformats.org/drawingml/2006/main" prst="roundRect">
            <a:avLst>
              <a:gd name="adj" fmla="val 31034"/>
            </a:avLst>
          </a:prstGeom>
          <a:solidFill xmlns:a="http://schemas.openxmlformats.org/drawingml/2006/main">
            <a:srgbClr val="214F68"/>
          </a:solidFill>
          <a:ln xmlns:a="http://schemas.openxmlformats.org/drawingml/2006/main" w="9525">
            <a:solidFill>
              <a:srgbClr val="7DA4B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5715C930-1C3A-4C23-9E95-FB9B7D7906B8}"/>
              </a:ext>
            </a:extLst>
          </p:cNvPr>
          <p:cNvSpPr>
            <a:spLocks xmlns:a="http://schemas.openxmlformats.org/drawingml/2006/main" noGrp="1"/>
          </p:cNvSpPr>
          <p:nvPr/>
        </p:nvSpPr>
        <p:spPr>
          <a:xfrm xmlns:a="http://schemas.openxmlformats.org/drawingml/2006/main">
            <a:off x="3486150" y="409575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FFFFFF"/>
                </a:solidFill>
              </a:defRPr>
            </a:pPr>
            <a:r>
              <a:rPr sz="1425" b="1">
                <a:solidFill>
                  <a:srgbClr val="FFFFFF"/>
                </a:solidFill>
              </a:rPr>
              <a:t>Request an Appointment</a:t>
            </a:r>
          </a:p>
        </p:txBody>
      </p:sp>
      <p:sp>
        <p:nvSpPr>
          <p:cNvPr id="8" name="Rectangle: Rounded Corners 7">
            <a:extLst xmlns:a="http://schemas.openxmlformats.org/drawingml/2006/main">
              <a:ext uri="{FF2B5EF4-FFF2-40B4-BE49-F238E27FC236}">
                <a16:creationId xmlns:a16="http://schemas.microsoft.com/office/drawing/2014/main" id="{92C86878-F09D-41B6-BE73-FEBBBEEADF7E}"/>
              </a:ext>
            </a:extLst>
          </p:cNvPr>
          <p:cNvSpPr>
            <a:spLocks xmlns:a="http://schemas.openxmlformats.org/drawingml/2006/main" noGrp="1"/>
          </p:cNvSpPr>
          <p:nvPr/>
        </p:nvSpPr>
        <p:spPr>
          <a:xfrm xmlns:a="http://schemas.openxmlformats.org/drawingml/2006/main">
            <a:off x="8829675" y="1066800"/>
            <a:ext cx="2724150" cy="4133850"/>
          </a:xfrm>
          <a:prstGeom xmlns:a="http://schemas.openxmlformats.org/drawingml/2006/main" prst="roundRect">
            <a:avLst>
              <a:gd name="adj" fmla="val 10145"/>
            </a:avLst>
          </a:prstGeom>
          <a:solidFill xmlns:a="http://schemas.openxmlformats.org/drawingml/2006/main">
            <a:srgbClr val="17465F"/>
          </a:solidFill>
          <a:ln xmlns:a="http://schemas.openxmlformats.org/drawingml/2006/main" w="9525">
            <a:solidFill>
              <a:srgbClr val="35677D"/>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4B12E13E-A90C-4950-A377-4B887C4BFD94}"/>
              </a:ext>
            </a:extLst>
          </p:cNvPr>
          <p:cNvSpPr>
            <a:spLocks xmlns:a="http://schemas.openxmlformats.org/drawingml/2006/main" noGrp="1"/>
          </p:cNvSpPr>
          <p:nvPr/>
        </p:nvSpPr>
        <p:spPr>
          <a:xfrm xmlns:a="http://schemas.openxmlformats.org/drawingml/2006/main">
            <a:off x="9124950" y="142875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8ED1C4"/>
                </a:solidFill>
              </a:defRPr>
            </a:pPr>
            <a:r>
              <a:rPr sz="1575" b="1">
                <a:solidFill>
                  <a:srgbClr val="8ED1C4"/>
                </a:solidFill>
              </a:rPr>
              <a:t>MARME</a:t>
            </a:r>
            <a:r>
              <a:rPr sz="1575" b="1">
                <a:solidFill>
                  <a:srgbClr val="8ED1C4"/>
                </a:solidFill>
              </a:rPr>
              <a:t>D</a:t>
            </a:r>
            <a:r>
              <a:rPr sz="1575" b="1">
                <a:solidFill>
                  <a:srgbClr val="8ED1C4"/>
                </a:solidFill>
              </a:rPr>
              <a:t> IDENTITY</a:t>
            </a:r>
          </a:p>
        </p:txBody>
      </p:sp>
      <p:sp>
        <p:nvSpPr>
          <p:cNvPr id="10" name="Rectangle 9">
            <a:extLst xmlns:a="http://schemas.openxmlformats.org/drawingml/2006/main">
              <a:ext uri="{FF2B5EF4-FFF2-40B4-BE49-F238E27FC236}">
                <a16:creationId xmlns:a16="http://schemas.microsoft.com/office/drawing/2014/main" id="{DBB525F9-2EEE-4F46-80E3-AD5BB8DF8CE1}"/>
              </a:ext>
            </a:extLst>
          </p:cNvPr>
          <p:cNvSpPr>
            <a:spLocks xmlns:a="http://schemas.openxmlformats.org/drawingml/2006/main" noGrp="1"/>
          </p:cNvSpPr>
          <p:nvPr/>
        </p:nvSpPr>
        <p:spPr>
          <a:xfrm xmlns:a="http://schemas.openxmlformats.org/drawingml/2006/main">
            <a:off x="9296400" y="1809750"/>
            <a:ext cx="1790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825" b="1">
                <a:solidFill>
                  <a:srgbClr val="A9C0CA"/>
                </a:solidFill>
              </a:defRPr>
            </a:pPr>
            <a:r>
              <a:rPr sz="825" b="1">
                <a:solidFill>
                  <a:srgbClr val="A9C0CA"/>
                </a:solidFill>
              </a:rPr>
              <a:t>Management-approved branding</a:t>
            </a:r>
          </a:p>
        </p:txBody>
      </p:sp>
      <p:sp>
        <p:nvSpPr>
          <p:cNvPr id="12" name="Rectangle 11">
            <a:extLst xmlns:a="http://schemas.openxmlformats.org/drawingml/2006/main">
              <a:ext uri="{FF2B5EF4-FFF2-40B4-BE49-F238E27FC236}">
                <a16:creationId xmlns:a16="http://schemas.microsoft.com/office/drawing/2014/main" id="{11E2F786-3690-4822-AFA4-6903C45063CF}"/>
              </a:ext>
            </a:extLst>
          </p:cNvPr>
          <p:cNvSpPr>
            <a:spLocks xmlns:a="http://schemas.openxmlformats.org/drawingml/2006/main" noGrp="1"/>
          </p:cNvSpPr>
          <p:nvPr/>
        </p:nvSpPr>
        <p:spPr>
          <a:xfrm xmlns:a="http://schemas.openxmlformats.org/drawingml/2006/main">
            <a:off x="9239250" y="35433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FFFFFF"/>
                </a:solidFill>
              </a:defRPr>
            </a:pPr>
            <a:r>
              <a:rPr sz="1575" b="1">
                <a:solidFill>
                  <a:srgbClr val="FFFFFF"/>
                </a:solidFill>
              </a:rPr>
              <a:t>One clinic</a:t>
            </a:r>
          </a:p>
        </p:txBody>
      </p:sp>
      <p:sp>
        <p:nvSpPr>
          <p:cNvPr id="13" name="Rectangle 12">
            <a:extLst xmlns:a="http://schemas.openxmlformats.org/drawingml/2006/main">
              <a:ext uri="{FF2B5EF4-FFF2-40B4-BE49-F238E27FC236}">
                <a16:creationId xmlns:a16="http://schemas.microsoft.com/office/drawing/2014/main" id="{C84E4DFF-8757-4DE8-B2CB-8AE339BCEB3F}"/>
              </a:ext>
            </a:extLst>
          </p:cNvPr>
          <p:cNvSpPr>
            <a:spLocks xmlns:a="http://schemas.openxmlformats.org/drawingml/2006/main" noGrp="1"/>
          </p:cNvSpPr>
          <p:nvPr/>
        </p:nvSpPr>
        <p:spPr>
          <a:xfrm xmlns:a="http://schemas.openxmlformats.org/drawingml/2006/main">
            <a:off x="9124950" y="4013200"/>
            <a:ext cx="2133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D7E4E9"/>
                </a:solidFill>
              </a:defRPr>
            </a:pPr>
            <a:r>
              <a:rPr sz="1350" b="0">
                <a:solidFill>
                  <a:srgbClr val="D7E4E9"/>
                </a:solidFill>
              </a:rPr>
              <a:t>One clear service story</a:t>
            </a:r>
          </a:p>
        </p:txBody>
      </p:sp>
      <p:sp>
        <p:nvSpPr>
          <p:cNvPr id="14" name="Rectangle 13">
            <a:extLst xmlns:a="http://schemas.openxmlformats.org/drawingml/2006/main">
              <a:ext uri="{FF2B5EF4-FFF2-40B4-BE49-F238E27FC236}">
                <a16:creationId xmlns:a16="http://schemas.microsoft.com/office/drawing/2014/main" id="{451F436E-ED01-49B3-851C-03B1FFFDF103}"/>
              </a:ext>
            </a:extLst>
          </p:cNvPr>
          <p:cNvSpPr>
            <a:spLocks xmlns:a="http://schemas.openxmlformats.org/drawingml/2006/main" noGrp="1"/>
          </p:cNvSpPr>
          <p:nvPr/>
        </p:nvSpPr>
        <p:spPr>
          <a:xfrm xmlns:a="http://schemas.openxmlformats.org/drawingml/2006/main">
            <a:off x="9048750" y="450850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D7E4E9"/>
                </a:solidFill>
              </a:defRPr>
            </a:pPr>
            <a:r>
              <a:rPr sz="1350" b="0">
                <a:solidFill>
                  <a:srgbClr val="D7E4E9"/>
                </a:solidFill>
              </a:rPr>
              <a:t>One </a:t>
            </a:r>
            <a:r>
              <a:rPr sz="1350" b="0">
                <a:solidFill>
                  <a:srgbClr val="D7E4E9"/>
                </a:solidFill>
              </a:rPr>
              <a:t>t</a:t>
            </a:r>
            <a:r>
              <a:rPr sz="1350" b="0">
                <a:solidFill>
                  <a:srgbClr val="D7E4E9"/>
                </a:solidFill>
              </a:rPr>
              <a:t>rusted digital front door</a:t>
            </a:r>
          </a:p>
        </p:txBody>
      </p:sp>
      <p:sp>
        <p:nvSpPr>
          <p:cNvPr id="15" name="Rectangle 14">
            <a:extLst xmlns:a="http://schemas.openxmlformats.org/drawingml/2006/main">
              <a:ext uri="{FF2B5EF4-FFF2-40B4-BE49-F238E27FC236}">
                <a16:creationId xmlns:a16="http://schemas.microsoft.com/office/drawing/2014/main" id="{2241BA33-690E-4CA0-AED5-D8A8A8CA0946}"/>
              </a:ext>
            </a:extLst>
          </p:cNvPr>
          <p:cNvSpPr>
            <a:spLocks xmlns:a="http://schemas.openxmlformats.org/drawingml/2006/main" noGrp="1"/>
          </p:cNvSpPr>
          <p:nvPr/>
        </p:nvSpPr>
        <p:spPr>
          <a:xfrm xmlns:a="http://schemas.openxmlformats.org/drawingml/2006/main">
            <a:off x="685800" y="59626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0">
                <a:solidFill>
                  <a:srgbClr val="A9C0CA"/>
                </a:solidFill>
              </a:defRPr>
            </a:pPr>
            <a:r>
              <a:rPr sz="975" b="0">
                <a:solidFill>
                  <a:srgbClr val="A9C0CA"/>
                </a:solidFill>
              </a:rPr>
              <a:t>For validation: official branding, positioning and final service wording</a:t>
            </a:r>
          </a:p>
        </p:txBody>
      </p:sp>
      <p:pic>
        <p:nvPicPr>
          <p:cNvPr id="32" name="Picture 21"/>
          <p:cNvPicPr>
            <a:picLocks xmlns:a="http://schemas.openxmlformats.org/drawingml/2006/main" noChangeAspect="1"/>
          </p:cNvPicPr>
          <p:nvPr/>
        </p:nvPicPr>
        <p:blipFill>
          <a:blip xmlns:r="http://schemas.openxmlformats.org/officeDocument/2006/relationships" xmlns:a="http://schemas.openxmlformats.org/drawingml/2006/main" r:embed="Ra1b19c509c774175"/>
          <a:stretch xmlns:a="http://schemas.openxmlformats.org/drawingml/2006/main"/>
        </p:blipFill>
        <p:spPr>
          <a:xfrm xmlns:a="http://schemas.openxmlformats.org/drawingml/2006/main">
            <a:off x="9531350" y="2025650"/>
            <a:ext cx="1276350" cy="1276350"/>
          </a:xfrm>
          <a:prstGeom xmlns:a="http://schemas.openxmlformats.org/drawingml/2006/main" prst="rect">
            <a:avLst/>
          </a:prstGeom>
        </p:spPr>
      </p:pic>
    </p:spTree>
    <p:extLst>
      <p:ext uri="{BB962C8B-B14F-4D97-AF65-F5344CB8AC3E}">
        <p14:creationId xmlns:p14="http://schemas.microsoft.com/office/powerpoint/2010/main" val="177561582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1" name="Rectangle 40">
            <a:extLst xmlns:a="http://schemas.openxmlformats.org/drawingml/2006/main">
              <a:ext uri="{FF2B5EF4-FFF2-40B4-BE49-F238E27FC236}">
                <a16:creationId xmlns:a16="http://schemas.microsoft.com/office/drawing/2014/main" id="{02E8F601-1E51-47DB-BA09-7E08137EBF5A}"/>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PATIENT EXPERIENCE</a:t>
            </a:r>
          </a:p>
        </p:txBody>
      </p:sp>
      <p:sp>
        <p:nvSpPr>
          <p:cNvPr id="2" name="Rectangle 1">
            <a:extLst xmlns:a="http://schemas.openxmlformats.org/drawingml/2006/main">
              <a:ext uri="{FF2B5EF4-FFF2-40B4-BE49-F238E27FC236}">
                <a16:creationId xmlns:a16="http://schemas.microsoft.com/office/drawing/2014/main" id="{3A19322C-3861-4145-8641-1DACAC902933}"/>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One website can guide the patient journey</a:t>
            </a:r>
          </a:p>
        </p:txBody>
      </p:sp>
      <p:sp>
        <p:nvSpPr>
          <p:cNvPr id="3" name="Rectangle 2">
            <a:extLst xmlns:a="http://schemas.openxmlformats.org/drawingml/2006/main">
              <a:ext uri="{FF2B5EF4-FFF2-40B4-BE49-F238E27FC236}">
                <a16:creationId xmlns:a16="http://schemas.microsoft.com/office/drawing/2014/main" id="{44F8AE57-2772-4006-8BAF-376C60AD5332}"/>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05</a:t>
            </a:r>
          </a:p>
        </p:txBody>
      </p:sp>
      <p:sp>
        <p:nvSpPr>
          <p:cNvPr id="4" name="Rectangle 3">
            <a:extLst xmlns:a="http://schemas.openxmlformats.org/drawingml/2006/main">
              <a:ext uri="{FF2B5EF4-FFF2-40B4-BE49-F238E27FC236}">
                <a16:creationId xmlns:a16="http://schemas.microsoft.com/office/drawing/2014/main" id="{ECE0C5DA-80F1-4866-803E-254A8EE57CA9}"/>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78C4844-4035-48A7-8001-4A1EFA01FFEF}"/>
              </a:ext>
            </a:extLst>
          </p:cNvPr>
          <p:cNvSpPr>
            <a:spLocks xmlns:a="http://schemas.openxmlformats.org/drawingml/2006/main" noGrp="1"/>
          </p:cNvSpPr>
          <p:nvPr/>
        </p:nvSpPr>
        <p:spPr>
          <a:xfrm xmlns:a="http://schemas.openxmlformats.org/drawingml/2006/main">
            <a:off x="990600" y="2428875"/>
            <a:ext cx="342900" cy="28575"/>
          </a:xfrm>
          <a:prstGeom xmlns:a="http://schemas.openxmlformats.org/drawingml/2006/main" prst="rect">
            <a:avLst/>
          </a:prstGeom>
          <a:solidFill xmlns:a="http://schemas.openxmlformats.org/drawingml/2006/main">
            <a:srgbClr val="B9D8DB"/>
          </a:solidFill>
          <a:ln xmlns:a="http://schemas.openxmlformats.org/drawingml/2006/main" w="0">
            <a:solidFill>
              <a:srgbClr val="B9D8DB"/>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Oval 5">
            <a:extLst xmlns:a="http://schemas.openxmlformats.org/drawingml/2006/main">
              <a:ext uri="{FF2B5EF4-FFF2-40B4-BE49-F238E27FC236}">
                <a16:creationId xmlns:a16="http://schemas.microsoft.com/office/drawing/2014/main" id="{BF77B575-CD72-4DC2-AB2D-08FF9473829B}"/>
              </a:ext>
            </a:extLst>
          </p:cNvPr>
          <p:cNvSpPr>
            <a:spLocks xmlns:a="http://schemas.openxmlformats.org/drawingml/2006/main" noGrp="1"/>
          </p:cNvSpPr>
          <p:nvPr/>
        </p:nvSpPr>
        <p:spPr>
          <a:xfrm xmlns:a="http://schemas.openxmlformats.org/drawingml/2006/main">
            <a:off x="685800" y="2095500"/>
            <a:ext cx="609600" cy="609600"/>
          </a:xfrm>
          <a:prstGeom xmlns:a="http://schemas.openxmlformats.org/drawingml/2006/main" prst="ellipse">
            <a:avLst/>
          </a:prstGeom>
          <a:solidFill xmlns:a="http://schemas.openxmlformats.org/drawingml/2006/main">
            <a:srgbClr val="238E89"/>
          </a:solidFill>
          <a:ln xmlns:a="http://schemas.openxmlformats.org/drawingml/2006/main" w="0">
            <a:solidFill>
              <a:srgbClr val="238E89"/>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CBE100BA-DE7D-4A00-8BBE-BEECF072D186}"/>
              </a:ext>
            </a:extLst>
          </p:cNvPr>
          <p:cNvSpPr>
            <a:spLocks xmlns:a="http://schemas.openxmlformats.org/drawingml/2006/main" noGrp="1"/>
          </p:cNvSpPr>
          <p:nvPr/>
        </p:nvSpPr>
        <p:spPr>
          <a:xfrm xmlns:a="http://schemas.openxmlformats.org/drawingml/2006/main">
            <a:off x="685800" y="22764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01</a:t>
            </a:r>
          </a:p>
        </p:txBody>
      </p:sp>
      <p:sp>
        <p:nvSpPr>
          <p:cNvPr id="8" name="Rectangle 7">
            <a:extLst xmlns:a="http://schemas.openxmlformats.org/drawingml/2006/main">
              <a:ext uri="{FF2B5EF4-FFF2-40B4-BE49-F238E27FC236}">
                <a16:creationId xmlns:a16="http://schemas.microsoft.com/office/drawing/2014/main" id="{DFB2D644-7B9A-4C9E-9B7A-29DD5A17954A}"/>
              </a:ext>
            </a:extLst>
          </p:cNvPr>
          <p:cNvSpPr>
            <a:spLocks xmlns:a="http://schemas.openxmlformats.org/drawingml/2006/main" noGrp="1"/>
          </p:cNvSpPr>
          <p:nvPr/>
        </p:nvSpPr>
        <p:spPr>
          <a:xfrm xmlns:a="http://schemas.openxmlformats.org/drawingml/2006/main">
            <a:off x="1485900" y="20574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73F59"/>
                </a:solidFill>
              </a:defRPr>
            </a:pPr>
            <a:r>
              <a:rPr sz="1725" b="1">
                <a:solidFill>
                  <a:srgbClr val="173F59"/>
                </a:solidFill>
              </a:rPr>
              <a:t>Find the right care</a:t>
            </a:r>
          </a:p>
        </p:txBody>
      </p:sp>
      <p:sp>
        <p:nvSpPr>
          <p:cNvPr id="9" name="Rectangle 8">
            <a:extLst xmlns:a="http://schemas.openxmlformats.org/drawingml/2006/main">
              <a:ext uri="{FF2B5EF4-FFF2-40B4-BE49-F238E27FC236}">
                <a16:creationId xmlns:a16="http://schemas.microsoft.com/office/drawing/2014/main" id="{F48817BE-4567-4249-B485-D2AB35E04C6B}"/>
              </a:ext>
            </a:extLst>
          </p:cNvPr>
          <p:cNvSpPr>
            <a:spLocks xmlns:a="http://schemas.openxmlformats.org/drawingml/2006/main" noGrp="1"/>
          </p:cNvSpPr>
          <p:nvPr/>
        </p:nvSpPr>
        <p:spPr>
          <a:xfrm xmlns:a="http://schemas.openxmlformats.org/drawingml/2006/main">
            <a:off x="1485900" y="2409825"/>
            <a:ext cx="581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27887"/>
                </a:solidFill>
              </a:defRPr>
            </a:pPr>
            <a:r>
              <a:rPr sz="1200" b="0">
                <a:solidFill>
                  <a:srgbClr val="627887"/>
                </a:solidFill>
              </a:rPr>
              <a:t>Discover MarMed online  •  Understand services  •  Choose a doctor or service</a:t>
            </a:r>
          </a:p>
        </p:txBody>
      </p:sp>
      <p:sp>
        <p:nvSpPr>
          <p:cNvPr id="10" name="Rectangle 9">
            <a:extLst xmlns:a="http://schemas.openxmlformats.org/drawingml/2006/main">
              <a:ext uri="{FF2B5EF4-FFF2-40B4-BE49-F238E27FC236}">
                <a16:creationId xmlns:a16="http://schemas.microsoft.com/office/drawing/2014/main" id="{026BD427-74CA-4684-AA14-EE156A1133D9}"/>
              </a:ext>
            </a:extLst>
          </p:cNvPr>
          <p:cNvSpPr>
            <a:spLocks xmlns:a="http://schemas.openxmlformats.org/drawingml/2006/main" noGrp="1"/>
          </p:cNvSpPr>
          <p:nvPr/>
        </p:nvSpPr>
        <p:spPr>
          <a:xfrm xmlns:a="http://schemas.openxmlformats.org/drawingml/2006/main">
            <a:off x="990600" y="3590925"/>
            <a:ext cx="342900" cy="28575"/>
          </a:xfrm>
          <a:prstGeom xmlns:a="http://schemas.openxmlformats.org/drawingml/2006/main" prst="rect">
            <a:avLst/>
          </a:prstGeom>
          <a:solidFill xmlns:a="http://schemas.openxmlformats.org/drawingml/2006/main">
            <a:srgbClr val="B9D8DB"/>
          </a:solidFill>
          <a:ln xmlns:a="http://schemas.openxmlformats.org/drawingml/2006/main" w="0">
            <a:solidFill>
              <a:srgbClr val="B9D8DB"/>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Oval 10">
            <a:extLst xmlns:a="http://schemas.openxmlformats.org/drawingml/2006/main">
              <a:ext uri="{FF2B5EF4-FFF2-40B4-BE49-F238E27FC236}">
                <a16:creationId xmlns:a16="http://schemas.microsoft.com/office/drawing/2014/main" id="{2F4F942F-92BA-4B6E-B6F3-A1272096DFFF}"/>
              </a:ext>
            </a:extLst>
          </p:cNvPr>
          <p:cNvSpPr>
            <a:spLocks xmlns:a="http://schemas.openxmlformats.org/drawingml/2006/main" noGrp="1"/>
          </p:cNvSpPr>
          <p:nvPr/>
        </p:nvSpPr>
        <p:spPr>
          <a:xfrm xmlns:a="http://schemas.openxmlformats.org/drawingml/2006/main">
            <a:off x="685800" y="3257550"/>
            <a:ext cx="609600" cy="609600"/>
          </a:xfrm>
          <a:prstGeom xmlns:a="http://schemas.openxmlformats.org/drawingml/2006/main" prst="ellipse">
            <a:avLst/>
          </a:prstGeom>
          <a:solidFill xmlns:a="http://schemas.openxmlformats.org/drawingml/2006/main">
            <a:srgbClr val="238E89"/>
          </a:solidFill>
          <a:ln xmlns:a="http://schemas.openxmlformats.org/drawingml/2006/main" w="0">
            <a:solidFill>
              <a:srgbClr val="238E89"/>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0C6CE13C-105C-44A2-9AC4-B7A902917C37}"/>
              </a:ext>
            </a:extLst>
          </p:cNvPr>
          <p:cNvSpPr>
            <a:spLocks xmlns:a="http://schemas.openxmlformats.org/drawingml/2006/main" noGrp="1"/>
          </p:cNvSpPr>
          <p:nvPr/>
        </p:nvSpPr>
        <p:spPr>
          <a:xfrm xmlns:a="http://schemas.openxmlformats.org/drawingml/2006/main">
            <a:off x="685800" y="343852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02</a:t>
            </a:r>
          </a:p>
        </p:txBody>
      </p:sp>
      <p:sp>
        <p:nvSpPr>
          <p:cNvPr id="13" name="Rectangle 12">
            <a:extLst xmlns:a="http://schemas.openxmlformats.org/drawingml/2006/main">
              <a:ext uri="{FF2B5EF4-FFF2-40B4-BE49-F238E27FC236}">
                <a16:creationId xmlns:a16="http://schemas.microsoft.com/office/drawing/2014/main" id="{F70AA285-B3B0-4A92-B329-178DE32AF66D}"/>
              </a:ext>
            </a:extLst>
          </p:cNvPr>
          <p:cNvSpPr>
            <a:spLocks xmlns:a="http://schemas.openxmlformats.org/drawingml/2006/main" noGrp="1"/>
          </p:cNvSpPr>
          <p:nvPr/>
        </p:nvSpPr>
        <p:spPr>
          <a:xfrm xmlns:a="http://schemas.openxmlformats.org/drawingml/2006/main">
            <a:off x="1485900" y="32194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73F59"/>
                </a:solidFill>
              </a:defRPr>
            </a:pPr>
            <a:r>
              <a:rPr sz="1725" b="1">
                <a:solidFill>
                  <a:srgbClr val="173F59"/>
                </a:solidFill>
              </a:rPr>
              <a:t>Plan the visit</a:t>
            </a:r>
          </a:p>
        </p:txBody>
      </p:sp>
      <p:sp>
        <p:nvSpPr>
          <p:cNvPr id="14" name="Rectangle 13">
            <a:extLst xmlns:a="http://schemas.openxmlformats.org/drawingml/2006/main">
              <a:ext uri="{FF2B5EF4-FFF2-40B4-BE49-F238E27FC236}">
                <a16:creationId xmlns:a16="http://schemas.microsoft.com/office/drawing/2014/main" id="{FA50DECA-8748-46A2-A51A-AF2515E12F82}"/>
              </a:ext>
            </a:extLst>
          </p:cNvPr>
          <p:cNvSpPr>
            <a:spLocks xmlns:a="http://schemas.openxmlformats.org/drawingml/2006/main" noGrp="1"/>
          </p:cNvSpPr>
          <p:nvPr/>
        </p:nvSpPr>
        <p:spPr>
          <a:xfrm xmlns:a="http://schemas.openxmlformats.org/drawingml/2006/main">
            <a:off x="1485900" y="3571875"/>
            <a:ext cx="581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27887"/>
                </a:solidFill>
              </a:defRPr>
            </a:pPr>
            <a:r>
              <a:rPr sz="1200" b="0">
                <a:solidFill>
                  <a:srgbClr val="627887"/>
                </a:solidFill>
              </a:rPr>
              <a:t>Review schedules, preparation instructions and MarMed-approved requirements</a:t>
            </a:r>
          </a:p>
        </p:txBody>
      </p:sp>
      <p:sp>
        <p:nvSpPr>
          <p:cNvPr id="15" name="Rectangle 14">
            <a:extLst xmlns:a="http://schemas.openxmlformats.org/drawingml/2006/main">
              <a:ext uri="{FF2B5EF4-FFF2-40B4-BE49-F238E27FC236}">
                <a16:creationId xmlns:a16="http://schemas.microsoft.com/office/drawing/2014/main" id="{946929F9-835D-4714-8B80-8DBDC0E33F4E}"/>
              </a:ext>
            </a:extLst>
          </p:cNvPr>
          <p:cNvSpPr>
            <a:spLocks xmlns:a="http://schemas.openxmlformats.org/drawingml/2006/main" noGrp="1"/>
          </p:cNvSpPr>
          <p:nvPr/>
        </p:nvSpPr>
        <p:spPr>
          <a:xfrm xmlns:a="http://schemas.openxmlformats.org/drawingml/2006/main">
            <a:off x="990600" y="4752975"/>
            <a:ext cx="342900" cy="28575"/>
          </a:xfrm>
          <a:prstGeom xmlns:a="http://schemas.openxmlformats.org/drawingml/2006/main" prst="rect">
            <a:avLst/>
          </a:prstGeom>
          <a:solidFill xmlns:a="http://schemas.openxmlformats.org/drawingml/2006/main">
            <a:srgbClr val="B9D8DB"/>
          </a:solidFill>
          <a:ln xmlns:a="http://schemas.openxmlformats.org/drawingml/2006/main" w="0">
            <a:solidFill>
              <a:srgbClr val="B9D8D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Oval 15">
            <a:extLst xmlns:a="http://schemas.openxmlformats.org/drawingml/2006/main">
              <a:ext uri="{FF2B5EF4-FFF2-40B4-BE49-F238E27FC236}">
                <a16:creationId xmlns:a16="http://schemas.microsoft.com/office/drawing/2014/main" id="{F21B7F5C-8DB7-4E9F-99CB-4B12308F5614}"/>
              </a:ext>
            </a:extLst>
          </p:cNvPr>
          <p:cNvSpPr>
            <a:spLocks xmlns:a="http://schemas.openxmlformats.org/drawingml/2006/main" noGrp="1"/>
          </p:cNvSpPr>
          <p:nvPr/>
        </p:nvSpPr>
        <p:spPr>
          <a:xfrm xmlns:a="http://schemas.openxmlformats.org/drawingml/2006/main">
            <a:off x="685800" y="4419600"/>
            <a:ext cx="609600" cy="609600"/>
          </a:xfrm>
          <a:prstGeom xmlns:a="http://schemas.openxmlformats.org/drawingml/2006/main" prst="ellipse">
            <a:avLst/>
          </a:prstGeom>
          <a:solidFill xmlns:a="http://schemas.openxmlformats.org/drawingml/2006/main">
            <a:srgbClr val="5C9F73"/>
          </a:solidFill>
          <a:ln xmlns:a="http://schemas.openxmlformats.org/drawingml/2006/main" w="0">
            <a:solidFill>
              <a:srgbClr val="5C9F73"/>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9E205A52-E071-43CD-BE59-97ED632DC210}"/>
              </a:ext>
            </a:extLst>
          </p:cNvPr>
          <p:cNvSpPr>
            <a:spLocks xmlns:a="http://schemas.openxmlformats.org/drawingml/2006/main" noGrp="1"/>
          </p:cNvSpPr>
          <p:nvPr/>
        </p:nvSpPr>
        <p:spPr>
          <a:xfrm xmlns:a="http://schemas.openxmlformats.org/drawingml/2006/main">
            <a:off x="685800" y="4600575"/>
            <a:ext cx="609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r>
              <a:rPr sz="1350" b="1">
                <a:solidFill>
                  <a:srgbClr val="FFFFFF"/>
                </a:solidFill>
              </a:rPr>
              <a:t>03</a:t>
            </a:r>
          </a:p>
        </p:txBody>
      </p:sp>
      <p:sp>
        <p:nvSpPr>
          <p:cNvPr id="18" name="Rectangle 17">
            <a:extLst xmlns:a="http://schemas.openxmlformats.org/drawingml/2006/main">
              <a:ext uri="{FF2B5EF4-FFF2-40B4-BE49-F238E27FC236}">
                <a16:creationId xmlns:a16="http://schemas.microsoft.com/office/drawing/2014/main" id="{1B4B94B9-958B-49D6-8C54-2803212CF45C}"/>
              </a:ext>
            </a:extLst>
          </p:cNvPr>
          <p:cNvSpPr>
            <a:spLocks xmlns:a="http://schemas.openxmlformats.org/drawingml/2006/main" noGrp="1"/>
          </p:cNvSpPr>
          <p:nvPr/>
        </p:nvSpPr>
        <p:spPr>
          <a:xfrm xmlns:a="http://schemas.openxmlformats.org/drawingml/2006/main">
            <a:off x="1485900" y="438150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173F59"/>
                </a:solidFill>
              </a:defRPr>
            </a:pPr>
            <a:r>
              <a:rPr sz="1725" b="1">
                <a:solidFill>
                  <a:srgbClr val="173F59"/>
                </a:solidFill>
              </a:rPr>
              <a:t>Connect with MarMed</a:t>
            </a:r>
          </a:p>
        </p:txBody>
      </p:sp>
      <p:sp>
        <p:nvSpPr>
          <p:cNvPr id="19" name="Rectangle 18">
            <a:extLst xmlns:a="http://schemas.openxmlformats.org/drawingml/2006/main">
              <a:ext uri="{FF2B5EF4-FFF2-40B4-BE49-F238E27FC236}">
                <a16:creationId xmlns:a16="http://schemas.microsoft.com/office/drawing/2014/main" id="{ACBB081A-DAA3-47DC-A7DA-BAAD9021EC00}"/>
              </a:ext>
            </a:extLst>
          </p:cNvPr>
          <p:cNvSpPr>
            <a:spLocks xmlns:a="http://schemas.openxmlformats.org/drawingml/2006/main" noGrp="1"/>
          </p:cNvSpPr>
          <p:nvPr/>
        </p:nvSpPr>
        <p:spPr>
          <a:xfrm xmlns:a="http://schemas.openxmlformats.org/drawingml/2006/main">
            <a:off x="1485900" y="4733925"/>
            <a:ext cx="581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627887"/>
                </a:solidFill>
              </a:defRPr>
            </a:pPr>
            <a:r>
              <a:rPr sz="1200" b="0">
                <a:solidFill>
                  <a:srgbClr val="627887"/>
                </a:solidFill>
              </a:rPr>
              <a:t>Send an appointment or inquiry request  •  MarMed staff confirms the next step</a:t>
            </a:r>
          </a:p>
        </p:txBody>
      </p:sp>
      <p:sp>
        <p:nvSpPr>
          <p:cNvPr id="20" name="Rectangle 19">
            <a:extLst xmlns:a="http://schemas.openxmlformats.org/drawingml/2006/main">
              <a:ext uri="{FF2B5EF4-FFF2-40B4-BE49-F238E27FC236}">
                <a16:creationId xmlns:a16="http://schemas.microsoft.com/office/drawing/2014/main" id="{2D943B4B-842F-425D-A31C-8C21FBE3DD43}"/>
              </a:ext>
            </a:extLst>
          </p:cNvPr>
          <p:cNvSpPr>
            <a:spLocks xmlns:a="http://schemas.openxmlformats.org/drawingml/2006/main" noGrp="1"/>
          </p:cNvSpPr>
          <p:nvPr/>
        </p:nvSpPr>
        <p:spPr>
          <a:xfrm xmlns:a="http://schemas.openxmlformats.org/drawingml/2006/main">
            <a:off x="7581900" y="5715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1" name="Oval 20">
            <a:extLst xmlns:a="http://schemas.openxmlformats.org/drawingml/2006/main">
              <a:ext uri="{FF2B5EF4-FFF2-40B4-BE49-F238E27FC236}">
                <a16:creationId xmlns:a16="http://schemas.microsoft.com/office/drawing/2014/main" id="{0DFA293F-F0CB-4F30-AE03-567174973296}"/>
              </a:ext>
            </a:extLst>
          </p:cNvPr>
          <p:cNvSpPr>
            <a:spLocks xmlns:a="http://schemas.openxmlformats.org/drawingml/2006/main" noGrp="1"/>
          </p:cNvSpPr>
          <p:nvPr/>
        </p:nvSpPr>
        <p:spPr>
          <a:xfrm xmlns:a="http://schemas.openxmlformats.org/drawingml/2006/main">
            <a:off x="7600950" y="5734050"/>
            <a:ext cx="9525" cy="9525"/>
          </a:xfrm>
          <a:prstGeom xmlns:a="http://schemas.openxmlformats.org/drawingml/2006/main" prst="ellipse">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38150619-7DDB-4E35-AD1F-4B78784488BA}"/>
              </a:ext>
            </a:extLst>
          </p:cNvPr>
          <p:cNvSpPr>
            <a:spLocks xmlns:a="http://schemas.openxmlformats.org/drawingml/2006/main" noGrp="1"/>
          </p:cNvSpPr>
          <p:nvPr/>
        </p:nvSpPr>
        <p:spPr>
          <a:xfrm xmlns:a="http://schemas.openxmlformats.org/drawingml/2006/main">
            <a:off x="7581900" y="57150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endParaRPr/>
          </a:p>
        </p:txBody>
      </p:sp>
      <p:sp>
        <p:nvSpPr>
          <p:cNvPr id="23" name="Rectangle 22">
            <a:extLst xmlns:a="http://schemas.openxmlformats.org/drawingml/2006/main">
              <a:ext uri="{FF2B5EF4-FFF2-40B4-BE49-F238E27FC236}">
                <a16:creationId xmlns:a16="http://schemas.microsoft.com/office/drawing/2014/main" id="{25B4FF72-DD91-4583-97E6-FD69E0FBA930}"/>
              </a:ext>
            </a:extLst>
          </p:cNvPr>
          <p:cNvSpPr>
            <a:spLocks xmlns:a="http://schemas.openxmlformats.org/drawingml/2006/main" noGrp="1"/>
          </p:cNvSpPr>
          <p:nvPr/>
        </p:nvSpPr>
        <p:spPr>
          <a:xfrm xmlns:a="http://schemas.openxmlformats.org/drawingml/2006/main">
            <a:off x="7581900" y="5724525"/>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23B55"/>
                </a:solidFill>
              </a:defRPr>
            </a:pPr>
            <a:endParaRPr/>
          </a:p>
        </p:txBody>
      </p:sp>
      <p:sp>
        <p:nvSpPr>
          <p:cNvPr id="24" name="Rectangle 23">
            <a:extLst xmlns:a="http://schemas.openxmlformats.org/drawingml/2006/main">
              <a:ext uri="{FF2B5EF4-FFF2-40B4-BE49-F238E27FC236}">
                <a16:creationId xmlns:a16="http://schemas.microsoft.com/office/drawing/2014/main" id="{9124761B-91E6-4BA9-8CE1-DB5E5066CEC8}"/>
              </a:ext>
            </a:extLst>
          </p:cNvPr>
          <p:cNvSpPr>
            <a:spLocks xmlns:a="http://schemas.openxmlformats.org/drawingml/2006/main" noGrp="1"/>
          </p:cNvSpPr>
          <p:nvPr/>
        </p:nvSpPr>
        <p:spPr>
          <a:xfrm xmlns:a="http://schemas.openxmlformats.org/drawingml/2006/main">
            <a:off x="7581900" y="573405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a:solidFill>
                  <a:srgbClr val="5D7079"/>
                </a:solidFill>
              </a:defRPr>
            </a:pPr>
            <a:endParaRPr/>
          </a:p>
        </p:txBody>
      </p:sp>
      <p:sp>
        <p:nvSpPr>
          <p:cNvPr id="25" name="Rectangle 24">
            <a:extLst xmlns:a="http://schemas.openxmlformats.org/drawingml/2006/main">
              <a:ext uri="{FF2B5EF4-FFF2-40B4-BE49-F238E27FC236}">
                <a16:creationId xmlns:a16="http://schemas.microsoft.com/office/drawing/2014/main" id="{9F5EC59A-E9EB-44F6-88E5-B162509AC83F}"/>
              </a:ext>
            </a:extLst>
          </p:cNvPr>
          <p:cNvSpPr>
            <a:spLocks xmlns:a="http://schemas.openxmlformats.org/drawingml/2006/main" noGrp="1"/>
          </p:cNvSpPr>
          <p:nvPr/>
        </p:nvSpPr>
        <p:spPr>
          <a:xfrm xmlns:a="http://schemas.openxmlformats.org/drawingml/2006/main">
            <a:off x="7620000" y="57531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6" name="Oval 25">
            <a:extLst xmlns:a="http://schemas.openxmlformats.org/drawingml/2006/main">
              <a:ext uri="{FF2B5EF4-FFF2-40B4-BE49-F238E27FC236}">
                <a16:creationId xmlns:a16="http://schemas.microsoft.com/office/drawing/2014/main" id="{3F789C90-ED0C-440C-843C-FBE1541278A4}"/>
              </a:ext>
            </a:extLst>
          </p:cNvPr>
          <p:cNvSpPr>
            <a:spLocks xmlns:a="http://schemas.openxmlformats.org/drawingml/2006/main" noGrp="1"/>
          </p:cNvSpPr>
          <p:nvPr/>
        </p:nvSpPr>
        <p:spPr>
          <a:xfrm xmlns:a="http://schemas.openxmlformats.org/drawingml/2006/main">
            <a:off x="7639050" y="5772150"/>
            <a:ext cx="9525" cy="9525"/>
          </a:xfrm>
          <a:prstGeom xmlns:a="http://schemas.openxmlformats.org/drawingml/2006/main" prst="ellipse">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D5C6C6AC-E6F2-4C78-86C2-8904A26AED23}"/>
              </a:ext>
            </a:extLst>
          </p:cNvPr>
          <p:cNvSpPr>
            <a:spLocks xmlns:a="http://schemas.openxmlformats.org/drawingml/2006/main" noGrp="1"/>
          </p:cNvSpPr>
          <p:nvPr/>
        </p:nvSpPr>
        <p:spPr>
          <a:xfrm xmlns:a="http://schemas.openxmlformats.org/drawingml/2006/main">
            <a:off x="7581900" y="5743575"/>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endParaRPr/>
          </a:p>
        </p:txBody>
      </p:sp>
      <p:sp>
        <p:nvSpPr>
          <p:cNvPr id="28" name="Rectangle 27">
            <a:extLst xmlns:a="http://schemas.openxmlformats.org/drawingml/2006/main">
              <a:ext uri="{FF2B5EF4-FFF2-40B4-BE49-F238E27FC236}">
                <a16:creationId xmlns:a16="http://schemas.microsoft.com/office/drawing/2014/main" id="{CB75690C-1436-4A3A-B8B2-10F5A82BF647}"/>
              </a:ext>
            </a:extLst>
          </p:cNvPr>
          <p:cNvSpPr>
            <a:spLocks xmlns:a="http://schemas.openxmlformats.org/drawingml/2006/main" noGrp="1"/>
          </p:cNvSpPr>
          <p:nvPr/>
        </p:nvSpPr>
        <p:spPr>
          <a:xfrm xmlns:a="http://schemas.openxmlformats.org/drawingml/2006/main">
            <a:off x="7581900" y="57531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23B55"/>
                </a:solidFill>
              </a:defRPr>
            </a:pPr>
            <a:endParaRPr/>
          </a:p>
        </p:txBody>
      </p:sp>
      <p:sp>
        <p:nvSpPr>
          <p:cNvPr id="29" name="Rectangle 28">
            <a:extLst xmlns:a="http://schemas.openxmlformats.org/drawingml/2006/main">
              <a:ext uri="{FF2B5EF4-FFF2-40B4-BE49-F238E27FC236}">
                <a16:creationId xmlns:a16="http://schemas.microsoft.com/office/drawing/2014/main" id="{C3FF34B6-F85E-4A2D-8812-AB111EB2B435}"/>
              </a:ext>
            </a:extLst>
          </p:cNvPr>
          <p:cNvSpPr>
            <a:spLocks xmlns:a="http://schemas.openxmlformats.org/drawingml/2006/main" noGrp="1"/>
          </p:cNvSpPr>
          <p:nvPr/>
        </p:nvSpPr>
        <p:spPr>
          <a:xfrm xmlns:a="http://schemas.openxmlformats.org/drawingml/2006/main">
            <a:off x="7581900" y="5762625"/>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a:solidFill>
                  <a:srgbClr val="5D7079"/>
                </a:solidFill>
              </a:defRPr>
            </a:pPr>
            <a:endParaRPr/>
          </a:p>
        </p:txBody>
      </p:sp>
      <p:sp>
        <p:nvSpPr>
          <p:cNvPr id="30" name="Oval 29">
            <a:extLst xmlns:a="http://schemas.openxmlformats.org/drawingml/2006/main">
              <a:ext uri="{FF2B5EF4-FFF2-40B4-BE49-F238E27FC236}">
                <a16:creationId xmlns:a16="http://schemas.microsoft.com/office/drawing/2014/main" id="{76407738-C70A-4674-86C7-147F3AF7DF0A}"/>
              </a:ext>
            </a:extLst>
          </p:cNvPr>
          <p:cNvSpPr>
            <a:spLocks xmlns:a="http://schemas.openxmlformats.org/drawingml/2006/main" noGrp="1"/>
          </p:cNvSpPr>
          <p:nvPr/>
        </p:nvSpPr>
        <p:spPr>
          <a:xfrm xmlns:a="http://schemas.openxmlformats.org/drawingml/2006/main">
            <a:off x="7658100" y="5791200"/>
            <a:ext cx="9525" cy="9525"/>
          </a:xfrm>
          <a:prstGeom xmlns:a="http://schemas.openxmlformats.org/drawingml/2006/main" prst="ellipse">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31" name="Rectangle 30">
            <a:extLst xmlns:a="http://schemas.openxmlformats.org/drawingml/2006/main">
              <a:ext uri="{FF2B5EF4-FFF2-40B4-BE49-F238E27FC236}">
                <a16:creationId xmlns:a16="http://schemas.microsoft.com/office/drawing/2014/main" id="{DAB4B1CA-846F-4098-AAB1-A31C8B41629E}"/>
              </a:ext>
            </a:extLst>
          </p:cNvPr>
          <p:cNvSpPr>
            <a:spLocks xmlns:a="http://schemas.openxmlformats.org/drawingml/2006/main" noGrp="1"/>
          </p:cNvSpPr>
          <p:nvPr/>
        </p:nvSpPr>
        <p:spPr>
          <a:xfrm xmlns:a="http://schemas.openxmlformats.org/drawingml/2006/main">
            <a:off x="7581900" y="577215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FFFFF"/>
                </a:solidFill>
              </a:defRPr>
            </a:pPr>
            <a:endParaRPr/>
          </a:p>
        </p:txBody>
      </p:sp>
      <p:sp>
        <p:nvSpPr>
          <p:cNvPr id="32" name="Rectangle 31">
            <a:extLst xmlns:a="http://schemas.openxmlformats.org/drawingml/2006/main">
              <a:ext uri="{FF2B5EF4-FFF2-40B4-BE49-F238E27FC236}">
                <a16:creationId xmlns:a16="http://schemas.microsoft.com/office/drawing/2014/main" id="{A4040244-A6F7-4EC5-9ADB-BEA26C4312B9}"/>
              </a:ext>
            </a:extLst>
          </p:cNvPr>
          <p:cNvSpPr>
            <a:spLocks xmlns:a="http://schemas.openxmlformats.org/drawingml/2006/main" noGrp="1"/>
          </p:cNvSpPr>
          <p:nvPr/>
        </p:nvSpPr>
        <p:spPr>
          <a:xfrm xmlns:a="http://schemas.openxmlformats.org/drawingml/2006/main">
            <a:off x="7581900" y="5781675"/>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23B55"/>
                </a:solidFill>
              </a:defRPr>
            </a:pPr>
            <a:endParaRPr/>
          </a:p>
        </p:txBody>
      </p:sp>
      <p:sp>
        <p:nvSpPr>
          <p:cNvPr id="33" name="Rectangle 32">
            <a:extLst xmlns:a="http://schemas.openxmlformats.org/drawingml/2006/main">
              <a:ext uri="{FF2B5EF4-FFF2-40B4-BE49-F238E27FC236}">
                <a16:creationId xmlns:a16="http://schemas.microsoft.com/office/drawing/2014/main" id="{CD170F2B-88BD-4491-B571-127FD707CA13}"/>
              </a:ext>
            </a:extLst>
          </p:cNvPr>
          <p:cNvSpPr>
            <a:spLocks xmlns:a="http://schemas.openxmlformats.org/drawingml/2006/main" noGrp="1"/>
          </p:cNvSpPr>
          <p:nvPr/>
        </p:nvSpPr>
        <p:spPr>
          <a:xfrm xmlns:a="http://schemas.openxmlformats.org/drawingml/2006/main">
            <a:off x="7581900" y="579120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a:solidFill>
                  <a:srgbClr val="5D7079"/>
                </a:solidFill>
              </a:defRPr>
            </a:pPr>
            <a:endParaRPr/>
          </a:p>
        </p:txBody>
      </p:sp>
      <p:sp>
        <p:nvSpPr>
          <p:cNvPr id="34" name="Rectangle: Rounded Corners 33">
            <a:extLst xmlns:a="http://schemas.openxmlformats.org/drawingml/2006/main">
              <a:ext uri="{FF2B5EF4-FFF2-40B4-BE49-F238E27FC236}">
                <a16:creationId xmlns:a16="http://schemas.microsoft.com/office/drawing/2014/main" id="{8ED8649D-C954-4ACB-9AC7-A57C4AD3212F}"/>
              </a:ext>
            </a:extLst>
          </p:cNvPr>
          <p:cNvSpPr>
            <a:spLocks xmlns:a="http://schemas.openxmlformats.org/drawingml/2006/main" noGrp="1"/>
          </p:cNvSpPr>
          <p:nvPr/>
        </p:nvSpPr>
        <p:spPr>
          <a:xfrm xmlns:a="http://schemas.openxmlformats.org/drawingml/2006/main">
            <a:off x="685800" y="5391150"/>
            <a:ext cx="6858000" cy="628650"/>
          </a:xfrm>
          <a:prstGeom xmlns:a="http://schemas.openxmlformats.org/drawingml/2006/main" prst="roundRect">
            <a:avLst>
              <a:gd name="adj" fmla="val 15493"/>
            </a:avLst>
          </a:prstGeom>
          <a:solidFill xmlns:a="http://schemas.openxmlformats.org/drawingml/2006/main">
            <a:srgbClr val="EDF5F6"/>
          </a:solidFill>
          <a:ln xmlns:a="http://schemas.openxmlformats.org/drawingml/2006/main" w="9525">
            <a:solidFill>
              <a:srgbClr val="D5E6E8"/>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Rectangle 34">
            <a:extLst xmlns:a="http://schemas.openxmlformats.org/drawingml/2006/main">
              <a:ext uri="{FF2B5EF4-FFF2-40B4-BE49-F238E27FC236}">
                <a16:creationId xmlns:a16="http://schemas.microsoft.com/office/drawing/2014/main" id="{182FCA8E-ACAD-4745-8BB2-90E6496F05C2}"/>
              </a:ext>
            </a:extLst>
          </p:cNvPr>
          <p:cNvSpPr>
            <a:spLocks xmlns:a="http://schemas.openxmlformats.org/drawingml/2006/main" noGrp="1"/>
          </p:cNvSpPr>
          <p:nvPr/>
        </p:nvSpPr>
        <p:spPr>
          <a:xfrm xmlns:a="http://schemas.openxmlformats.org/drawingml/2006/main">
            <a:off x="914400" y="55054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238E89"/>
                </a:solidFill>
              </a:defRPr>
            </a:pPr>
            <a:r>
              <a:rPr sz="975" b="1">
                <a:solidFill>
                  <a:srgbClr val="238E89"/>
                </a:solidFill>
              </a:rPr>
              <a:t>THE WEBSITE FOUNDATION</a:t>
            </a:r>
          </a:p>
        </p:txBody>
      </p:sp>
      <p:sp>
        <p:nvSpPr>
          <p:cNvPr id="36" name="Rectangle 35">
            <a:extLst xmlns:a="http://schemas.openxmlformats.org/drawingml/2006/main">
              <a:ext uri="{FF2B5EF4-FFF2-40B4-BE49-F238E27FC236}">
                <a16:creationId xmlns:a16="http://schemas.microsoft.com/office/drawing/2014/main" id="{CE19B7AB-5F28-4783-80B6-B83FD2DD690A}"/>
              </a:ext>
            </a:extLst>
          </p:cNvPr>
          <p:cNvSpPr>
            <a:spLocks xmlns:a="http://schemas.openxmlformats.org/drawingml/2006/main" noGrp="1"/>
          </p:cNvSpPr>
          <p:nvPr/>
        </p:nvSpPr>
        <p:spPr>
          <a:xfrm xmlns:a="http://schemas.openxmlformats.org/drawingml/2006/main">
            <a:off x="914400" y="5724525"/>
            <a:ext cx="638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1">
                <a:solidFill>
                  <a:srgbClr val="173F59"/>
                </a:solidFill>
              </a:defRPr>
            </a:pPr>
            <a:r>
              <a:rPr sz="1125" b="1">
                <a:solidFill>
                  <a:srgbClr val="173F59"/>
                </a:solidFill>
              </a:rPr>
              <a:t>Home  •  Services  •  Doctors  •  Laboratory  •  Appointment  •  PhilHealth/HMO  •  Contact</a:t>
            </a:r>
          </a:p>
        </p:txBody>
      </p:sp>
      <p:sp>
        <p:nvSpPr>
          <p:cNvPr id="37" name="Rectangle 36">
            <a:extLst xmlns:a="http://schemas.openxmlformats.org/drawingml/2006/main">
              <a:ext uri="{FF2B5EF4-FFF2-40B4-BE49-F238E27FC236}">
                <a16:creationId xmlns:a16="http://schemas.microsoft.com/office/drawing/2014/main" id="{94343501-D154-477C-BA08-5F7D2CA9DA43}"/>
              </a:ext>
            </a:extLst>
          </p:cNvPr>
          <p:cNvSpPr>
            <a:spLocks xmlns:a="http://schemas.openxmlformats.org/drawingml/2006/main" noGrp="1"/>
          </p:cNvSpPr>
          <p:nvPr/>
        </p:nvSpPr>
        <p:spPr>
          <a:xfrm xmlns:a="http://schemas.openxmlformats.org/drawingml/2006/main">
            <a:off x="7524750" y="6000750"/>
            <a:ext cx="9525" cy="9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D7079"/>
                </a:solidFill>
              </a:defRPr>
            </a:pPr>
            <a:endParaRPr/>
          </a:p>
        </p:txBody>
      </p:sp>
      <p:sp>
        <p:nvSpPr>
          <p:cNvPr id="38" name="Rectangle 37">
            <a:extLst xmlns:a="http://schemas.openxmlformats.org/drawingml/2006/main">
              <a:ext uri="{FF2B5EF4-FFF2-40B4-BE49-F238E27FC236}">
                <a16:creationId xmlns:a16="http://schemas.microsoft.com/office/drawing/2014/main" id="{C0564D15-A89A-4E67-873D-45A2CDF533E4}"/>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Rectangle 38">
            <a:extLst xmlns:a="http://schemas.openxmlformats.org/drawingml/2006/main">
              <a:ext uri="{FF2B5EF4-FFF2-40B4-BE49-F238E27FC236}">
                <a16:creationId xmlns:a16="http://schemas.microsoft.com/office/drawing/2014/main" id="{0035E07B-C444-4CB1-83DD-82D804899D76}"/>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40" name="Rectangle 39">
            <a:extLst xmlns:a="http://schemas.openxmlformats.org/drawingml/2006/main">
              <a:ext uri="{FF2B5EF4-FFF2-40B4-BE49-F238E27FC236}">
                <a16:creationId xmlns:a16="http://schemas.microsoft.com/office/drawing/2014/main" id="{AC8ABD83-FC19-42D7-B1C7-2F6C6944B50D}"/>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pic>
        <p:nvPicPr>
          <p:cNvPr id="83" name="Picture 82"/>
          <p:cNvPicPr>
            <a:picLocks xmlns:a="http://schemas.openxmlformats.org/drawingml/2006/main" noChangeAspect="1"/>
          </p:cNvPicPr>
          <p:nvPr/>
        </p:nvPicPr>
        <p:blipFill>
          <a:blip xmlns:r="http://schemas.openxmlformats.org/officeDocument/2006/relationships" xmlns:a="http://schemas.openxmlformats.org/drawingml/2006/main" r:embed="R959c1be3b6864765"/>
          <a:srcRect xmlns:a="http://schemas.openxmlformats.org/drawingml/2006/main" l="25880" t="0" r="25880" b="0"/>
          <a:stretch xmlns:a="http://schemas.openxmlformats.org/drawingml/2006/main">
            <a:fillRect l="0" t="0" r="0" b="0"/>
          </a:stretch>
        </p:blipFill>
        <p:spPr>
          <a:xfrm xmlns:a="http://schemas.openxmlformats.org/drawingml/2006/main">
            <a:off x="7848600" y="1752600"/>
            <a:ext cx="3657600" cy="4267200"/>
          </a:xfrm>
          <a:prstGeom xmlns:a="http://schemas.openxmlformats.org/drawingml/2006/main" prst="roundRect">
            <a:avLst>
              <a:gd name="adj" fmla="val 4167"/>
            </a:avLst>
          </a:prstGeom>
        </p:spPr>
      </p:pic>
    </p:spTree>
    <p:extLst>
      <p:ext uri="{BB962C8B-B14F-4D97-AF65-F5344CB8AC3E}">
        <p14:creationId xmlns:p14="http://schemas.microsoft.com/office/powerpoint/2010/main" val="709155030"/>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9" name="Rectangle 38">
            <a:extLst xmlns:a="http://schemas.openxmlformats.org/drawingml/2006/main">
              <a:ext uri="{FF2B5EF4-FFF2-40B4-BE49-F238E27FC236}">
                <a16:creationId xmlns:a16="http://schemas.microsoft.com/office/drawing/2014/main" id="{FDE59142-C7E7-4F37-9F34-2B179B5CD6CD}"/>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PROTOTYPE WALKTHROUGH</a:t>
            </a:r>
          </a:p>
        </p:txBody>
      </p:sp>
      <p:sp>
        <p:nvSpPr>
          <p:cNvPr id="2" name="Rectangle 1">
            <a:extLst xmlns:a="http://schemas.openxmlformats.org/drawingml/2006/main">
              <a:ext uri="{FF2B5EF4-FFF2-40B4-BE49-F238E27FC236}">
                <a16:creationId xmlns:a16="http://schemas.microsoft.com/office/drawing/2014/main" id="{BA495B6C-B4D9-4755-AC55-8E79DC659984}"/>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Use the prototype to validate the patient experience</a:t>
            </a:r>
          </a:p>
        </p:txBody>
      </p:sp>
      <p:sp>
        <p:nvSpPr>
          <p:cNvPr id="3" name="Rectangle 2">
            <a:extLst xmlns:a="http://schemas.openxmlformats.org/drawingml/2006/main">
              <a:ext uri="{FF2B5EF4-FFF2-40B4-BE49-F238E27FC236}">
                <a16:creationId xmlns:a16="http://schemas.microsoft.com/office/drawing/2014/main" id="{542FC3C3-6A83-4D1E-9DD0-EDEAFF646233}"/>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06</a:t>
            </a:r>
          </a:p>
        </p:txBody>
      </p:sp>
      <p:sp>
        <p:nvSpPr>
          <p:cNvPr id="4" name="Rectangle 3">
            <a:extLst xmlns:a="http://schemas.openxmlformats.org/drawingml/2006/main">
              <a:ext uri="{FF2B5EF4-FFF2-40B4-BE49-F238E27FC236}">
                <a16:creationId xmlns:a16="http://schemas.microsoft.com/office/drawing/2014/main" id="{F93FDA06-E39A-422F-98A0-4468083CB140}"/>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Rounded Corners 4">
            <a:extLst xmlns:a="http://schemas.openxmlformats.org/drawingml/2006/main">
              <a:ext uri="{FF2B5EF4-FFF2-40B4-BE49-F238E27FC236}">
                <a16:creationId xmlns:a16="http://schemas.microsoft.com/office/drawing/2014/main" id="{A839CD1E-55C7-46F9-9496-3E3C3236A5DF}"/>
              </a:ext>
            </a:extLst>
          </p:cNvPr>
          <p:cNvSpPr>
            <a:spLocks xmlns:a="http://schemas.openxmlformats.org/drawingml/2006/main" noGrp="1"/>
          </p:cNvSpPr>
          <p:nvPr/>
        </p:nvSpPr>
        <p:spPr>
          <a:xfrm xmlns:a="http://schemas.openxmlformats.org/drawingml/2006/main">
            <a:off x="685800" y="1809750"/>
            <a:ext cx="6667500" cy="3752850"/>
          </a:xfrm>
          <a:prstGeom xmlns:a="http://schemas.openxmlformats.org/drawingml/2006/main" prst="roundRect">
            <a:avLst>
              <a:gd name="adj" fmla="val 4569"/>
            </a:avLst>
          </a:prstGeom>
          <a:solidFill xmlns:a="http://schemas.openxmlformats.org/drawingml/2006/main">
            <a:srgbClr val="FFFFFF"/>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Rounded Corners 5">
            <a:extLst xmlns:a="http://schemas.openxmlformats.org/drawingml/2006/main">
              <a:ext uri="{FF2B5EF4-FFF2-40B4-BE49-F238E27FC236}">
                <a16:creationId xmlns:a16="http://schemas.microsoft.com/office/drawing/2014/main" id="{CFB5EF65-8436-4BD6-8711-B692A874EFD4}"/>
              </a:ext>
            </a:extLst>
          </p:cNvPr>
          <p:cNvSpPr>
            <a:spLocks xmlns:a="http://schemas.openxmlformats.org/drawingml/2006/main" noGrp="1"/>
          </p:cNvSpPr>
          <p:nvPr/>
        </p:nvSpPr>
        <p:spPr>
          <a:xfrm xmlns:a="http://schemas.openxmlformats.org/drawingml/2006/main">
            <a:off x="685800" y="1809750"/>
            <a:ext cx="6667500" cy="304800"/>
          </a:xfrm>
          <a:prstGeom xmlns:a="http://schemas.openxmlformats.org/drawingml/2006/main" prst="roundRect">
            <a:avLst>
              <a:gd name="adj" fmla="val 50000"/>
            </a:avLst>
          </a:prstGeom>
          <a:solidFill xmlns:a="http://schemas.openxmlformats.org/drawingml/2006/main">
            <a:srgbClr val="123B5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21764DFF-2172-40E6-822E-8204FE839B9F}"/>
              </a:ext>
            </a:extLst>
          </p:cNvPr>
          <p:cNvSpPr>
            <a:spLocks xmlns:a="http://schemas.openxmlformats.org/drawingml/2006/main" noGrp="1"/>
          </p:cNvSpPr>
          <p:nvPr/>
        </p:nvSpPr>
        <p:spPr>
          <a:xfrm xmlns:a="http://schemas.openxmlformats.org/drawingml/2006/main">
            <a:off x="914400" y="18859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FFFFFF"/>
                </a:solidFill>
              </a:defRPr>
            </a:pPr>
            <a:r>
              <a:rPr sz="825" b="1">
                <a:solidFill>
                  <a:srgbClr val="FFFFFF"/>
                </a:solidFill>
              </a:rPr>
              <a:t>DESKTOP CONCEPT</a:t>
            </a:r>
          </a:p>
        </p:txBody>
      </p:sp>
      <p:sp>
        <p:nvSpPr>
          <p:cNvPr id="8" name="Rectangle: Rounded Corners 7">
            <a:extLst xmlns:a="http://schemas.openxmlformats.org/drawingml/2006/main">
              <a:ext uri="{FF2B5EF4-FFF2-40B4-BE49-F238E27FC236}">
                <a16:creationId xmlns:a16="http://schemas.microsoft.com/office/drawing/2014/main" id="{A21AAC03-29F2-4A3F-B7D7-E967565F9E58}"/>
              </a:ext>
            </a:extLst>
          </p:cNvPr>
          <p:cNvSpPr>
            <a:spLocks xmlns:a="http://schemas.openxmlformats.org/drawingml/2006/main" noGrp="1"/>
          </p:cNvSpPr>
          <p:nvPr/>
        </p:nvSpPr>
        <p:spPr>
          <a:xfrm xmlns:a="http://schemas.openxmlformats.org/drawingml/2006/main">
            <a:off x="990600" y="2362200"/>
            <a:ext cx="6057900" cy="1352550"/>
          </a:xfrm>
          <a:prstGeom xmlns:a="http://schemas.openxmlformats.org/drawingml/2006/main" prst="roundRect">
            <a:avLst>
              <a:gd name="adj" fmla="val 8451"/>
            </a:avLst>
          </a:prstGeom>
          <a:solidFill xmlns:a="http://schemas.openxmlformats.org/drawingml/2006/main">
            <a:srgbClr val="E8F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CF32A919-6A62-41FF-9FD2-D38A2AF05C7C}"/>
              </a:ext>
            </a:extLst>
          </p:cNvPr>
          <p:cNvSpPr>
            <a:spLocks xmlns:a="http://schemas.openxmlformats.org/drawingml/2006/main" noGrp="1"/>
          </p:cNvSpPr>
          <p:nvPr/>
        </p:nvSpPr>
        <p:spPr>
          <a:xfrm xmlns:a="http://schemas.openxmlformats.org/drawingml/2006/main">
            <a:off x="1257300" y="2609850"/>
            <a:ext cx="3905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25" b="1">
                <a:solidFill>
                  <a:srgbClr val="123B55"/>
                </a:solidFill>
              </a:defRPr>
            </a:pPr>
            <a:r>
              <a:rPr sz="2025" b="1">
                <a:solidFill>
                  <a:srgbClr val="123B55"/>
                </a:solidFill>
              </a:rPr>
              <a:t>Complete Outpatient Care in One Convenient Location</a:t>
            </a:r>
          </a:p>
        </p:txBody>
      </p:sp>
      <p:sp>
        <p:nvSpPr>
          <p:cNvPr id="10" name="Rectangle: Rounded Corners 9">
            <a:extLst xmlns:a="http://schemas.openxmlformats.org/drawingml/2006/main">
              <a:ext uri="{FF2B5EF4-FFF2-40B4-BE49-F238E27FC236}">
                <a16:creationId xmlns:a16="http://schemas.microsoft.com/office/drawing/2014/main" id="{2C9C4456-B9CC-45BA-B0BB-AA9611644AE2}"/>
              </a:ext>
            </a:extLst>
          </p:cNvPr>
          <p:cNvSpPr>
            <a:spLocks xmlns:a="http://schemas.openxmlformats.org/drawingml/2006/main" noGrp="1"/>
          </p:cNvSpPr>
          <p:nvPr/>
        </p:nvSpPr>
        <p:spPr>
          <a:xfrm xmlns:a="http://schemas.openxmlformats.org/drawingml/2006/main">
            <a:off x="1257300" y="3295650"/>
            <a:ext cx="1619250" cy="323850"/>
          </a:xfrm>
          <a:prstGeom xmlns:a="http://schemas.openxmlformats.org/drawingml/2006/main" prst="roundRect">
            <a:avLst>
              <a:gd name="adj" fmla="val 29412"/>
            </a:avLst>
          </a:prstGeom>
          <a:solidFill xmlns:a="http://schemas.openxmlformats.org/drawingml/2006/main">
            <a:srgbClr val="2A8C87"/>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AD1190C4-F4F9-4435-BED8-BC18E8F53D06}"/>
              </a:ext>
            </a:extLst>
          </p:cNvPr>
          <p:cNvSpPr>
            <a:spLocks xmlns:a="http://schemas.openxmlformats.org/drawingml/2006/main" noGrp="1"/>
          </p:cNvSpPr>
          <p:nvPr/>
        </p:nvSpPr>
        <p:spPr>
          <a:xfrm xmlns:a="http://schemas.openxmlformats.org/drawingml/2006/main">
            <a:off x="1257300" y="33718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FFFFFF"/>
                </a:solidFill>
              </a:defRPr>
            </a:pPr>
            <a:r>
              <a:rPr sz="975" b="1">
                <a:solidFill>
                  <a:srgbClr val="FFFFFF"/>
                </a:solidFill>
              </a:rPr>
              <a:t>Explore Services</a:t>
            </a:r>
          </a:p>
        </p:txBody>
      </p:sp>
      <p:sp>
        <p:nvSpPr>
          <p:cNvPr id="12" name="Rectangle 11">
            <a:extLst xmlns:a="http://schemas.openxmlformats.org/drawingml/2006/main">
              <a:ext uri="{FF2B5EF4-FFF2-40B4-BE49-F238E27FC236}">
                <a16:creationId xmlns:a16="http://schemas.microsoft.com/office/drawing/2014/main" id="{8A477220-EE8E-439B-BF9C-66F9EF163362}"/>
              </a:ext>
            </a:extLst>
          </p:cNvPr>
          <p:cNvSpPr>
            <a:spLocks xmlns:a="http://schemas.openxmlformats.org/drawingml/2006/main" noGrp="1"/>
          </p:cNvSpPr>
          <p:nvPr/>
        </p:nvSpPr>
        <p:spPr>
          <a:xfrm xmlns:a="http://schemas.openxmlformats.org/drawingml/2006/main">
            <a:off x="990600" y="4152900"/>
            <a:ext cx="605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5D7079"/>
                </a:solidFill>
              </a:defRPr>
            </a:pPr>
            <a:r>
              <a:rPr sz="1200" b="0">
                <a:solidFill>
                  <a:srgbClr val="5D7079"/>
                </a:solidFill>
              </a:rPr>
              <a:t>Live prototype walkthrough</a:t>
            </a:r>
          </a:p>
        </p:txBody>
      </p:sp>
      <p:sp>
        <p:nvSpPr>
          <p:cNvPr id="13" name="Rectangle 12">
            <a:extLst xmlns:a="http://schemas.openxmlformats.org/drawingml/2006/main">
              <a:ext uri="{FF2B5EF4-FFF2-40B4-BE49-F238E27FC236}">
                <a16:creationId xmlns:a16="http://schemas.microsoft.com/office/drawing/2014/main" id="{76100CD4-E4EE-44DA-9C8F-9F1C45423A86}"/>
              </a:ext>
            </a:extLst>
          </p:cNvPr>
          <p:cNvSpPr>
            <a:spLocks xmlns:a="http://schemas.openxmlformats.org/drawingml/2006/main" noGrp="1"/>
          </p:cNvSpPr>
          <p:nvPr/>
        </p:nvSpPr>
        <p:spPr>
          <a:xfrm xmlns:a="http://schemas.openxmlformats.org/drawingml/2006/main">
            <a:off x="990600" y="4648200"/>
            <a:ext cx="605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75" b="1">
                <a:solidFill>
                  <a:srgbClr val="B97831"/>
                </a:solidFill>
              </a:defRPr>
            </a:pPr>
            <a:r>
              <a:rPr sz="975" b="1">
                <a:solidFill>
                  <a:srgbClr val="B97831"/>
                </a:solidFill>
              </a:rPr>
              <a:t>Homepage • Services • Inquiry flow</a:t>
            </a:r>
          </a:p>
        </p:txBody>
      </p:sp>
      <p:sp>
        <p:nvSpPr>
          <p:cNvPr id="14" name="Rectangle: Rounded Corners 13">
            <a:extLst xmlns:a="http://schemas.openxmlformats.org/drawingml/2006/main">
              <a:ext uri="{FF2B5EF4-FFF2-40B4-BE49-F238E27FC236}">
                <a16:creationId xmlns:a16="http://schemas.microsoft.com/office/drawing/2014/main" id="{67EB1F7C-3071-4437-94B9-57EACB793BBA}"/>
              </a:ext>
            </a:extLst>
          </p:cNvPr>
          <p:cNvSpPr>
            <a:spLocks xmlns:a="http://schemas.openxmlformats.org/drawingml/2006/main" noGrp="1"/>
          </p:cNvSpPr>
          <p:nvPr/>
        </p:nvSpPr>
        <p:spPr>
          <a:xfrm xmlns:a="http://schemas.openxmlformats.org/drawingml/2006/main">
            <a:off x="7772400" y="1809750"/>
            <a:ext cx="2266950" cy="37528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Rounded Corners 14">
            <a:extLst xmlns:a="http://schemas.openxmlformats.org/drawingml/2006/main">
              <a:ext uri="{FF2B5EF4-FFF2-40B4-BE49-F238E27FC236}">
                <a16:creationId xmlns:a16="http://schemas.microsoft.com/office/drawing/2014/main" id="{BBE546BB-0119-4123-B3DF-AC5864D383F0}"/>
              </a:ext>
            </a:extLst>
          </p:cNvPr>
          <p:cNvSpPr>
            <a:spLocks xmlns:a="http://schemas.openxmlformats.org/drawingml/2006/main" noGrp="1"/>
          </p:cNvSpPr>
          <p:nvPr/>
        </p:nvSpPr>
        <p:spPr>
          <a:xfrm xmlns:a="http://schemas.openxmlformats.org/drawingml/2006/main">
            <a:off x="7772400" y="1809750"/>
            <a:ext cx="2266950" cy="361950"/>
          </a:xfrm>
          <a:prstGeom xmlns:a="http://schemas.openxmlformats.org/drawingml/2006/main" prst="roundRect">
            <a:avLst>
              <a:gd name="adj" fmla="val 50000"/>
            </a:avLst>
          </a:prstGeom>
          <a:solidFill xmlns:a="http://schemas.openxmlformats.org/drawingml/2006/main">
            <a:srgbClr val="123B5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61E05046-4E97-4D32-B53C-0F03ABC2C1AA}"/>
              </a:ext>
            </a:extLst>
          </p:cNvPr>
          <p:cNvSpPr>
            <a:spLocks xmlns:a="http://schemas.openxmlformats.org/drawingml/2006/main" noGrp="1"/>
          </p:cNvSpPr>
          <p:nvPr/>
        </p:nvSpPr>
        <p:spPr>
          <a:xfrm xmlns:a="http://schemas.openxmlformats.org/drawingml/2006/main">
            <a:off x="7981950" y="19240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1">
                <a:solidFill>
                  <a:srgbClr val="FFFFFF"/>
                </a:solidFill>
              </a:defRPr>
            </a:pPr>
            <a:r>
              <a:rPr sz="825" b="1">
                <a:solidFill>
                  <a:srgbClr val="FFFFFF"/>
                </a:solidFill>
              </a:rPr>
              <a:t>MOBILE</a:t>
            </a:r>
          </a:p>
        </p:txBody>
      </p:sp>
      <p:sp>
        <p:nvSpPr>
          <p:cNvPr id="17" name="Rectangle: Rounded Corners 16">
            <a:extLst xmlns:a="http://schemas.openxmlformats.org/drawingml/2006/main">
              <a:ext uri="{FF2B5EF4-FFF2-40B4-BE49-F238E27FC236}">
                <a16:creationId xmlns:a16="http://schemas.microsoft.com/office/drawing/2014/main" id="{8DE2136B-3373-43D5-9486-9D2BB1C8FA52}"/>
              </a:ext>
            </a:extLst>
          </p:cNvPr>
          <p:cNvSpPr>
            <a:spLocks xmlns:a="http://schemas.openxmlformats.org/drawingml/2006/main" noGrp="1"/>
          </p:cNvSpPr>
          <p:nvPr/>
        </p:nvSpPr>
        <p:spPr>
          <a:xfrm xmlns:a="http://schemas.openxmlformats.org/drawingml/2006/main">
            <a:off x="7981950" y="2400300"/>
            <a:ext cx="1847850" cy="1123950"/>
          </a:xfrm>
          <a:prstGeom xmlns:a="http://schemas.openxmlformats.org/drawingml/2006/main" prst="roundRect">
            <a:avLst>
              <a:gd name="adj" fmla="val 10169"/>
            </a:avLst>
          </a:prstGeom>
          <a:solidFill xmlns:a="http://schemas.openxmlformats.org/drawingml/2006/main">
            <a:srgbClr val="E8F2F6"/>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48565563-4103-4856-9CB8-27851DDBEE6B}"/>
              </a:ext>
            </a:extLst>
          </p:cNvPr>
          <p:cNvSpPr>
            <a:spLocks xmlns:a="http://schemas.openxmlformats.org/drawingml/2006/main" noGrp="1"/>
          </p:cNvSpPr>
          <p:nvPr/>
        </p:nvSpPr>
        <p:spPr>
          <a:xfrm xmlns:a="http://schemas.openxmlformats.org/drawingml/2006/main">
            <a:off x="8134350" y="2647950"/>
            <a:ext cx="1543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23B55"/>
                </a:solidFill>
              </a:defRPr>
            </a:pPr>
            <a:r>
              <a:rPr sz="1350" b="1">
                <a:solidFill>
                  <a:srgbClr val="123B55"/>
                </a:solidFill>
              </a:rPr>
              <a:t>Explore services</a:t>
            </a:r>
          </a:p>
        </p:txBody>
      </p:sp>
      <p:sp>
        <p:nvSpPr>
          <p:cNvPr id="19" name="Rectangle 18">
            <a:extLst xmlns:a="http://schemas.openxmlformats.org/drawingml/2006/main">
              <a:ext uri="{FF2B5EF4-FFF2-40B4-BE49-F238E27FC236}">
                <a16:creationId xmlns:a16="http://schemas.microsoft.com/office/drawing/2014/main" id="{084014AF-13C1-4488-AB2B-85136EB3E4BB}"/>
              </a:ext>
            </a:extLst>
          </p:cNvPr>
          <p:cNvSpPr>
            <a:spLocks xmlns:a="http://schemas.openxmlformats.org/drawingml/2006/main" noGrp="1"/>
          </p:cNvSpPr>
          <p:nvPr/>
        </p:nvSpPr>
        <p:spPr>
          <a:xfrm xmlns:a="http://schemas.openxmlformats.org/drawingml/2006/main">
            <a:off x="8134350" y="3048000"/>
            <a:ext cx="1543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0">
                <a:solidFill>
                  <a:srgbClr val="5D7079"/>
                </a:solidFill>
              </a:defRPr>
            </a:pPr>
            <a:r>
              <a:rPr sz="1050" b="0">
                <a:solidFill>
                  <a:srgbClr val="5D7079"/>
                </a:solidFill>
              </a:rPr>
              <a:t>Request appointment</a:t>
            </a:r>
          </a:p>
        </p:txBody>
      </p:sp>
      <p:sp>
        <p:nvSpPr>
          <p:cNvPr id="20" name="Rectangle 19">
            <a:extLst xmlns:a="http://schemas.openxmlformats.org/drawingml/2006/main">
              <a:ext uri="{FF2B5EF4-FFF2-40B4-BE49-F238E27FC236}">
                <a16:creationId xmlns:a16="http://schemas.microsoft.com/office/drawing/2014/main" id="{B3FE7383-974D-4DEA-B912-8710D08E1A4C}"/>
              </a:ext>
            </a:extLst>
          </p:cNvPr>
          <p:cNvSpPr>
            <a:spLocks xmlns:a="http://schemas.openxmlformats.org/drawingml/2006/main" noGrp="1"/>
          </p:cNvSpPr>
          <p:nvPr/>
        </p:nvSpPr>
        <p:spPr>
          <a:xfrm xmlns:a="http://schemas.openxmlformats.org/drawingml/2006/main">
            <a:off x="7981950" y="3962400"/>
            <a:ext cx="1847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25" b="0">
                <a:solidFill>
                  <a:srgbClr val="5D7079"/>
                </a:solidFill>
              </a:defRPr>
            </a:pPr>
            <a:r>
              <a:rPr sz="1125" b="0">
                <a:solidFill>
                  <a:srgbClr val="5D7079"/>
                </a:solidFill>
              </a:rPr>
              <a:t>Responsive view</a:t>
            </a:r>
          </a:p>
        </p:txBody>
      </p:sp>
      <p:sp>
        <p:nvSpPr>
          <p:cNvPr id="21" name="Rectangle: Rounded Corners 20">
            <a:extLst xmlns:a="http://schemas.openxmlformats.org/drawingml/2006/main">
              <a:ext uri="{FF2B5EF4-FFF2-40B4-BE49-F238E27FC236}">
                <a16:creationId xmlns:a16="http://schemas.microsoft.com/office/drawing/2014/main" id="{3E4898A8-5E80-4B04-8CAD-4960482198AC}"/>
              </a:ext>
            </a:extLst>
          </p:cNvPr>
          <p:cNvSpPr>
            <a:spLocks xmlns:a="http://schemas.openxmlformats.org/drawingml/2006/main" noGrp="1"/>
          </p:cNvSpPr>
          <p:nvPr/>
        </p:nvSpPr>
        <p:spPr>
          <a:xfrm xmlns:a="http://schemas.openxmlformats.org/drawingml/2006/main">
            <a:off x="10191750" y="1809750"/>
            <a:ext cx="1314450" cy="3752850"/>
          </a:xfrm>
          <a:prstGeom xmlns:a="http://schemas.openxmlformats.org/drawingml/2006/main" prst="roundRect">
            <a:avLst>
              <a:gd name="adj" fmla="val 13043"/>
            </a:avLst>
          </a:prstGeom>
          <a:solidFill xmlns:a="http://schemas.openxmlformats.org/drawingml/2006/main">
            <a:srgbClr val="DDEF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2" name="Rectangle 21">
            <a:extLst xmlns:a="http://schemas.openxmlformats.org/drawingml/2006/main">
              <a:ext uri="{FF2B5EF4-FFF2-40B4-BE49-F238E27FC236}">
                <a16:creationId xmlns:a16="http://schemas.microsoft.com/office/drawing/2014/main" id="{1348081C-D223-4321-A32C-785DEE6D2C49}"/>
              </a:ext>
            </a:extLst>
          </p:cNvPr>
          <p:cNvSpPr>
            <a:spLocks xmlns:a="http://schemas.openxmlformats.org/drawingml/2006/main" noGrp="1"/>
          </p:cNvSpPr>
          <p:nvPr/>
        </p:nvSpPr>
        <p:spPr>
          <a:xfrm xmlns:a="http://schemas.openxmlformats.org/drawingml/2006/main">
            <a:off x="10325100" y="20383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900" b="1">
                <a:solidFill>
                  <a:srgbClr val="2A8C87"/>
                </a:solidFill>
              </a:defRPr>
            </a:pPr>
            <a:r>
              <a:rPr sz="900" b="1">
                <a:solidFill>
                  <a:srgbClr val="2A8C87"/>
                </a:solidFill>
              </a:rPr>
              <a:t>CONFIRM</a:t>
            </a:r>
          </a:p>
        </p:txBody>
      </p:sp>
      <p:sp>
        <p:nvSpPr>
          <p:cNvPr id="23" name="Rectangle 22">
            <a:extLst xmlns:a="http://schemas.openxmlformats.org/drawingml/2006/main">
              <a:ext uri="{FF2B5EF4-FFF2-40B4-BE49-F238E27FC236}">
                <a16:creationId xmlns:a16="http://schemas.microsoft.com/office/drawing/2014/main" id="{3094F103-33B0-44DF-BAEF-CB4899AA6E48}"/>
              </a:ext>
            </a:extLst>
          </p:cNvPr>
          <p:cNvSpPr>
            <a:spLocks xmlns:a="http://schemas.openxmlformats.org/drawingml/2006/main" noGrp="1"/>
          </p:cNvSpPr>
          <p:nvPr/>
        </p:nvSpPr>
        <p:spPr>
          <a:xfrm xmlns:a="http://schemas.openxmlformats.org/drawingml/2006/main">
            <a:off x="10325100" y="245745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24" name="Rectangle 23">
            <a:extLst xmlns:a="http://schemas.openxmlformats.org/drawingml/2006/main">
              <a:ext uri="{FF2B5EF4-FFF2-40B4-BE49-F238E27FC236}">
                <a16:creationId xmlns:a16="http://schemas.microsoft.com/office/drawing/2014/main" id="{F2833C6B-5513-4FB8-B5B1-9952F82E05D4}"/>
              </a:ext>
            </a:extLst>
          </p:cNvPr>
          <p:cNvSpPr>
            <a:spLocks xmlns:a="http://schemas.openxmlformats.org/drawingml/2006/main" noGrp="1"/>
          </p:cNvSpPr>
          <p:nvPr/>
        </p:nvSpPr>
        <p:spPr>
          <a:xfrm xmlns:a="http://schemas.openxmlformats.org/drawingml/2006/main">
            <a:off x="10572750" y="24574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Logo</a:t>
            </a:r>
          </a:p>
        </p:txBody>
      </p:sp>
      <p:sp>
        <p:nvSpPr>
          <p:cNvPr id="25" name="Rectangle 24">
            <a:extLst xmlns:a="http://schemas.openxmlformats.org/drawingml/2006/main">
              <a:ext uri="{FF2B5EF4-FFF2-40B4-BE49-F238E27FC236}">
                <a16:creationId xmlns:a16="http://schemas.microsoft.com/office/drawing/2014/main" id="{B42CD9FC-748D-454C-B764-DD879ED84423}"/>
              </a:ext>
            </a:extLst>
          </p:cNvPr>
          <p:cNvSpPr>
            <a:spLocks xmlns:a="http://schemas.openxmlformats.org/drawingml/2006/main" noGrp="1"/>
          </p:cNvSpPr>
          <p:nvPr/>
        </p:nvSpPr>
        <p:spPr>
          <a:xfrm xmlns:a="http://schemas.openxmlformats.org/drawingml/2006/main">
            <a:off x="10325100" y="289560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26" name="Rectangle 25">
            <a:extLst xmlns:a="http://schemas.openxmlformats.org/drawingml/2006/main">
              <a:ext uri="{FF2B5EF4-FFF2-40B4-BE49-F238E27FC236}">
                <a16:creationId xmlns:a16="http://schemas.microsoft.com/office/drawing/2014/main" id="{901F6F3E-A3E5-4F2C-9C4C-4A896C43EA52}"/>
              </a:ext>
            </a:extLst>
          </p:cNvPr>
          <p:cNvSpPr>
            <a:spLocks xmlns:a="http://schemas.openxmlformats.org/drawingml/2006/main" noGrp="1"/>
          </p:cNvSpPr>
          <p:nvPr/>
        </p:nvSpPr>
        <p:spPr>
          <a:xfrm xmlns:a="http://schemas.openxmlformats.org/drawingml/2006/main">
            <a:off x="10572750" y="28956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Services</a:t>
            </a:r>
          </a:p>
        </p:txBody>
      </p:sp>
      <p:sp>
        <p:nvSpPr>
          <p:cNvPr id="27" name="Rectangle 26">
            <a:extLst xmlns:a="http://schemas.openxmlformats.org/drawingml/2006/main">
              <a:ext uri="{FF2B5EF4-FFF2-40B4-BE49-F238E27FC236}">
                <a16:creationId xmlns:a16="http://schemas.microsoft.com/office/drawing/2014/main" id="{45314FED-8C1E-4D2E-8D74-E7AE1B1DCFA4}"/>
              </a:ext>
            </a:extLst>
          </p:cNvPr>
          <p:cNvSpPr>
            <a:spLocks xmlns:a="http://schemas.openxmlformats.org/drawingml/2006/main" noGrp="1"/>
          </p:cNvSpPr>
          <p:nvPr/>
        </p:nvSpPr>
        <p:spPr>
          <a:xfrm xmlns:a="http://schemas.openxmlformats.org/drawingml/2006/main">
            <a:off x="10325100" y="333375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28" name="Rectangle 27">
            <a:extLst xmlns:a="http://schemas.openxmlformats.org/drawingml/2006/main">
              <a:ext uri="{FF2B5EF4-FFF2-40B4-BE49-F238E27FC236}">
                <a16:creationId xmlns:a16="http://schemas.microsoft.com/office/drawing/2014/main" id="{0F05A5F3-1D1E-4FBA-8796-E13B315BB7D3}"/>
              </a:ext>
            </a:extLst>
          </p:cNvPr>
          <p:cNvSpPr>
            <a:spLocks xmlns:a="http://schemas.openxmlformats.org/drawingml/2006/main" noGrp="1"/>
          </p:cNvSpPr>
          <p:nvPr/>
        </p:nvSpPr>
        <p:spPr>
          <a:xfrm xmlns:a="http://schemas.openxmlformats.org/drawingml/2006/main">
            <a:off x="10572750" y="33337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Doctors</a:t>
            </a:r>
          </a:p>
        </p:txBody>
      </p:sp>
      <p:sp>
        <p:nvSpPr>
          <p:cNvPr id="29" name="Rectangle 28">
            <a:extLst xmlns:a="http://schemas.openxmlformats.org/drawingml/2006/main">
              <a:ext uri="{FF2B5EF4-FFF2-40B4-BE49-F238E27FC236}">
                <a16:creationId xmlns:a16="http://schemas.microsoft.com/office/drawing/2014/main" id="{4265728C-6223-45FE-8FA4-2C749A30F3AF}"/>
              </a:ext>
            </a:extLst>
          </p:cNvPr>
          <p:cNvSpPr>
            <a:spLocks xmlns:a="http://schemas.openxmlformats.org/drawingml/2006/main" noGrp="1"/>
          </p:cNvSpPr>
          <p:nvPr/>
        </p:nvSpPr>
        <p:spPr>
          <a:xfrm xmlns:a="http://schemas.openxmlformats.org/drawingml/2006/main">
            <a:off x="10325100" y="377190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30" name="Rectangle 29">
            <a:extLst xmlns:a="http://schemas.openxmlformats.org/drawingml/2006/main">
              <a:ext uri="{FF2B5EF4-FFF2-40B4-BE49-F238E27FC236}">
                <a16:creationId xmlns:a16="http://schemas.microsoft.com/office/drawing/2014/main" id="{6F7D90A2-B206-42EA-A9BD-58820000F42B}"/>
              </a:ext>
            </a:extLst>
          </p:cNvPr>
          <p:cNvSpPr>
            <a:spLocks xmlns:a="http://schemas.openxmlformats.org/drawingml/2006/main" noGrp="1"/>
          </p:cNvSpPr>
          <p:nvPr/>
        </p:nvSpPr>
        <p:spPr>
          <a:xfrm xmlns:a="http://schemas.openxmlformats.org/drawingml/2006/main">
            <a:off x="10572750" y="37719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Schedules</a:t>
            </a:r>
          </a:p>
        </p:txBody>
      </p:sp>
      <p:sp>
        <p:nvSpPr>
          <p:cNvPr id="31" name="Rectangle 30">
            <a:extLst xmlns:a="http://schemas.openxmlformats.org/drawingml/2006/main">
              <a:ext uri="{FF2B5EF4-FFF2-40B4-BE49-F238E27FC236}">
                <a16:creationId xmlns:a16="http://schemas.microsoft.com/office/drawing/2014/main" id="{2AA4BC77-77B8-44AF-B76D-6108D9FB3448}"/>
              </a:ext>
            </a:extLst>
          </p:cNvPr>
          <p:cNvSpPr>
            <a:spLocks xmlns:a="http://schemas.openxmlformats.org/drawingml/2006/main" noGrp="1"/>
          </p:cNvSpPr>
          <p:nvPr/>
        </p:nvSpPr>
        <p:spPr>
          <a:xfrm xmlns:a="http://schemas.openxmlformats.org/drawingml/2006/main">
            <a:off x="10325100" y="421005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32" name="Rectangle 31">
            <a:extLst xmlns:a="http://schemas.openxmlformats.org/drawingml/2006/main">
              <a:ext uri="{FF2B5EF4-FFF2-40B4-BE49-F238E27FC236}">
                <a16:creationId xmlns:a16="http://schemas.microsoft.com/office/drawing/2014/main" id="{7A008521-B060-4B7E-9767-759CDC185AEE}"/>
              </a:ext>
            </a:extLst>
          </p:cNvPr>
          <p:cNvSpPr>
            <a:spLocks xmlns:a="http://schemas.openxmlformats.org/drawingml/2006/main" noGrp="1"/>
          </p:cNvSpPr>
          <p:nvPr/>
        </p:nvSpPr>
        <p:spPr>
          <a:xfrm xmlns:a="http://schemas.openxmlformats.org/drawingml/2006/main">
            <a:off x="10572750" y="42100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Contact</a:t>
            </a:r>
          </a:p>
        </p:txBody>
      </p:sp>
      <p:sp>
        <p:nvSpPr>
          <p:cNvPr id="33" name="Rectangle 32">
            <a:extLst xmlns:a="http://schemas.openxmlformats.org/drawingml/2006/main">
              <a:ext uri="{FF2B5EF4-FFF2-40B4-BE49-F238E27FC236}">
                <a16:creationId xmlns:a16="http://schemas.microsoft.com/office/drawing/2014/main" id="{5696A05C-16F4-4EB0-972F-F9618E43BB03}"/>
              </a:ext>
            </a:extLst>
          </p:cNvPr>
          <p:cNvSpPr>
            <a:spLocks xmlns:a="http://schemas.openxmlformats.org/drawingml/2006/main" noGrp="1"/>
          </p:cNvSpPr>
          <p:nvPr/>
        </p:nvSpPr>
        <p:spPr>
          <a:xfrm xmlns:a="http://schemas.openxmlformats.org/drawingml/2006/main">
            <a:off x="10325100" y="4648200"/>
            <a:ext cx="19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5C9B70"/>
                </a:solidFill>
              </a:defRPr>
            </a:pPr>
            <a:r>
              <a:rPr sz="1200" b="1">
                <a:solidFill>
                  <a:srgbClr val="5C9B70"/>
                </a:solidFill>
              </a:rPr>
              <a:t>✓</a:t>
            </a:r>
          </a:p>
        </p:txBody>
      </p:sp>
      <p:sp>
        <p:nvSpPr>
          <p:cNvPr id="34" name="Rectangle 33">
            <a:extLst xmlns:a="http://schemas.openxmlformats.org/drawingml/2006/main">
              <a:ext uri="{FF2B5EF4-FFF2-40B4-BE49-F238E27FC236}">
                <a16:creationId xmlns:a16="http://schemas.microsoft.com/office/drawing/2014/main" id="{61763F63-72A5-404E-8BEC-FD32A724458C}"/>
              </a:ext>
            </a:extLst>
          </p:cNvPr>
          <p:cNvSpPr>
            <a:spLocks xmlns:a="http://schemas.openxmlformats.org/drawingml/2006/main" noGrp="1"/>
          </p:cNvSpPr>
          <p:nvPr/>
        </p:nvSpPr>
        <p:spPr>
          <a:xfrm xmlns:a="http://schemas.openxmlformats.org/drawingml/2006/main">
            <a:off x="10572750" y="464820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8323F"/>
                </a:solidFill>
              </a:defRPr>
            </a:pPr>
            <a:r>
              <a:rPr sz="900" b="1">
                <a:solidFill>
                  <a:srgbClr val="18323F"/>
                </a:solidFill>
              </a:rPr>
              <a:t>Coverage</a:t>
            </a:r>
          </a:p>
        </p:txBody>
      </p:sp>
      <p:sp>
        <p:nvSpPr>
          <p:cNvPr id="35" name="Rectangle 34">
            <a:extLst xmlns:a="http://schemas.openxmlformats.org/drawingml/2006/main">
              <a:ext uri="{FF2B5EF4-FFF2-40B4-BE49-F238E27FC236}">
                <a16:creationId xmlns:a16="http://schemas.microsoft.com/office/drawing/2014/main" id="{023E8184-DE46-46D6-BDC0-12C2AE3925F1}"/>
              </a:ext>
            </a:extLst>
          </p:cNvPr>
          <p:cNvSpPr>
            <a:spLocks xmlns:a="http://schemas.openxmlformats.org/drawingml/2006/main" noGrp="1"/>
          </p:cNvSpPr>
          <p:nvPr/>
        </p:nvSpPr>
        <p:spPr>
          <a:xfrm xmlns:a="http://schemas.openxmlformats.org/drawingml/2006/main">
            <a:off x="685800" y="5905500"/>
            <a:ext cx="952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123B55"/>
                </a:solidFill>
              </a:defRPr>
            </a:pPr>
            <a:r>
              <a:rPr sz="1275" b="1">
                <a:solidFill>
                  <a:srgbClr val="123B55"/>
                </a:solidFill>
              </a:rPr>
              <a:t>Validate structure, mobile experience, priority content and inquiry routing.</a:t>
            </a:r>
          </a:p>
        </p:txBody>
      </p:sp>
      <p:sp>
        <p:nvSpPr>
          <p:cNvPr id="36" name="Rectangle 35">
            <a:extLst xmlns:a="http://schemas.openxmlformats.org/drawingml/2006/main">
              <a:ext uri="{FF2B5EF4-FFF2-40B4-BE49-F238E27FC236}">
                <a16:creationId xmlns:a16="http://schemas.microsoft.com/office/drawing/2014/main" id="{CC9CA47B-BC0E-4DE0-A164-361AADB52DBF}"/>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Rectangle 36">
            <a:extLst xmlns:a="http://schemas.openxmlformats.org/drawingml/2006/main">
              <a:ext uri="{FF2B5EF4-FFF2-40B4-BE49-F238E27FC236}">
                <a16:creationId xmlns:a16="http://schemas.microsoft.com/office/drawing/2014/main" id="{B4BA6737-8DA4-41ED-A86A-7BE461AABEFC}"/>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38" name="Rectangle 37">
            <a:extLst xmlns:a="http://schemas.openxmlformats.org/drawingml/2006/main">
              <a:ext uri="{FF2B5EF4-FFF2-40B4-BE49-F238E27FC236}">
                <a16:creationId xmlns:a16="http://schemas.microsoft.com/office/drawing/2014/main" id="{97A465CA-BABB-47D5-985D-83F3C0ACD130}"/>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97260674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8" name="Rectangle 27">
            <a:extLst xmlns:a="http://schemas.openxmlformats.org/drawingml/2006/main">
              <a:ext uri="{FF2B5EF4-FFF2-40B4-BE49-F238E27FC236}">
                <a16:creationId xmlns:a16="http://schemas.microsoft.com/office/drawing/2014/main" id="{847E7035-C361-4B3D-AC67-5C3C099E6F1E}"/>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OPTIONAL SECOND PHASE</a:t>
            </a:r>
          </a:p>
        </p:txBody>
      </p:sp>
      <p:sp>
        <p:nvSpPr>
          <p:cNvPr id="2" name="Rectangle 1">
            <a:extLst xmlns:a="http://schemas.openxmlformats.org/drawingml/2006/main">
              <a:ext uri="{FF2B5EF4-FFF2-40B4-BE49-F238E27FC236}">
                <a16:creationId xmlns:a16="http://schemas.microsoft.com/office/drawing/2014/main" id="{10EEFBF6-4571-4A23-914C-559BF7BBAA29}"/>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KRISS AI makes approved clinic information easier to use</a:t>
            </a:r>
          </a:p>
        </p:txBody>
      </p:sp>
      <p:sp>
        <p:nvSpPr>
          <p:cNvPr id="3" name="Rectangle 2">
            <a:extLst xmlns:a="http://schemas.openxmlformats.org/drawingml/2006/main">
              <a:ext uri="{FF2B5EF4-FFF2-40B4-BE49-F238E27FC236}">
                <a16:creationId xmlns:a16="http://schemas.microsoft.com/office/drawing/2014/main" id="{CEEC6937-F128-44D4-9800-93E70CA33516}"/>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07</a:t>
            </a:r>
          </a:p>
        </p:txBody>
      </p:sp>
      <p:sp>
        <p:nvSpPr>
          <p:cNvPr id="4" name="Rectangle 3">
            <a:extLst xmlns:a="http://schemas.openxmlformats.org/drawingml/2006/main">
              <a:ext uri="{FF2B5EF4-FFF2-40B4-BE49-F238E27FC236}">
                <a16:creationId xmlns:a16="http://schemas.microsoft.com/office/drawing/2014/main" id="{25AEFC23-0325-49BE-81DC-DB49993E3CEF}"/>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pic>
        <p:nvPicPr>
          <p:cNvPr id="34" name="Picture 31"/>
          <p:cNvPicPr>
            <a:picLocks xmlns:a="http://schemas.openxmlformats.org/drawingml/2006/main" noChangeAspect="1"/>
          </p:cNvPicPr>
          <p:nvPr/>
        </p:nvPicPr>
        <p:blipFill>
          <a:blip xmlns:r="http://schemas.openxmlformats.org/officeDocument/2006/relationships" xmlns:a="http://schemas.openxmlformats.org/drawingml/2006/main" r:embed="Raaa9dd6c9e424d96"/>
          <a:srcRect xmlns:a="http://schemas.openxmlformats.org/drawingml/2006/main" l="21476" t="0" r="21476" b="0"/>
          <a:stretch xmlns:a="http://schemas.openxmlformats.org/drawingml/2006/main">
            <a:fillRect l="0" t="0" r="0" b="0"/>
          </a:stretch>
        </p:blipFill>
        <p:spPr>
          <a:xfrm xmlns:a="http://schemas.openxmlformats.org/drawingml/2006/main">
            <a:off x="685800" y="1809750"/>
            <a:ext cx="3276600" cy="3829050"/>
          </a:xfrm>
          <a:prstGeom xmlns:a="http://schemas.openxmlformats.org/drawingml/2006/main" prst="roundRect">
            <a:avLst>
              <a:gd name="adj" fmla="val 4651"/>
            </a:avLst>
          </a:prstGeom>
        </p:spPr>
      </p:pic>
      <p:sp>
        <p:nvSpPr>
          <p:cNvPr id="6" name="Rectangle: Rounded Corners 5">
            <a:extLst xmlns:a="http://schemas.openxmlformats.org/drawingml/2006/main">
              <a:ext uri="{FF2B5EF4-FFF2-40B4-BE49-F238E27FC236}">
                <a16:creationId xmlns:a16="http://schemas.microsoft.com/office/drawing/2014/main" id="{EE6F0076-1405-4282-8B7B-2CC4C97025EF}"/>
              </a:ext>
            </a:extLst>
          </p:cNvPr>
          <p:cNvSpPr>
            <a:spLocks xmlns:a="http://schemas.openxmlformats.org/drawingml/2006/main" noGrp="1"/>
          </p:cNvSpPr>
          <p:nvPr/>
        </p:nvSpPr>
        <p:spPr>
          <a:xfrm xmlns:a="http://schemas.openxmlformats.org/drawingml/2006/main">
            <a:off x="876300" y="3962400"/>
            <a:ext cx="2895600" cy="142875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C73A72D4-9173-47A2-B363-5B0F0FA1B120}"/>
              </a:ext>
            </a:extLst>
          </p:cNvPr>
          <p:cNvSpPr>
            <a:spLocks xmlns:a="http://schemas.openxmlformats.org/drawingml/2006/main" noGrp="1"/>
          </p:cNvSpPr>
          <p:nvPr/>
        </p:nvSpPr>
        <p:spPr>
          <a:xfrm xmlns:a="http://schemas.openxmlformats.org/drawingml/2006/main">
            <a:off x="1085850" y="41719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123B55"/>
                </a:solidFill>
              </a:defRPr>
            </a:pPr>
            <a:r>
              <a:rPr sz="1650" b="1">
                <a:solidFill>
                  <a:srgbClr val="123B55"/>
                </a:solidFill>
              </a:rPr>
              <a:t>Approved information, easier to use</a:t>
            </a:r>
          </a:p>
        </p:txBody>
      </p:sp>
      <p:sp>
        <p:nvSpPr>
          <p:cNvPr id="8" name="Rectangle 7">
            <a:extLst xmlns:a="http://schemas.openxmlformats.org/drawingml/2006/main">
              <a:ext uri="{FF2B5EF4-FFF2-40B4-BE49-F238E27FC236}">
                <a16:creationId xmlns:a16="http://schemas.microsoft.com/office/drawing/2014/main" id="{E660841E-EC4B-489D-9FD0-CA7AADD4CB72}"/>
              </a:ext>
            </a:extLst>
          </p:cNvPr>
          <p:cNvSpPr>
            <a:spLocks xmlns:a="http://schemas.openxmlformats.org/drawingml/2006/main" noGrp="1"/>
          </p:cNvSpPr>
          <p:nvPr/>
        </p:nvSpPr>
        <p:spPr>
          <a:xfrm xmlns:a="http://schemas.openxmlformats.org/drawingml/2006/main">
            <a:off x="1085850" y="480060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5D7079"/>
                </a:solidFill>
              </a:defRPr>
            </a:pPr>
            <a:r>
              <a:rPr sz="1125" b="0">
                <a:solidFill>
                  <a:srgbClr val="5D7079"/>
                </a:solidFill>
              </a:rPr>
              <a:t>A conversational path from patient question to the right next step.</a:t>
            </a:r>
          </a:p>
        </p:txBody>
      </p:sp>
      <p:sp>
        <p:nvSpPr>
          <p:cNvPr id="9" name="Rectangle 8">
            <a:extLst xmlns:a="http://schemas.openxmlformats.org/drawingml/2006/main">
              <a:ext uri="{FF2B5EF4-FFF2-40B4-BE49-F238E27FC236}">
                <a16:creationId xmlns:a16="http://schemas.microsoft.com/office/drawing/2014/main" id="{35ABF08F-A690-4FE8-BA28-DE008AEB6B33}"/>
              </a:ext>
            </a:extLst>
          </p:cNvPr>
          <p:cNvSpPr>
            <a:spLocks xmlns:a="http://schemas.openxmlformats.org/drawingml/2006/main" noGrp="1"/>
          </p:cNvSpPr>
          <p:nvPr/>
        </p:nvSpPr>
        <p:spPr>
          <a:xfrm xmlns:a="http://schemas.openxmlformats.org/drawingml/2006/main">
            <a:off x="2647950" y="5467350"/>
            <a:ext cx="11239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D7079"/>
                </a:solidFill>
              </a:defRPr>
            </a:pPr>
            <a:r>
              <a:rPr sz="750" b="0">
                <a:solidFill>
                  <a:srgbClr val="5D7079"/>
                </a:solidFill>
              </a:rPr>
              <a:t>Illustrative photo</a:t>
            </a:r>
          </a:p>
        </p:txBody>
      </p:sp>
      <p:sp>
        <p:nvSpPr>
          <p:cNvPr id="10" name="Arrow: Right 9">
            <a:extLst xmlns:a="http://schemas.openxmlformats.org/drawingml/2006/main">
              <a:ext uri="{FF2B5EF4-FFF2-40B4-BE49-F238E27FC236}">
                <a16:creationId xmlns:a16="http://schemas.microsoft.com/office/drawing/2014/main" id="{43AA745E-3B80-4577-B588-43558117FED1}"/>
              </a:ext>
            </a:extLst>
          </p:cNvPr>
          <p:cNvSpPr>
            <a:spLocks xmlns:a="http://schemas.openxmlformats.org/drawingml/2006/main" noGrp="1"/>
          </p:cNvSpPr>
          <p:nvPr/>
        </p:nvSpPr>
        <p:spPr>
          <a:xfrm xmlns:a="http://schemas.openxmlformats.org/drawingml/2006/main">
            <a:off x="4210050" y="3219450"/>
            <a:ext cx="800100" cy="552450"/>
          </a:xfrm>
          <a:prstGeom xmlns:a="http://schemas.openxmlformats.org/drawingml/2006/main" prst="rightArrow">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Rounded Corners 10">
            <a:extLst xmlns:a="http://schemas.openxmlformats.org/drawingml/2006/main">
              <a:ext uri="{FF2B5EF4-FFF2-40B4-BE49-F238E27FC236}">
                <a16:creationId xmlns:a16="http://schemas.microsoft.com/office/drawing/2014/main" id="{218859CB-DA5E-4464-83E5-F72C29089FAD}"/>
              </a:ext>
            </a:extLst>
          </p:cNvPr>
          <p:cNvSpPr>
            <a:spLocks xmlns:a="http://schemas.openxmlformats.org/drawingml/2006/main" noGrp="1"/>
          </p:cNvSpPr>
          <p:nvPr/>
        </p:nvSpPr>
        <p:spPr>
          <a:xfrm xmlns:a="http://schemas.openxmlformats.org/drawingml/2006/main">
            <a:off x="5276850" y="1809750"/>
            <a:ext cx="6229350" cy="3829050"/>
          </a:xfrm>
          <a:prstGeom xmlns:a="http://schemas.openxmlformats.org/drawingml/2006/main" prst="roundRect">
            <a:avLst>
              <a:gd name="adj" fmla="val 5970"/>
            </a:avLst>
          </a:prstGeom>
          <a:solidFill xmlns:a="http://schemas.openxmlformats.org/drawingml/2006/main">
            <a:srgbClr val="123B5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343ABCB-6B9D-4E49-829C-CEB015FF7611}"/>
              </a:ext>
            </a:extLst>
          </p:cNvPr>
          <p:cNvSpPr>
            <a:spLocks xmlns:a="http://schemas.openxmlformats.org/drawingml/2006/main" noGrp="1"/>
          </p:cNvSpPr>
          <p:nvPr/>
        </p:nvSpPr>
        <p:spPr>
          <a:xfrm xmlns:a="http://schemas.openxmlformats.org/drawingml/2006/main">
            <a:off x="5619750" y="2095500"/>
            <a:ext cx="5276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8ED1C4"/>
                </a:solidFill>
              </a:defRPr>
            </a:pPr>
            <a:r>
              <a:rPr sz="1050" b="1">
                <a:solidFill>
                  <a:srgbClr val="8ED1C4"/>
                </a:solidFill>
              </a:rPr>
              <a:t>LIVE DEMO: THREE PATIENT QUESTIONS</a:t>
            </a:r>
          </a:p>
        </p:txBody>
      </p:sp>
      <p:sp>
        <p:nvSpPr>
          <p:cNvPr id="13" name="Rectangle 12">
            <a:extLst xmlns:a="http://schemas.openxmlformats.org/drawingml/2006/main">
              <a:ext uri="{FF2B5EF4-FFF2-40B4-BE49-F238E27FC236}">
                <a16:creationId xmlns:a16="http://schemas.microsoft.com/office/drawing/2014/main" id="{0C3765B2-0561-4F77-A1A5-44EAF1067DC1}"/>
              </a:ext>
            </a:extLst>
          </p:cNvPr>
          <p:cNvSpPr>
            <a:spLocks xmlns:a="http://schemas.openxmlformats.org/drawingml/2006/main" noGrp="1"/>
          </p:cNvSpPr>
          <p:nvPr/>
        </p:nvSpPr>
        <p:spPr>
          <a:xfrm xmlns:a="http://schemas.openxmlformats.org/drawingml/2006/main">
            <a:off x="5619750" y="24574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FFFFFF"/>
                </a:solidFill>
              </a:defRPr>
            </a:pPr>
            <a:r>
              <a:rPr sz="1875" b="1">
                <a:solidFill>
                  <a:srgbClr val="FFFFFF"/>
                </a:solidFill>
              </a:rPr>
              <a:t>Ask naturally. Answer only from approved information.</a:t>
            </a:r>
          </a:p>
        </p:txBody>
      </p:sp>
      <p:sp>
        <p:nvSpPr>
          <p:cNvPr id="14" name="Rectangle: Rounded Corners 13">
            <a:extLst xmlns:a="http://schemas.openxmlformats.org/drawingml/2006/main">
              <a:ext uri="{FF2B5EF4-FFF2-40B4-BE49-F238E27FC236}">
                <a16:creationId xmlns:a16="http://schemas.microsoft.com/office/drawing/2014/main" id="{3A83EF5B-F6BD-4A63-BE87-E48C1B61F445}"/>
              </a:ext>
            </a:extLst>
          </p:cNvPr>
          <p:cNvSpPr>
            <a:spLocks xmlns:a="http://schemas.openxmlformats.org/drawingml/2006/main" noGrp="1"/>
          </p:cNvSpPr>
          <p:nvPr/>
        </p:nvSpPr>
        <p:spPr>
          <a:xfrm xmlns:a="http://schemas.openxmlformats.org/drawingml/2006/main">
            <a:off x="5619750" y="3105150"/>
            <a:ext cx="5429250" cy="514350"/>
          </a:xfrm>
          <a:prstGeom xmlns:a="http://schemas.openxmlformats.org/drawingml/2006/main" prst="roundRect">
            <a:avLst>
              <a:gd name="adj" fmla="val 29630"/>
            </a:avLst>
          </a:prstGeom>
          <a:solidFill xmlns:a="http://schemas.openxmlformats.org/drawingml/2006/main">
            <a:srgbClr val="1C536C"/>
          </a:solidFill>
          <a:ln xmlns:a="http://schemas.openxmlformats.org/drawingml/2006/main" w="9525">
            <a:solidFill>
              <a:srgbClr val="35677D"/>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ECB04E82-1F02-49B4-968B-D534415CE6D7}"/>
              </a:ext>
            </a:extLst>
          </p:cNvPr>
          <p:cNvSpPr>
            <a:spLocks xmlns:a="http://schemas.openxmlformats.org/drawingml/2006/main" noGrp="1"/>
          </p:cNvSpPr>
          <p:nvPr/>
        </p:nvSpPr>
        <p:spPr>
          <a:xfrm xmlns:a="http://schemas.openxmlformats.org/drawingml/2006/main">
            <a:off x="5772150" y="32289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8ED1C4"/>
                </a:solidFill>
              </a:defRPr>
            </a:pPr>
            <a:r>
              <a:rPr sz="1200" b="1">
                <a:solidFill>
                  <a:srgbClr val="8ED1C4"/>
                </a:solidFill>
              </a:rPr>
              <a:t>1</a:t>
            </a:r>
          </a:p>
        </p:txBody>
      </p:sp>
      <p:sp>
        <p:nvSpPr>
          <p:cNvPr id="16" name="Rectangle 15">
            <a:extLst xmlns:a="http://schemas.openxmlformats.org/drawingml/2006/main">
              <a:ext uri="{FF2B5EF4-FFF2-40B4-BE49-F238E27FC236}">
                <a16:creationId xmlns:a16="http://schemas.microsoft.com/office/drawing/2014/main" id="{9CDA38CA-96D0-4D5E-A6D8-953BE3EA0FB8}"/>
              </a:ext>
            </a:extLst>
          </p:cNvPr>
          <p:cNvSpPr>
            <a:spLocks xmlns:a="http://schemas.openxmlformats.org/drawingml/2006/main" noGrp="1"/>
          </p:cNvSpPr>
          <p:nvPr/>
        </p:nvSpPr>
        <p:spPr>
          <a:xfrm xmlns:a="http://schemas.openxmlformats.org/drawingml/2006/main">
            <a:off x="6153150" y="321945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What diagnostic and imaging services does MarMed offer?</a:t>
            </a:r>
          </a:p>
        </p:txBody>
      </p:sp>
      <p:sp>
        <p:nvSpPr>
          <p:cNvPr id="17" name="Rectangle: Rounded Corners 16">
            <a:extLst xmlns:a="http://schemas.openxmlformats.org/drawingml/2006/main">
              <a:ext uri="{FF2B5EF4-FFF2-40B4-BE49-F238E27FC236}">
                <a16:creationId xmlns:a16="http://schemas.microsoft.com/office/drawing/2014/main" id="{832C7302-5519-4572-8583-A68A7D0DC7DD}"/>
              </a:ext>
            </a:extLst>
          </p:cNvPr>
          <p:cNvSpPr>
            <a:spLocks xmlns:a="http://schemas.openxmlformats.org/drawingml/2006/main" noGrp="1"/>
          </p:cNvSpPr>
          <p:nvPr/>
        </p:nvSpPr>
        <p:spPr>
          <a:xfrm xmlns:a="http://schemas.openxmlformats.org/drawingml/2006/main">
            <a:off x="5619750" y="3810000"/>
            <a:ext cx="5429250" cy="514350"/>
          </a:xfrm>
          <a:prstGeom xmlns:a="http://schemas.openxmlformats.org/drawingml/2006/main" prst="roundRect">
            <a:avLst>
              <a:gd name="adj" fmla="val 29630"/>
            </a:avLst>
          </a:prstGeom>
          <a:solidFill xmlns:a="http://schemas.openxmlformats.org/drawingml/2006/main">
            <a:srgbClr val="1C536C"/>
          </a:solidFill>
          <a:ln xmlns:a="http://schemas.openxmlformats.org/drawingml/2006/main" w="9525">
            <a:solidFill>
              <a:srgbClr val="35677D"/>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638CEB0-80DA-4EF0-A57D-2EED5DC35CA9}"/>
              </a:ext>
            </a:extLst>
          </p:cNvPr>
          <p:cNvSpPr>
            <a:spLocks xmlns:a="http://schemas.openxmlformats.org/drawingml/2006/main" noGrp="1"/>
          </p:cNvSpPr>
          <p:nvPr/>
        </p:nvSpPr>
        <p:spPr>
          <a:xfrm xmlns:a="http://schemas.openxmlformats.org/drawingml/2006/main">
            <a:off x="5772150" y="393382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8ED1C4"/>
                </a:solidFill>
              </a:defRPr>
            </a:pPr>
            <a:r>
              <a:rPr sz="1200" b="1">
                <a:solidFill>
                  <a:srgbClr val="8ED1C4"/>
                </a:solidFill>
              </a:rPr>
              <a:t>2</a:t>
            </a:r>
          </a:p>
        </p:txBody>
      </p:sp>
      <p:sp>
        <p:nvSpPr>
          <p:cNvPr id="19" name="Rectangle 18">
            <a:extLst xmlns:a="http://schemas.openxmlformats.org/drawingml/2006/main">
              <a:ext uri="{FF2B5EF4-FFF2-40B4-BE49-F238E27FC236}">
                <a16:creationId xmlns:a16="http://schemas.microsoft.com/office/drawing/2014/main" id="{0A7B3A19-0AF7-42A1-89D9-40DF49AAC5CA}"/>
              </a:ext>
            </a:extLst>
          </p:cNvPr>
          <p:cNvSpPr>
            <a:spLocks xmlns:a="http://schemas.openxmlformats.org/drawingml/2006/main" noGrp="1"/>
          </p:cNvSpPr>
          <p:nvPr/>
        </p:nvSpPr>
        <p:spPr>
          <a:xfrm xmlns:a="http://schemas.openxmlformats.org/drawingml/2006/main">
            <a:off x="6153150" y="3924300"/>
            <a:ext cx="470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Does MarMed offer pediatric or fetal 2D Echo?</a:t>
            </a:r>
          </a:p>
        </p:txBody>
      </p:sp>
      <p:sp>
        <p:nvSpPr>
          <p:cNvPr id="20" name="Rectangle: Rounded Corners 19">
            <a:extLst xmlns:a="http://schemas.openxmlformats.org/drawingml/2006/main">
              <a:ext uri="{FF2B5EF4-FFF2-40B4-BE49-F238E27FC236}">
                <a16:creationId xmlns:a16="http://schemas.microsoft.com/office/drawing/2014/main" id="{00BD2131-734A-4F1C-9F01-4078567B7C3D}"/>
              </a:ext>
            </a:extLst>
          </p:cNvPr>
          <p:cNvSpPr>
            <a:spLocks xmlns:a="http://schemas.openxmlformats.org/drawingml/2006/main" noGrp="1"/>
          </p:cNvSpPr>
          <p:nvPr/>
        </p:nvSpPr>
        <p:spPr>
          <a:xfrm xmlns:a="http://schemas.openxmlformats.org/drawingml/2006/main">
            <a:off x="5619750" y="4514850"/>
            <a:ext cx="5429250" cy="590550"/>
          </a:xfrm>
          <a:prstGeom xmlns:a="http://schemas.openxmlformats.org/drawingml/2006/main" prst="roundRect">
            <a:avLst>
              <a:gd name="adj" fmla="val 25806"/>
            </a:avLst>
          </a:prstGeom>
          <a:solidFill xmlns:a="http://schemas.openxmlformats.org/drawingml/2006/main">
            <a:srgbClr val="1C536C"/>
          </a:solidFill>
          <a:ln xmlns:a="http://schemas.openxmlformats.org/drawingml/2006/main" w="9525">
            <a:solidFill>
              <a:srgbClr val="35677D"/>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24ADF268-55B1-4251-89BC-0D1F5D7BD2E3}"/>
              </a:ext>
            </a:extLst>
          </p:cNvPr>
          <p:cNvSpPr>
            <a:spLocks xmlns:a="http://schemas.openxmlformats.org/drawingml/2006/main" noGrp="1"/>
          </p:cNvSpPr>
          <p:nvPr/>
        </p:nvSpPr>
        <p:spPr>
          <a:xfrm xmlns:a="http://schemas.openxmlformats.org/drawingml/2006/main">
            <a:off x="5772150" y="4638675"/>
            <a:ext cx="266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8ED1C4"/>
                </a:solidFill>
              </a:defRPr>
            </a:pPr>
            <a:r>
              <a:rPr sz="1200" b="1">
                <a:solidFill>
                  <a:srgbClr val="8ED1C4"/>
                </a:solidFill>
              </a:rPr>
              <a:t>3</a:t>
            </a:r>
          </a:p>
        </p:txBody>
      </p:sp>
      <p:sp>
        <p:nvSpPr>
          <p:cNvPr id="22" name="Rectangle 21">
            <a:extLst xmlns:a="http://schemas.openxmlformats.org/drawingml/2006/main">
              <a:ext uri="{FF2B5EF4-FFF2-40B4-BE49-F238E27FC236}">
                <a16:creationId xmlns:a16="http://schemas.microsoft.com/office/drawing/2014/main" id="{ED13DE29-14A7-405A-8CCA-0350D5482820}"/>
              </a:ext>
            </a:extLst>
          </p:cNvPr>
          <p:cNvSpPr>
            <a:spLocks xmlns:a="http://schemas.openxmlformats.org/drawingml/2006/main" noGrp="1"/>
          </p:cNvSpPr>
          <p:nvPr/>
        </p:nvSpPr>
        <p:spPr>
          <a:xfrm xmlns:a="http://schemas.openxmlformats.org/drawingml/2006/main">
            <a:off x="6153150" y="4629150"/>
            <a:ext cx="470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FFFFFF"/>
                </a:solidFill>
              </a:defRPr>
            </a:pPr>
            <a:r>
              <a:rPr sz="1200" b="1">
                <a:solidFill>
                  <a:srgbClr val="FFFFFF"/>
                </a:solidFill>
              </a:rPr>
              <a:t>How can a company inquire about corporate APE packages?</a:t>
            </a:r>
          </a:p>
        </p:txBody>
      </p:sp>
      <p:sp>
        <p:nvSpPr>
          <p:cNvPr id="23" name="Rectangle: Rounded Corners 22">
            <a:extLst xmlns:a="http://schemas.openxmlformats.org/drawingml/2006/main">
              <a:ext uri="{FF2B5EF4-FFF2-40B4-BE49-F238E27FC236}">
                <a16:creationId xmlns:a16="http://schemas.microsoft.com/office/drawing/2014/main" id="{EDD9BB67-ACED-4AF3-A28C-249EF5CA4604}"/>
              </a:ext>
            </a:extLst>
          </p:cNvPr>
          <p:cNvSpPr>
            <a:spLocks xmlns:a="http://schemas.openxmlformats.org/drawingml/2006/main" noGrp="1"/>
          </p:cNvSpPr>
          <p:nvPr/>
        </p:nvSpPr>
        <p:spPr>
          <a:xfrm xmlns:a="http://schemas.openxmlformats.org/drawingml/2006/main">
            <a:off x="685800" y="5886450"/>
            <a:ext cx="10820400" cy="342900"/>
          </a:xfrm>
          <a:prstGeom xmlns:a="http://schemas.openxmlformats.org/drawingml/2006/main" prst="roundRect">
            <a:avLst>
              <a:gd name="adj" fmla="val 33333"/>
            </a:avLst>
          </a:prstGeom>
          <a:solidFill xmlns:a="http://schemas.openxmlformats.org/drawingml/2006/main">
            <a:srgbClr val="DDEF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450A6775-B316-4A0B-9433-B749EBFD0D6F}"/>
              </a:ext>
            </a:extLst>
          </p:cNvPr>
          <p:cNvSpPr>
            <a:spLocks xmlns:a="http://schemas.openxmlformats.org/drawingml/2006/main" noGrp="1"/>
          </p:cNvSpPr>
          <p:nvPr/>
        </p:nvSpPr>
        <p:spPr>
          <a:xfrm xmlns:a="http://schemas.openxmlformats.org/drawingml/2006/main">
            <a:off x="685800" y="59626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2A8C87"/>
                </a:solidFill>
              </a:defRPr>
            </a:pPr>
            <a:r>
              <a:rPr sz="1050" b="1">
                <a:solidFill>
                  <a:srgbClr val="2A8C87"/>
                </a:solidFill>
              </a:rPr>
              <a:t>Optional at launch • Controlled scope • Based on MarMed-approved content</a:t>
            </a:r>
          </a:p>
        </p:txBody>
      </p:sp>
      <p:sp>
        <p:nvSpPr>
          <p:cNvPr id="25" name="Rectangle 24">
            <a:extLst xmlns:a="http://schemas.openxmlformats.org/drawingml/2006/main">
              <a:ext uri="{FF2B5EF4-FFF2-40B4-BE49-F238E27FC236}">
                <a16:creationId xmlns:a16="http://schemas.microsoft.com/office/drawing/2014/main" id="{26E84D29-EEBB-407E-8321-B15672298B43}"/>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Rectangle 25">
            <a:extLst xmlns:a="http://schemas.openxmlformats.org/drawingml/2006/main">
              <a:ext uri="{FF2B5EF4-FFF2-40B4-BE49-F238E27FC236}">
                <a16:creationId xmlns:a16="http://schemas.microsoft.com/office/drawing/2014/main" id="{F9347F6E-A7AC-4EEE-9022-E80CF47DC267}"/>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27" name="Rectangle 26">
            <a:extLst xmlns:a="http://schemas.openxmlformats.org/drawingml/2006/main">
              <a:ext uri="{FF2B5EF4-FFF2-40B4-BE49-F238E27FC236}">
                <a16:creationId xmlns:a16="http://schemas.microsoft.com/office/drawing/2014/main" id="{A8AA5E80-F03B-4A43-83EC-F4FEDEAE9E28}"/>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16457907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3B0AEA8-3C03-4893-85B9-7525E43990F4}"/>
              </a:ext>
            </a:extLst>
          </p:cNvPr>
          <p:cNvSpPr>
            <a:spLocks xmlns:a="http://schemas.openxmlformats.org/drawingml/2006/main" noGrp="1"/>
          </p:cNvSpPr>
          <p:nvPr/>
        </p:nvSpPr>
        <p:spPr>
          <a:xfrm xmlns:a="http://schemas.openxmlformats.org/drawingml/2006/main">
            <a:off x="685800" y="4572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CLINICAL AND OPERATIONAL BOUNDARIES</a:t>
            </a:r>
          </a:p>
        </p:txBody>
      </p:sp>
      <p:sp>
        <p:nvSpPr>
          <p:cNvPr id="2" name="Rectangle 1">
            <a:extLst xmlns:a="http://schemas.openxmlformats.org/drawingml/2006/main">
              <a:ext uri="{FF2B5EF4-FFF2-40B4-BE49-F238E27FC236}">
                <a16:creationId xmlns:a16="http://schemas.microsoft.com/office/drawing/2014/main" id="{358650B0-1D87-4B57-81CC-DE94E146CEFA}"/>
              </a:ext>
            </a:extLst>
          </p:cNvPr>
          <p:cNvSpPr>
            <a:spLocks xmlns:a="http://schemas.openxmlformats.org/drawingml/2006/main" noGrp="1"/>
          </p:cNvSpPr>
          <p:nvPr/>
        </p:nvSpPr>
        <p:spPr>
          <a:xfrm xmlns:a="http://schemas.openxmlformats.org/drawingml/2006/main">
            <a:off x="685800" y="857250"/>
            <a:ext cx="685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123B55"/>
                </a:solidFill>
              </a:defRPr>
            </a:pPr>
            <a:r>
              <a:rPr sz="3225" b="1">
                <a:solidFill>
                  <a:srgbClr val="123B55"/>
                </a:solidFill>
              </a:rPr>
              <a:t>Helpful by design. Safe by design.</a:t>
            </a:r>
          </a:p>
        </p:txBody>
      </p:sp>
      <p:sp>
        <p:nvSpPr>
          <p:cNvPr id="3" name="Rectangle 2">
            <a:extLst xmlns:a="http://schemas.openxmlformats.org/drawingml/2006/main">
              <a:ext uri="{FF2B5EF4-FFF2-40B4-BE49-F238E27FC236}">
                <a16:creationId xmlns:a16="http://schemas.microsoft.com/office/drawing/2014/main" id="{FAE883AC-825E-4F06-87A1-4B41E7D55051}"/>
              </a:ext>
            </a:extLst>
          </p:cNvPr>
          <p:cNvSpPr>
            <a:spLocks xmlns:a="http://schemas.openxmlformats.org/drawingml/2006/main" noGrp="1"/>
          </p:cNvSpPr>
          <p:nvPr/>
        </p:nvSpPr>
        <p:spPr>
          <a:xfrm xmlns:a="http://schemas.openxmlformats.org/drawingml/2006/main">
            <a:off x="685800" y="14668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5D7079"/>
                </a:solidFill>
              </a:defRPr>
            </a:pPr>
            <a:r>
              <a:rPr sz="1650" b="0">
                <a:solidFill>
                  <a:srgbClr val="5D7079"/>
                </a:solidFill>
              </a:rPr>
              <a:t>KRISS AI supports access to information. Clinical decisions remain with healthcare professionals.</a:t>
            </a:r>
          </a:p>
        </p:txBody>
      </p:sp>
      <p:sp>
        <p:nvSpPr>
          <p:cNvPr id="4" name="Rectangle: Rounded Corners 3">
            <a:extLst xmlns:a="http://schemas.openxmlformats.org/drawingml/2006/main">
              <a:ext uri="{FF2B5EF4-FFF2-40B4-BE49-F238E27FC236}">
                <a16:creationId xmlns:a16="http://schemas.microsoft.com/office/drawing/2014/main" id="{67C75986-6DE2-4207-A4C2-82088C9823AF}"/>
              </a:ext>
            </a:extLst>
          </p:cNvPr>
          <p:cNvSpPr>
            <a:spLocks xmlns:a="http://schemas.openxmlformats.org/drawingml/2006/main" noGrp="1"/>
          </p:cNvSpPr>
          <p:nvPr/>
        </p:nvSpPr>
        <p:spPr>
          <a:xfrm xmlns:a="http://schemas.openxmlformats.org/drawingml/2006/main">
            <a:off x="685800" y="2305050"/>
            <a:ext cx="3238500" cy="2667000"/>
          </a:xfrm>
          <a:prstGeom xmlns:a="http://schemas.openxmlformats.org/drawingml/2006/main" prst="roundRect">
            <a:avLst>
              <a:gd name="adj" fmla="val 8571"/>
            </a:avLst>
          </a:prstGeom>
          <a:solidFill xmlns:a="http://schemas.openxmlformats.org/drawingml/2006/main">
            <a:srgbClr val="DDEFEA"/>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4">
            <a:extLst xmlns:a="http://schemas.openxmlformats.org/drawingml/2006/main">
              <a:ext uri="{FF2B5EF4-FFF2-40B4-BE49-F238E27FC236}">
                <a16:creationId xmlns:a16="http://schemas.microsoft.com/office/drawing/2014/main" id="{0824E97C-2321-42A3-B847-DFDC87DFCC48}"/>
              </a:ext>
            </a:extLst>
          </p:cNvPr>
          <p:cNvSpPr>
            <a:spLocks xmlns:a="http://schemas.openxmlformats.org/drawingml/2006/main" noGrp="1"/>
          </p:cNvSpPr>
          <p:nvPr/>
        </p:nvSpPr>
        <p:spPr>
          <a:xfrm xmlns:a="http://schemas.openxmlformats.org/drawingml/2006/main">
            <a:off x="990600" y="2609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CAN HELP</a:t>
            </a:r>
          </a:p>
        </p:txBody>
      </p:sp>
      <p:sp>
        <p:nvSpPr>
          <p:cNvPr id="6" name="Rectangle 5">
            <a:extLst xmlns:a="http://schemas.openxmlformats.org/drawingml/2006/main">
              <a:ext uri="{FF2B5EF4-FFF2-40B4-BE49-F238E27FC236}">
                <a16:creationId xmlns:a16="http://schemas.microsoft.com/office/drawing/2014/main" id="{6F6A43D7-4046-4EB0-B20C-0DD9E88C56E2}"/>
              </a:ext>
            </a:extLst>
          </p:cNvPr>
          <p:cNvSpPr>
            <a:spLocks xmlns:a="http://schemas.openxmlformats.org/drawingml/2006/main" noGrp="1"/>
          </p:cNvSpPr>
          <p:nvPr/>
        </p:nvSpPr>
        <p:spPr>
          <a:xfrm xmlns:a="http://schemas.openxmlformats.org/drawingml/2006/main">
            <a:off x="990600" y="3086100"/>
            <a:ext cx="25527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23B55"/>
                </a:solidFill>
              </a:defRPr>
            </a:pPr>
            <a:r>
              <a:rPr sz="1425" b="1">
                <a:solidFill>
                  <a:srgbClr val="123B55"/>
                </a:solidFill>
              </a:rPr>
              <a:t>Answer approved questions</a:t>
            </a:r>
          </a:p>
          <a:p xmlns:a="http://schemas.openxmlformats.org/drawingml/2006/main">
            <a:endParaRPr sz="1425" b="1">
              <a:solidFill>
                <a:srgbClr val="123B55"/>
              </a:solidFill>
            </a:endParaRPr>
          </a:p>
          <a:p xmlns:a="http://schemas.openxmlformats.org/drawingml/2006/main">
            <a:pPr algn="l">
              <a:buNone/>
              <a:defRPr sz="1425" b="1">
                <a:solidFill>
                  <a:srgbClr val="123B55"/>
                </a:solidFill>
              </a:defRPr>
            </a:pPr>
            <a:r>
              <a:rPr sz="1425" b="1">
                <a:solidFill>
                  <a:srgbClr val="123B55"/>
                </a:solidFill>
              </a:rPr>
              <a:t>Guide patients to services</a:t>
            </a:r>
          </a:p>
          <a:p xmlns:a="http://schemas.openxmlformats.org/drawingml/2006/main">
            <a:endParaRPr sz="1425" b="1">
              <a:solidFill>
                <a:srgbClr val="123B55"/>
              </a:solidFill>
            </a:endParaRPr>
          </a:p>
          <a:p xmlns:a="http://schemas.openxmlformats.org/drawingml/2006/main">
            <a:pPr algn="l">
              <a:buNone/>
              <a:defRPr sz="1425" b="1">
                <a:solidFill>
                  <a:srgbClr val="123B55"/>
                </a:solidFill>
              </a:defRPr>
            </a:pPr>
            <a:r>
              <a:rPr sz="1425" b="1">
                <a:solidFill>
                  <a:srgbClr val="123B55"/>
                </a:solidFill>
              </a:rPr>
              <a:t>Capture inquiries for staff</a:t>
            </a:r>
          </a:p>
        </p:txBody>
      </p:sp>
      <p:sp>
        <p:nvSpPr>
          <p:cNvPr id="7" name="Rectangle: Rounded Corners 6">
            <a:extLst xmlns:a="http://schemas.openxmlformats.org/drawingml/2006/main">
              <a:ext uri="{FF2B5EF4-FFF2-40B4-BE49-F238E27FC236}">
                <a16:creationId xmlns:a16="http://schemas.microsoft.com/office/drawing/2014/main" id="{39C0E50F-03D1-4D74-B17D-12DE72038B8A}"/>
              </a:ext>
            </a:extLst>
          </p:cNvPr>
          <p:cNvSpPr>
            <a:spLocks xmlns:a="http://schemas.openxmlformats.org/drawingml/2006/main" noGrp="1"/>
          </p:cNvSpPr>
          <p:nvPr/>
        </p:nvSpPr>
        <p:spPr>
          <a:xfrm xmlns:a="http://schemas.openxmlformats.org/drawingml/2006/main">
            <a:off x="4171950" y="2305050"/>
            <a:ext cx="3238500" cy="266700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68CA97A9-E9C9-4690-B7A5-9106E749033E}"/>
              </a:ext>
            </a:extLst>
          </p:cNvPr>
          <p:cNvSpPr>
            <a:spLocks xmlns:a="http://schemas.openxmlformats.org/drawingml/2006/main" noGrp="1"/>
          </p:cNvSpPr>
          <p:nvPr/>
        </p:nvSpPr>
        <p:spPr>
          <a:xfrm xmlns:a="http://schemas.openxmlformats.org/drawingml/2006/main">
            <a:off x="4476750" y="2609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B97831"/>
                </a:solidFill>
              </a:defRPr>
            </a:pPr>
            <a:r>
              <a:rPr sz="1050" b="1">
                <a:solidFill>
                  <a:srgbClr val="B97831"/>
                </a:solidFill>
              </a:rPr>
              <a:t>MUST ESCALATE</a:t>
            </a:r>
          </a:p>
        </p:txBody>
      </p:sp>
      <p:sp>
        <p:nvSpPr>
          <p:cNvPr id="9" name="Rectangle 8">
            <a:extLst xmlns:a="http://schemas.openxmlformats.org/drawingml/2006/main">
              <a:ext uri="{FF2B5EF4-FFF2-40B4-BE49-F238E27FC236}">
                <a16:creationId xmlns:a16="http://schemas.microsoft.com/office/drawing/2014/main" id="{08C4FD12-960E-43EE-8A1A-04692F133EEC}"/>
              </a:ext>
            </a:extLst>
          </p:cNvPr>
          <p:cNvSpPr>
            <a:spLocks xmlns:a="http://schemas.openxmlformats.org/drawingml/2006/main" noGrp="1"/>
          </p:cNvSpPr>
          <p:nvPr/>
        </p:nvSpPr>
        <p:spPr>
          <a:xfrm xmlns:a="http://schemas.openxmlformats.org/drawingml/2006/main">
            <a:off x="4476750" y="3086100"/>
            <a:ext cx="25527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23B55"/>
                </a:solidFill>
              </a:defRPr>
            </a:pPr>
            <a:r>
              <a:rPr sz="1500" b="1">
                <a:solidFill>
                  <a:srgbClr val="123B55"/>
                </a:solidFill>
              </a:rPr>
              <a:t>Unverified availability</a:t>
            </a:r>
          </a:p>
          <a:p xmlns:a="http://schemas.openxmlformats.org/drawingml/2006/main">
            <a:endParaRPr sz="1500" b="1">
              <a:solidFill>
                <a:srgbClr val="123B55"/>
              </a:solidFill>
            </a:endParaRPr>
          </a:p>
          <a:p xmlns:a="http://schemas.openxmlformats.org/drawingml/2006/main">
            <a:pPr algn="l">
              <a:buNone/>
              <a:defRPr sz="1500" b="1">
                <a:solidFill>
                  <a:srgbClr val="123B55"/>
                </a:solidFill>
              </a:defRPr>
            </a:pPr>
            <a:r>
              <a:rPr sz="1500" b="1">
                <a:solidFill>
                  <a:srgbClr val="123B55"/>
                </a:solidFill>
              </a:rPr>
              <a:t>Prices, appointments or coverage</a:t>
            </a:r>
          </a:p>
          <a:p xmlns:a="http://schemas.openxmlformats.org/drawingml/2006/main">
            <a:endParaRPr sz="1500" b="1">
              <a:solidFill>
                <a:srgbClr val="123B55"/>
              </a:solidFill>
            </a:endParaRPr>
          </a:p>
          <a:p xmlns:a="http://schemas.openxmlformats.org/drawingml/2006/main">
            <a:pPr algn="l">
              <a:buNone/>
              <a:defRPr sz="1500" b="1">
                <a:solidFill>
                  <a:srgbClr val="123B55"/>
                </a:solidFill>
              </a:defRPr>
            </a:pPr>
            <a:r>
              <a:rPr sz="1500" b="1">
                <a:solidFill>
                  <a:srgbClr val="123B55"/>
                </a:solidFill>
              </a:rPr>
              <a:t>Questions requiring clinical judgment</a:t>
            </a:r>
          </a:p>
        </p:txBody>
      </p:sp>
      <p:sp>
        <p:nvSpPr>
          <p:cNvPr id="10" name="Rectangle: Rounded Corners 9">
            <a:extLst xmlns:a="http://schemas.openxmlformats.org/drawingml/2006/main">
              <a:ext uri="{FF2B5EF4-FFF2-40B4-BE49-F238E27FC236}">
                <a16:creationId xmlns:a16="http://schemas.microsoft.com/office/drawing/2014/main" id="{8986C202-DC69-4920-86BD-45DFB71A23BA}"/>
              </a:ext>
            </a:extLst>
          </p:cNvPr>
          <p:cNvSpPr>
            <a:spLocks xmlns:a="http://schemas.openxmlformats.org/drawingml/2006/main" noGrp="1"/>
          </p:cNvSpPr>
          <p:nvPr/>
        </p:nvSpPr>
        <p:spPr>
          <a:xfrm xmlns:a="http://schemas.openxmlformats.org/drawingml/2006/main">
            <a:off x="7658100" y="2305050"/>
            <a:ext cx="3848100" cy="2667000"/>
          </a:xfrm>
          <a:prstGeom xmlns:a="http://schemas.openxmlformats.org/drawingml/2006/main" prst="roundRect">
            <a:avLst>
              <a:gd name="adj" fmla="val 8571"/>
            </a:avLst>
          </a:prstGeom>
          <a:solidFill xmlns:a="http://schemas.openxmlformats.org/drawingml/2006/main">
            <a:srgbClr val="123B5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D95DEA28-5A0F-4525-B0A4-E0DA9A7D0089}"/>
              </a:ext>
            </a:extLst>
          </p:cNvPr>
          <p:cNvSpPr>
            <a:spLocks xmlns:a="http://schemas.openxmlformats.org/drawingml/2006/main" noGrp="1"/>
          </p:cNvSpPr>
          <p:nvPr/>
        </p:nvSpPr>
        <p:spPr>
          <a:xfrm xmlns:a="http://schemas.openxmlformats.org/drawingml/2006/main">
            <a:off x="7962900" y="26098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8ED1C4"/>
                </a:solidFill>
              </a:defRPr>
            </a:pPr>
            <a:r>
              <a:rPr sz="1050" b="1">
                <a:solidFill>
                  <a:srgbClr val="8ED1C4"/>
                </a:solidFill>
              </a:rPr>
              <a:t>WILL NOT DO</a:t>
            </a:r>
          </a:p>
        </p:txBody>
      </p:sp>
      <p:sp>
        <p:nvSpPr>
          <p:cNvPr id="12" name="Rectangle 11">
            <a:extLst xmlns:a="http://schemas.openxmlformats.org/drawingml/2006/main">
              <a:ext uri="{FF2B5EF4-FFF2-40B4-BE49-F238E27FC236}">
                <a16:creationId xmlns:a16="http://schemas.microsoft.com/office/drawing/2014/main" id="{D8161E37-B542-4DB0-9BAF-19844D58E6CC}"/>
              </a:ext>
            </a:extLst>
          </p:cNvPr>
          <p:cNvSpPr>
            <a:spLocks xmlns:a="http://schemas.openxmlformats.org/drawingml/2006/main" noGrp="1"/>
          </p:cNvSpPr>
          <p:nvPr/>
        </p:nvSpPr>
        <p:spPr>
          <a:xfrm xmlns:a="http://schemas.openxmlformats.org/drawingml/2006/main">
            <a:off x="7962900" y="3086100"/>
            <a:ext cx="30670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FFFFF"/>
                </a:solidFill>
              </a:defRPr>
            </a:pPr>
            <a:r>
              <a:rPr sz="1500" b="1">
                <a:solidFill>
                  <a:srgbClr val="FFFFFF"/>
                </a:solidFill>
              </a:rPr>
              <a:t>Diagnose or interpret results</a:t>
            </a:r>
          </a:p>
          <a:p xmlns:a="http://schemas.openxmlformats.org/drawingml/2006/main">
            <a:endParaRPr sz="1500" b="1">
              <a:solidFill>
                <a:srgbClr val="FFFFFF"/>
              </a:solidFill>
            </a:endParaRPr>
          </a:p>
          <a:p xmlns:a="http://schemas.openxmlformats.org/drawingml/2006/main">
            <a:pPr algn="l">
              <a:buNone/>
              <a:defRPr sz="1500" b="1">
                <a:solidFill>
                  <a:srgbClr val="FFFFFF"/>
                </a:solidFill>
              </a:defRPr>
            </a:pPr>
            <a:r>
              <a:rPr sz="1500" b="1">
                <a:solidFill>
                  <a:srgbClr val="FFFFFF"/>
                </a:solidFill>
              </a:rPr>
              <a:t>Recommend medicines or treatment</a:t>
            </a:r>
          </a:p>
          <a:p xmlns:a="http://schemas.openxmlformats.org/drawingml/2006/main">
            <a:endParaRPr sz="1500" b="1">
              <a:solidFill>
                <a:srgbClr val="FFFFFF"/>
              </a:solidFill>
            </a:endParaRPr>
          </a:p>
          <a:p xmlns:a="http://schemas.openxmlformats.org/drawingml/2006/main">
            <a:pPr algn="l">
              <a:buNone/>
              <a:defRPr sz="1500" b="1">
                <a:solidFill>
                  <a:srgbClr val="FFFFFF"/>
                </a:solidFill>
              </a:defRPr>
            </a:pPr>
            <a:r>
              <a:rPr sz="1500" b="1">
                <a:solidFill>
                  <a:srgbClr val="FFFFFF"/>
                </a:solidFill>
              </a:rPr>
              <a:t>Act as an emergency clinician</a:t>
            </a:r>
          </a:p>
        </p:txBody>
      </p:sp>
      <p:sp>
        <p:nvSpPr>
          <p:cNvPr id="13" name="Rectangle: Rounded Corners 12">
            <a:extLst xmlns:a="http://schemas.openxmlformats.org/drawingml/2006/main">
              <a:ext uri="{FF2B5EF4-FFF2-40B4-BE49-F238E27FC236}">
                <a16:creationId xmlns:a16="http://schemas.microsoft.com/office/drawing/2014/main" id="{EB44399E-B1D0-445A-BB36-75EB2A8B48C3}"/>
              </a:ext>
            </a:extLst>
          </p:cNvPr>
          <p:cNvSpPr>
            <a:spLocks xmlns:a="http://schemas.openxmlformats.org/drawingml/2006/main" noGrp="1"/>
          </p:cNvSpPr>
          <p:nvPr/>
        </p:nvSpPr>
        <p:spPr>
          <a:xfrm xmlns:a="http://schemas.openxmlformats.org/drawingml/2006/main">
            <a:off x="685800" y="5276850"/>
            <a:ext cx="10820400" cy="685800"/>
          </a:xfrm>
          <a:prstGeom xmlns:a="http://schemas.openxmlformats.org/drawingml/2006/main" prst="roundRect">
            <a:avLst>
              <a:gd name="adj" fmla="val 25000"/>
            </a:avLst>
          </a:prstGeom>
          <a:solidFill xmlns:a="http://schemas.openxmlformats.org/drawingml/2006/main">
            <a:srgbClr val="F3F8F9"/>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7BCFDF0D-5924-4F9B-BE84-2A52B3650049}"/>
              </a:ext>
            </a:extLst>
          </p:cNvPr>
          <p:cNvSpPr>
            <a:spLocks xmlns:a="http://schemas.openxmlformats.org/drawingml/2006/main" noGrp="1"/>
          </p:cNvSpPr>
          <p:nvPr/>
        </p:nvSpPr>
        <p:spPr>
          <a:xfrm xmlns:a="http://schemas.openxmlformats.org/drawingml/2006/main">
            <a:off x="914400" y="5467350"/>
            <a:ext cx="10363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3B55"/>
                </a:solidFill>
              </a:defRPr>
            </a:pPr>
            <a:r>
              <a:rPr sz="1575" b="1">
                <a:solidFill>
                  <a:srgbClr val="123B55"/>
                </a:solidFill>
              </a:rPr>
              <a:t>MarMed approves the knowledge, boundaries and escalation paths before launch.</a:t>
            </a:r>
          </a:p>
        </p:txBody>
      </p:sp>
      <p:sp>
        <p:nvSpPr>
          <p:cNvPr id="15" name="Rectangle 14">
            <a:extLst xmlns:a="http://schemas.openxmlformats.org/drawingml/2006/main">
              <a:ext uri="{FF2B5EF4-FFF2-40B4-BE49-F238E27FC236}">
                <a16:creationId xmlns:a16="http://schemas.microsoft.com/office/drawing/2014/main" id="{54B5B5AA-95BA-45A2-8A9C-672C551B3A59}"/>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FE8C444A-C573-4961-B04D-9D36F7B70A76}"/>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17" name="Rectangle 16">
            <a:extLst xmlns:a="http://schemas.openxmlformats.org/drawingml/2006/main">
              <a:ext uri="{FF2B5EF4-FFF2-40B4-BE49-F238E27FC236}">
                <a16:creationId xmlns:a16="http://schemas.microsoft.com/office/drawing/2014/main" id="{B2C9DD3B-B0AD-4CF1-AC65-0BA8F66EA0F1}"/>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551310221"/>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080457C3-9A19-4858-B5AC-B196797938FC}"/>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SCOPE &amp; INVESTMENT</a:t>
            </a:r>
          </a:p>
        </p:txBody>
      </p:sp>
      <p:sp>
        <p:nvSpPr>
          <p:cNvPr id="2" name="Rectangle 1">
            <a:extLst xmlns:a="http://schemas.openxmlformats.org/drawingml/2006/main">
              <a:ext uri="{FF2B5EF4-FFF2-40B4-BE49-F238E27FC236}">
                <a16:creationId xmlns:a16="http://schemas.microsoft.com/office/drawing/2014/main" id="{37E28BD7-ECA4-4E46-B243-A5FF0CC2A400}"/>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A clear website package with an optional AI path</a:t>
            </a:r>
          </a:p>
        </p:txBody>
      </p:sp>
      <p:sp>
        <p:nvSpPr>
          <p:cNvPr id="3" name="Rectangle 2">
            <a:extLst xmlns:a="http://schemas.openxmlformats.org/drawingml/2006/main">
              <a:ext uri="{FF2B5EF4-FFF2-40B4-BE49-F238E27FC236}">
                <a16:creationId xmlns:a16="http://schemas.microsoft.com/office/drawing/2014/main" id="{B0DBBFB3-65E1-4644-BDED-32C922A5CCC0}"/>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09</a:t>
            </a:r>
          </a:p>
        </p:txBody>
      </p:sp>
      <p:sp>
        <p:nvSpPr>
          <p:cNvPr id="4" name="Rectangle 3">
            <a:extLst xmlns:a="http://schemas.openxmlformats.org/drawingml/2006/main">
              <a:ext uri="{FF2B5EF4-FFF2-40B4-BE49-F238E27FC236}">
                <a16:creationId xmlns:a16="http://schemas.microsoft.com/office/drawing/2014/main" id="{AE9685C8-D7AE-4609-8D7C-99DAA7EC0859}"/>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Rounded Corners 4">
            <a:extLst xmlns:a="http://schemas.openxmlformats.org/drawingml/2006/main">
              <a:ext uri="{FF2B5EF4-FFF2-40B4-BE49-F238E27FC236}">
                <a16:creationId xmlns:a16="http://schemas.microsoft.com/office/drawing/2014/main" id="{033412A0-C5FE-4695-93A2-0A1639C34F72}"/>
              </a:ext>
            </a:extLst>
          </p:cNvPr>
          <p:cNvSpPr>
            <a:spLocks xmlns:a="http://schemas.openxmlformats.org/drawingml/2006/main" noGrp="1"/>
          </p:cNvSpPr>
          <p:nvPr/>
        </p:nvSpPr>
        <p:spPr>
          <a:xfrm xmlns:a="http://schemas.openxmlformats.org/drawingml/2006/main">
            <a:off x="685800" y="1943100"/>
            <a:ext cx="3257550" cy="3333750"/>
          </a:xfrm>
          <a:prstGeom xmlns:a="http://schemas.openxmlformats.org/drawingml/2006/main" prst="roundRect">
            <a:avLst>
              <a:gd name="adj" fmla="val 7018"/>
            </a:avLst>
          </a:prstGeom>
          <a:solidFill xmlns:a="http://schemas.openxmlformats.org/drawingml/2006/main">
            <a:srgbClr val="E8F2F6"/>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98033CD4-CDE3-407C-A3FF-0409F6DBC84D}"/>
              </a:ext>
            </a:extLst>
          </p:cNvPr>
          <p:cNvSpPr>
            <a:spLocks xmlns:a="http://schemas.openxmlformats.org/drawingml/2006/main" noGrp="1"/>
          </p:cNvSpPr>
          <p:nvPr/>
        </p:nvSpPr>
        <p:spPr>
          <a:xfrm xmlns:a="http://schemas.openxmlformats.org/drawingml/2006/main">
            <a:off x="95250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01</a:t>
            </a:r>
          </a:p>
        </p:txBody>
      </p:sp>
      <p:sp>
        <p:nvSpPr>
          <p:cNvPr id="7" name="Rectangle 6">
            <a:extLst xmlns:a="http://schemas.openxmlformats.org/drawingml/2006/main">
              <a:ext uri="{FF2B5EF4-FFF2-40B4-BE49-F238E27FC236}">
                <a16:creationId xmlns:a16="http://schemas.microsoft.com/office/drawing/2014/main" id="{23F146DB-9DC4-470B-A97B-88AE8C14EA46}"/>
              </a:ext>
            </a:extLst>
          </p:cNvPr>
          <p:cNvSpPr>
            <a:spLocks xmlns:a="http://schemas.openxmlformats.org/drawingml/2006/main" noGrp="1"/>
          </p:cNvSpPr>
          <p:nvPr/>
        </p:nvSpPr>
        <p:spPr>
          <a:xfrm xmlns:a="http://schemas.openxmlformats.org/drawingml/2006/main">
            <a:off x="95250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WEBSITE BUILD</a:t>
            </a:r>
          </a:p>
        </p:txBody>
      </p:sp>
      <p:sp>
        <p:nvSpPr>
          <p:cNvPr id="8" name="Rectangle 7">
            <a:extLst xmlns:a="http://schemas.openxmlformats.org/drawingml/2006/main">
              <a:ext uri="{FF2B5EF4-FFF2-40B4-BE49-F238E27FC236}">
                <a16:creationId xmlns:a16="http://schemas.microsoft.com/office/drawing/2014/main" id="{5F302E6D-D665-490D-AC5D-66EC0B2C605A}"/>
              </a:ext>
            </a:extLst>
          </p:cNvPr>
          <p:cNvSpPr>
            <a:spLocks xmlns:a="http://schemas.openxmlformats.org/drawingml/2006/main" noGrp="1"/>
          </p:cNvSpPr>
          <p:nvPr/>
        </p:nvSpPr>
        <p:spPr>
          <a:xfrm xmlns:a="http://schemas.openxmlformats.org/drawingml/2006/main">
            <a:off x="95250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7BFDA4C8-FE8D-42DC-BEA3-9E3159F33F99}"/>
              </a:ext>
            </a:extLst>
          </p:cNvPr>
          <p:cNvSpPr>
            <a:spLocks xmlns:a="http://schemas.openxmlformats.org/drawingml/2006/main" noGrp="1"/>
          </p:cNvSpPr>
          <p:nvPr/>
        </p:nvSpPr>
        <p:spPr>
          <a:xfrm xmlns:a="http://schemas.openxmlformats.org/drawingml/2006/main">
            <a:off x="95250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Mobile-responsive design
Core service pages
Doctors and schedules
Inquiry-request flow</a:t>
            </a:r>
          </a:p>
        </p:txBody>
      </p:sp>
      <p:sp>
        <p:nvSpPr>
          <p:cNvPr id="10" name="Rectangle 9">
            <a:extLst xmlns:a="http://schemas.openxmlformats.org/drawingml/2006/main">
              <a:ext uri="{FF2B5EF4-FFF2-40B4-BE49-F238E27FC236}">
                <a16:creationId xmlns:a16="http://schemas.microsoft.com/office/drawing/2014/main" id="{742DC8CA-8BE4-4A23-8977-50E378D0C1CC}"/>
              </a:ext>
            </a:extLst>
          </p:cNvPr>
          <p:cNvSpPr>
            <a:spLocks xmlns:a="http://schemas.openxmlformats.org/drawingml/2006/main" noGrp="1"/>
          </p:cNvSpPr>
          <p:nvPr/>
        </p:nvSpPr>
        <p:spPr>
          <a:xfrm xmlns:a="http://schemas.openxmlformats.org/drawingml/2006/main">
            <a:off x="95250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$1,000 one-time</a:t>
            </a:r>
          </a:p>
        </p:txBody>
      </p:sp>
      <p:sp>
        <p:nvSpPr>
          <p:cNvPr id="11" name="Rectangle: Rounded Corners 10">
            <a:extLst xmlns:a="http://schemas.openxmlformats.org/drawingml/2006/main">
              <a:ext uri="{FF2B5EF4-FFF2-40B4-BE49-F238E27FC236}">
                <a16:creationId xmlns:a16="http://schemas.microsoft.com/office/drawing/2014/main" id="{D9321803-0EBA-4ADD-98B4-43B972F0248C}"/>
              </a:ext>
            </a:extLst>
          </p:cNvPr>
          <p:cNvSpPr>
            <a:spLocks xmlns:a="http://schemas.openxmlformats.org/drawingml/2006/main" noGrp="1"/>
          </p:cNvSpPr>
          <p:nvPr/>
        </p:nvSpPr>
        <p:spPr>
          <a:xfrm xmlns:a="http://schemas.openxmlformats.org/drawingml/2006/main">
            <a:off x="4286250" y="1943100"/>
            <a:ext cx="3257550" cy="3333750"/>
          </a:xfrm>
          <a:prstGeom xmlns:a="http://schemas.openxmlformats.org/drawingml/2006/main" prst="roundRect">
            <a:avLst>
              <a:gd name="adj" fmla="val 7018"/>
            </a:avLst>
          </a:prstGeom>
          <a:solidFill xmlns:a="http://schemas.openxmlformats.org/drawingml/2006/main">
            <a:srgbClr val="DDEFEA"/>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4DAE1721-76D7-483B-A70F-753432DFA2CA}"/>
              </a:ext>
            </a:extLst>
          </p:cNvPr>
          <p:cNvSpPr>
            <a:spLocks xmlns:a="http://schemas.openxmlformats.org/drawingml/2006/main" noGrp="1"/>
          </p:cNvSpPr>
          <p:nvPr/>
        </p:nvSpPr>
        <p:spPr>
          <a:xfrm xmlns:a="http://schemas.openxmlformats.org/drawingml/2006/main">
            <a:off x="455295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02</a:t>
            </a:r>
          </a:p>
        </p:txBody>
      </p:sp>
      <p:sp>
        <p:nvSpPr>
          <p:cNvPr id="13" name="Rectangle 12">
            <a:extLst xmlns:a="http://schemas.openxmlformats.org/drawingml/2006/main">
              <a:ext uri="{FF2B5EF4-FFF2-40B4-BE49-F238E27FC236}">
                <a16:creationId xmlns:a16="http://schemas.microsoft.com/office/drawing/2014/main" id="{15126D5D-9B28-41B9-B7EB-C5B72167D7EC}"/>
              </a:ext>
            </a:extLst>
          </p:cNvPr>
          <p:cNvSpPr>
            <a:spLocks xmlns:a="http://schemas.openxmlformats.org/drawingml/2006/main" noGrp="1"/>
          </p:cNvSpPr>
          <p:nvPr/>
        </p:nvSpPr>
        <p:spPr>
          <a:xfrm xmlns:a="http://schemas.openxmlformats.org/drawingml/2006/main">
            <a:off x="455295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MAINTENANCE</a:t>
            </a:r>
          </a:p>
        </p:txBody>
      </p:sp>
      <p:sp>
        <p:nvSpPr>
          <p:cNvPr id="14" name="Rectangle 13">
            <a:extLst xmlns:a="http://schemas.openxmlformats.org/drawingml/2006/main">
              <a:ext uri="{FF2B5EF4-FFF2-40B4-BE49-F238E27FC236}">
                <a16:creationId xmlns:a16="http://schemas.microsoft.com/office/drawing/2014/main" id="{B4D25CEA-B720-4E26-B823-BDF458193967}"/>
              </a:ext>
            </a:extLst>
          </p:cNvPr>
          <p:cNvSpPr>
            <a:spLocks xmlns:a="http://schemas.openxmlformats.org/drawingml/2006/main" noGrp="1"/>
          </p:cNvSpPr>
          <p:nvPr/>
        </p:nvSpPr>
        <p:spPr>
          <a:xfrm xmlns:a="http://schemas.openxmlformats.org/drawingml/2006/main">
            <a:off x="455295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12EE3F66-E773-455E-A8BA-FC7C8810FE14}"/>
              </a:ext>
            </a:extLst>
          </p:cNvPr>
          <p:cNvSpPr>
            <a:spLocks xmlns:a="http://schemas.openxmlformats.org/drawingml/2006/main" noGrp="1"/>
          </p:cNvSpPr>
          <p:nvPr/>
        </p:nvSpPr>
        <p:spPr>
          <a:xfrm xmlns:a="http://schemas.openxmlformats.org/drawingml/2006/main">
            <a:off x="455295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Content and technical maintenance
Performance checks
Approved website updates</a:t>
            </a:r>
          </a:p>
        </p:txBody>
      </p:sp>
      <p:sp>
        <p:nvSpPr>
          <p:cNvPr id="16" name="Rectangle 15">
            <a:extLst xmlns:a="http://schemas.openxmlformats.org/drawingml/2006/main">
              <a:ext uri="{FF2B5EF4-FFF2-40B4-BE49-F238E27FC236}">
                <a16:creationId xmlns:a16="http://schemas.microsoft.com/office/drawing/2014/main" id="{B601C818-6683-46B0-917D-A5B4E02877B9}"/>
              </a:ext>
            </a:extLst>
          </p:cNvPr>
          <p:cNvSpPr>
            <a:spLocks xmlns:a="http://schemas.openxmlformats.org/drawingml/2006/main" noGrp="1"/>
          </p:cNvSpPr>
          <p:nvPr/>
        </p:nvSpPr>
        <p:spPr>
          <a:xfrm xmlns:a="http://schemas.openxmlformats.org/drawingml/2006/main">
            <a:off x="455295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$150 per month</a:t>
            </a:r>
          </a:p>
        </p:txBody>
      </p:sp>
      <p:sp>
        <p:nvSpPr>
          <p:cNvPr id="17" name="Rectangle: Rounded Corners 16">
            <a:extLst xmlns:a="http://schemas.openxmlformats.org/drawingml/2006/main">
              <a:ext uri="{FF2B5EF4-FFF2-40B4-BE49-F238E27FC236}">
                <a16:creationId xmlns:a16="http://schemas.microsoft.com/office/drawing/2014/main" id="{40BD6DAB-6E7C-494C-A315-24A2C2C61651}"/>
              </a:ext>
            </a:extLst>
          </p:cNvPr>
          <p:cNvSpPr>
            <a:spLocks xmlns:a="http://schemas.openxmlformats.org/drawingml/2006/main" noGrp="1"/>
          </p:cNvSpPr>
          <p:nvPr/>
        </p:nvSpPr>
        <p:spPr>
          <a:xfrm xmlns:a="http://schemas.openxmlformats.org/drawingml/2006/main">
            <a:off x="7886700" y="1943100"/>
            <a:ext cx="3257550" cy="3333750"/>
          </a:xfrm>
          <a:prstGeom xmlns:a="http://schemas.openxmlformats.org/drawingml/2006/main" prst="roundRect">
            <a:avLst>
              <a:gd name="adj" fmla="val 7018"/>
            </a:avLst>
          </a:prstGeom>
          <a:solidFill xmlns:a="http://schemas.openxmlformats.org/drawingml/2006/main">
            <a:srgbClr val="E6F0E7"/>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D945E3A3-C9A3-436A-BD3B-CD02F97E6CE6}"/>
              </a:ext>
            </a:extLst>
          </p:cNvPr>
          <p:cNvSpPr>
            <a:spLocks xmlns:a="http://schemas.openxmlformats.org/drawingml/2006/main" noGrp="1"/>
          </p:cNvSpPr>
          <p:nvPr/>
        </p:nvSpPr>
        <p:spPr>
          <a:xfrm xmlns:a="http://schemas.openxmlformats.org/drawingml/2006/main">
            <a:off x="815340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03</a:t>
            </a:r>
          </a:p>
        </p:txBody>
      </p:sp>
      <p:sp>
        <p:nvSpPr>
          <p:cNvPr id="19" name="Rectangle 18">
            <a:extLst xmlns:a="http://schemas.openxmlformats.org/drawingml/2006/main">
              <a:ext uri="{FF2B5EF4-FFF2-40B4-BE49-F238E27FC236}">
                <a16:creationId xmlns:a16="http://schemas.microsoft.com/office/drawing/2014/main" id="{FE66A32F-703F-4FE7-B7FF-E8198C6F4487}"/>
              </a:ext>
            </a:extLst>
          </p:cNvPr>
          <p:cNvSpPr>
            <a:spLocks xmlns:a="http://schemas.openxmlformats.org/drawingml/2006/main" noGrp="1"/>
          </p:cNvSpPr>
          <p:nvPr/>
        </p:nvSpPr>
        <p:spPr>
          <a:xfrm xmlns:a="http://schemas.openxmlformats.org/drawingml/2006/main">
            <a:off x="815340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KRISS AI</a:t>
            </a:r>
          </a:p>
        </p:txBody>
      </p:sp>
      <p:sp>
        <p:nvSpPr>
          <p:cNvPr id="20" name="Rectangle 19">
            <a:extLst xmlns:a="http://schemas.openxmlformats.org/drawingml/2006/main">
              <a:ext uri="{FF2B5EF4-FFF2-40B4-BE49-F238E27FC236}">
                <a16:creationId xmlns:a16="http://schemas.microsoft.com/office/drawing/2014/main" id="{678EDB14-3F5C-42C7-8C43-46700FDD5370}"/>
              </a:ext>
            </a:extLst>
          </p:cNvPr>
          <p:cNvSpPr>
            <a:spLocks xmlns:a="http://schemas.openxmlformats.org/drawingml/2006/main" noGrp="1"/>
          </p:cNvSpPr>
          <p:nvPr/>
        </p:nvSpPr>
        <p:spPr>
          <a:xfrm xmlns:a="http://schemas.openxmlformats.org/drawingml/2006/main">
            <a:off x="815340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E4424A8E-95ED-4A1A-B128-20A8AEBBA376}"/>
              </a:ext>
            </a:extLst>
          </p:cNvPr>
          <p:cNvSpPr>
            <a:spLocks xmlns:a="http://schemas.openxmlformats.org/drawingml/2006/main" noGrp="1"/>
          </p:cNvSpPr>
          <p:nvPr/>
        </p:nvSpPr>
        <p:spPr>
          <a:xfrm xmlns:a="http://schemas.openxmlformats.org/drawingml/2006/main">
            <a:off x="815340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Website-based patient assistant
Approved knowledge base
Testing and support</a:t>
            </a:r>
          </a:p>
        </p:txBody>
      </p:sp>
      <p:sp>
        <p:nvSpPr>
          <p:cNvPr id="22" name="Rectangle 21">
            <a:extLst xmlns:a="http://schemas.openxmlformats.org/drawingml/2006/main">
              <a:ext uri="{FF2B5EF4-FFF2-40B4-BE49-F238E27FC236}">
                <a16:creationId xmlns:a16="http://schemas.microsoft.com/office/drawing/2014/main" id="{2D2F4E80-0606-4769-AD9E-174E314A25E3}"/>
              </a:ext>
            </a:extLst>
          </p:cNvPr>
          <p:cNvSpPr>
            <a:spLocks xmlns:a="http://schemas.openxmlformats.org/drawingml/2006/main" noGrp="1"/>
          </p:cNvSpPr>
          <p:nvPr/>
        </p:nvSpPr>
        <p:spPr>
          <a:xfrm xmlns:a="http://schemas.openxmlformats.org/drawingml/2006/main">
            <a:off x="815340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$1,000 setup • $199/month</a:t>
            </a:r>
          </a:p>
        </p:txBody>
      </p:sp>
      <p:sp>
        <p:nvSpPr>
          <p:cNvPr id="23" name="Rectangle 22">
            <a:extLst xmlns:a="http://schemas.openxmlformats.org/drawingml/2006/main">
              <a:ext uri="{FF2B5EF4-FFF2-40B4-BE49-F238E27FC236}">
                <a16:creationId xmlns:a16="http://schemas.microsoft.com/office/drawing/2014/main" id="{FD2D46A5-550E-4A3C-A8EC-82A023A39F3B}"/>
              </a:ext>
            </a:extLst>
          </p:cNvPr>
          <p:cNvSpPr>
            <a:spLocks xmlns:a="http://schemas.openxmlformats.org/drawingml/2006/main" noGrp="1"/>
          </p:cNvSpPr>
          <p:nvPr/>
        </p:nvSpPr>
        <p:spPr>
          <a:xfrm xmlns:a="http://schemas.openxmlformats.org/drawingml/2006/main">
            <a:off x="685800" y="58483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23B55"/>
                </a:solidFill>
              </a:defRPr>
            </a:pPr>
            <a:r>
              <a:rPr sz="1500" b="1">
                <a:solidFill>
                  <a:srgbClr val="123B55"/>
                </a:solidFill>
              </a:rPr>
              <a:t>Implementation schedule is confirmed after MarMed approves the content and inquiry workflow.</a:t>
            </a:r>
          </a:p>
        </p:txBody>
      </p:sp>
      <p:sp>
        <p:nvSpPr>
          <p:cNvPr id="24" name="Rectangle 23">
            <a:extLst xmlns:a="http://schemas.openxmlformats.org/drawingml/2006/main">
              <a:ext uri="{FF2B5EF4-FFF2-40B4-BE49-F238E27FC236}">
                <a16:creationId xmlns:a16="http://schemas.microsoft.com/office/drawing/2014/main" id="{B11B911A-AE09-4B5C-8E3B-4846E40E5E98}"/>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F6F27EB8-4D16-4C50-8EDE-056D38FE28BE}"/>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Website scope and investment</a:t>
            </a:r>
          </a:p>
        </p:txBody>
      </p:sp>
      <p:sp>
        <p:nvSpPr>
          <p:cNvPr id="26" name="Rectangle 25">
            <a:extLst xmlns:a="http://schemas.openxmlformats.org/drawingml/2006/main">
              <a:ext uri="{FF2B5EF4-FFF2-40B4-BE49-F238E27FC236}">
                <a16:creationId xmlns:a16="http://schemas.microsoft.com/office/drawing/2014/main" id="{431C4B5A-62B9-4CAD-AA72-1B9815B88DCE}"/>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2009832722"/>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080457C3-9A19-4858-B5AC-B196797938FC}"/>
              </a:ext>
            </a:extLst>
          </p:cNvPr>
          <p:cNvSpPr>
            <a:spLocks xmlns:a="http://schemas.openxmlformats.org/drawingml/2006/main" noGrp="1"/>
          </p:cNvSpPr>
          <p:nvPr/>
        </p:nvSpPr>
        <p:spPr>
          <a:xfrm xmlns:a="http://schemas.openxmlformats.org/drawingml/2006/main">
            <a:off x="685800" y="4000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IMPLEMENTATION APPROACH</a:t>
            </a:r>
          </a:p>
        </p:txBody>
      </p:sp>
      <p:sp>
        <p:nvSpPr>
          <p:cNvPr id="2" name="Rectangle 1">
            <a:extLst xmlns:a="http://schemas.openxmlformats.org/drawingml/2006/main">
              <a:ext uri="{FF2B5EF4-FFF2-40B4-BE49-F238E27FC236}">
                <a16:creationId xmlns:a16="http://schemas.microsoft.com/office/drawing/2014/main" id="{37E28BD7-ECA4-4E46-B243-A5FF0CC2A400}"/>
              </a:ext>
            </a:extLst>
          </p:cNvPr>
          <p:cNvSpPr>
            <a:spLocks xmlns:a="http://schemas.openxmlformats.org/drawingml/2006/main" noGrp="1"/>
          </p:cNvSpPr>
          <p:nvPr/>
        </p:nvSpPr>
        <p:spPr>
          <a:xfrm xmlns:a="http://schemas.openxmlformats.org/drawingml/2006/main">
            <a:off x="685800" y="723900"/>
            <a:ext cx="1028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23B55"/>
                </a:solidFill>
              </a:defRPr>
            </a:pPr>
            <a:r>
              <a:rPr sz="2775" b="1">
                <a:solidFill>
                  <a:srgbClr val="123B55"/>
                </a:solidFill>
              </a:rPr>
              <a:t>Two phases keep implementation controlled</a:t>
            </a:r>
          </a:p>
        </p:txBody>
      </p:sp>
      <p:sp>
        <p:nvSpPr>
          <p:cNvPr id="3" name="Rectangle 2">
            <a:extLst xmlns:a="http://schemas.openxmlformats.org/drawingml/2006/main">
              <a:ext uri="{FF2B5EF4-FFF2-40B4-BE49-F238E27FC236}">
                <a16:creationId xmlns:a16="http://schemas.microsoft.com/office/drawing/2014/main" id="{B0DBBFB3-65E1-4644-BDED-32C922A5CCC0}"/>
              </a:ext>
            </a:extLst>
          </p:cNvPr>
          <p:cNvSpPr>
            <a:spLocks xmlns:a="http://schemas.openxmlformats.org/drawingml/2006/main" noGrp="1"/>
          </p:cNvSpPr>
          <p:nvPr/>
        </p:nvSpPr>
        <p:spPr>
          <a:xfrm xmlns:a="http://schemas.openxmlformats.org/drawingml/2006/main">
            <a:off x="11125200" y="44767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1">
                <a:solidFill>
                  <a:srgbClr val="91A5AE"/>
                </a:solidFill>
              </a:defRPr>
            </a:pPr>
            <a:r>
              <a:rPr sz="1050" b="1">
                <a:solidFill>
                  <a:srgbClr val="91A5AE"/>
                </a:solidFill>
              </a:rPr>
              <a:t>10</a:t>
            </a:r>
          </a:p>
        </p:txBody>
      </p:sp>
      <p:sp>
        <p:nvSpPr>
          <p:cNvPr id="4" name="Rectangle 3">
            <a:extLst xmlns:a="http://schemas.openxmlformats.org/drawingml/2006/main">
              <a:ext uri="{FF2B5EF4-FFF2-40B4-BE49-F238E27FC236}">
                <a16:creationId xmlns:a16="http://schemas.microsoft.com/office/drawing/2014/main" id="{AE9685C8-D7AE-4609-8D7C-99DAA7EC0859}"/>
              </a:ext>
            </a:extLst>
          </p:cNvPr>
          <p:cNvSpPr>
            <a:spLocks xmlns:a="http://schemas.openxmlformats.org/drawingml/2006/main" noGrp="1"/>
          </p:cNvSpPr>
          <p:nvPr/>
        </p:nvSpPr>
        <p:spPr>
          <a:xfrm xmlns:a="http://schemas.openxmlformats.org/drawingml/2006/main">
            <a:off x="685800" y="1438275"/>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Rectangle: Rounded Corners 4">
            <a:extLst xmlns:a="http://schemas.openxmlformats.org/drawingml/2006/main">
              <a:ext uri="{FF2B5EF4-FFF2-40B4-BE49-F238E27FC236}">
                <a16:creationId xmlns:a16="http://schemas.microsoft.com/office/drawing/2014/main" id="{033412A0-C5FE-4695-93A2-0A1639C34F72}"/>
              </a:ext>
            </a:extLst>
          </p:cNvPr>
          <p:cNvSpPr>
            <a:spLocks xmlns:a="http://schemas.openxmlformats.org/drawingml/2006/main" noGrp="1"/>
          </p:cNvSpPr>
          <p:nvPr/>
        </p:nvSpPr>
        <p:spPr>
          <a:xfrm xmlns:a="http://schemas.openxmlformats.org/drawingml/2006/main">
            <a:off x="685800" y="1943100"/>
            <a:ext cx="3257550" cy="3333750"/>
          </a:xfrm>
          <a:prstGeom xmlns:a="http://schemas.openxmlformats.org/drawingml/2006/main" prst="roundRect">
            <a:avLst>
              <a:gd name="adj" fmla="val 7018"/>
            </a:avLst>
          </a:prstGeom>
          <a:solidFill xmlns:a="http://schemas.openxmlformats.org/drawingml/2006/main">
            <a:srgbClr val="E8F2F6"/>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98033CD4-CDE3-407C-A3FF-0409F6DBC84D}"/>
              </a:ext>
            </a:extLst>
          </p:cNvPr>
          <p:cNvSpPr>
            <a:spLocks xmlns:a="http://schemas.openxmlformats.org/drawingml/2006/main" noGrp="1"/>
          </p:cNvSpPr>
          <p:nvPr/>
        </p:nvSpPr>
        <p:spPr>
          <a:xfrm xmlns:a="http://schemas.openxmlformats.org/drawingml/2006/main">
            <a:off x="95250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1A</a:t>
            </a:r>
          </a:p>
        </p:txBody>
      </p:sp>
      <p:sp>
        <p:nvSpPr>
          <p:cNvPr id="7" name="Rectangle 6">
            <a:extLst xmlns:a="http://schemas.openxmlformats.org/drawingml/2006/main">
              <a:ext uri="{FF2B5EF4-FFF2-40B4-BE49-F238E27FC236}">
                <a16:creationId xmlns:a16="http://schemas.microsoft.com/office/drawing/2014/main" id="{23F146DB-9DC4-470B-A97B-88AE8C14EA46}"/>
              </a:ext>
            </a:extLst>
          </p:cNvPr>
          <p:cNvSpPr>
            <a:spLocks xmlns:a="http://schemas.openxmlformats.org/drawingml/2006/main" noGrp="1"/>
          </p:cNvSpPr>
          <p:nvPr/>
        </p:nvSpPr>
        <p:spPr>
          <a:xfrm xmlns:a="http://schemas.openxmlformats.org/drawingml/2006/main">
            <a:off x="95250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VALIDATE WEBSITE</a:t>
            </a:r>
          </a:p>
        </p:txBody>
      </p:sp>
      <p:sp>
        <p:nvSpPr>
          <p:cNvPr id="8" name="Rectangle 7">
            <a:extLst xmlns:a="http://schemas.openxmlformats.org/drawingml/2006/main">
              <a:ext uri="{FF2B5EF4-FFF2-40B4-BE49-F238E27FC236}">
                <a16:creationId xmlns:a16="http://schemas.microsoft.com/office/drawing/2014/main" id="{5F302E6D-D665-490D-AC5D-66EC0B2C605A}"/>
              </a:ext>
            </a:extLst>
          </p:cNvPr>
          <p:cNvSpPr>
            <a:spLocks xmlns:a="http://schemas.openxmlformats.org/drawingml/2006/main" noGrp="1"/>
          </p:cNvSpPr>
          <p:nvPr/>
        </p:nvSpPr>
        <p:spPr>
          <a:xfrm xmlns:a="http://schemas.openxmlformats.org/drawingml/2006/main">
            <a:off x="95250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7BFDA4C8-FE8D-42DC-BEA3-9E3159F33F99}"/>
              </a:ext>
            </a:extLst>
          </p:cNvPr>
          <p:cNvSpPr>
            <a:spLocks xmlns:a="http://schemas.openxmlformats.org/drawingml/2006/main" noGrp="1"/>
          </p:cNvSpPr>
          <p:nvPr/>
        </p:nvSpPr>
        <p:spPr>
          <a:xfrm xmlns:a="http://schemas.openxmlformats.org/drawingml/2006/main">
            <a:off x="95250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Approve branding, priority services, doctors, schedules, privacy and inquiry workflow</a:t>
            </a:r>
          </a:p>
        </p:txBody>
      </p:sp>
      <p:sp>
        <p:nvSpPr>
          <p:cNvPr id="10" name="Rectangle 9">
            <a:extLst xmlns:a="http://schemas.openxmlformats.org/drawingml/2006/main">
              <a:ext uri="{FF2B5EF4-FFF2-40B4-BE49-F238E27FC236}">
                <a16:creationId xmlns:a16="http://schemas.microsoft.com/office/drawing/2014/main" id="{742DC8CA-8BE4-4A23-8977-50E378D0C1CC}"/>
              </a:ext>
            </a:extLst>
          </p:cNvPr>
          <p:cNvSpPr>
            <a:spLocks xmlns:a="http://schemas.openxmlformats.org/drawingml/2006/main" noGrp="1"/>
          </p:cNvSpPr>
          <p:nvPr/>
        </p:nvSpPr>
        <p:spPr>
          <a:xfrm xmlns:a="http://schemas.openxmlformats.org/drawingml/2006/main">
            <a:off x="95250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Phase 1 • Content control</a:t>
            </a:r>
          </a:p>
        </p:txBody>
      </p:sp>
      <p:sp>
        <p:nvSpPr>
          <p:cNvPr id="11" name="Rectangle: Rounded Corners 10">
            <a:extLst xmlns:a="http://schemas.openxmlformats.org/drawingml/2006/main">
              <a:ext uri="{FF2B5EF4-FFF2-40B4-BE49-F238E27FC236}">
                <a16:creationId xmlns:a16="http://schemas.microsoft.com/office/drawing/2014/main" id="{D9321803-0EBA-4ADD-98B4-43B972F0248C}"/>
              </a:ext>
            </a:extLst>
          </p:cNvPr>
          <p:cNvSpPr>
            <a:spLocks xmlns:a="http://schemas.openxmlformats.org/drawingml/2006/main" noGrp="1"/>
          </p:cNvSpPr>
          <p:nvPr/>
        </p:nvSpPr>
        <p:spPr>
          <a:xfrm xmlns:a="http://schemas.openxmlformats.org/drawingml/2006/main">
            <a:off x="4286250" y="1943100"/>
            <a:ext cx="3257550" cy="3333750"/>
          </a:xfrm>
          <a:prstGeom xmlns:a="http://schemas.openxmlformats.org/drawingml/2006/main" prst="roundRect">
            <a:avLst>
              <a:gd name="adj" fmla="val 7018"/>
            </a:avLst>
          </a:prstGeom>
          <a:solidFill xmlns:a="http://schemas.openxmlformats.org/drawingml/2006/main">
            <a:srgbClr val="DDEFEA"/>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4DAE1721-76D7-483B-A70F-753432DFA2CA}"/>
              </a:ext>
            </a:extLst>
          </p:cNvPr>
          <p:cNvSpPr>
            <a:spLocks xmlns:a="http://schemas.openxmlformats.org/drawingml/2006/main" noGrp="1"/>
          </p:cNvSpPr>
          <p:nvPr/>
        </p:nvSpPr>
        <p:spPr>
          <a:xfrm xmlns:a="http://schemas.openxmlformats.org/drawingml/2006/main">
            <a:off x="455295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1B</a:t>
            </a:r>
          </a:p>
        </p:txBody>
      </p:sp>
      <p:sp>
        <p:nvSpPr>
          <p:cNvPr id="13" name="Rectangle 12">
            <a:extLst xmlns:a="http://schemas.openxmlformats.org/drawingml/2006/main">
              <a:ext uri="{FF2B5EF4-FFF2-40B4-BE49-F238E27FC236}">
                <a16:creationId xmlns:a16="http://schemas.microsoft.com/office/drawing/2014/main" id="{15126D5D-9B28-41B9-B7EB-C5B72167D7EC}"/>
              </a:ext>
            </a:extLst>
          </p:cNvPr>
          <p:cNvSpPr>
            <a:spLocks xmlns:a="http://schemas.openxmlformats.org/drawingml/2006/main" noGrp="1"/>
          </p:cNvSpPr>
          <p:nvPr/>
        </p:nvSpPr>
        <p:spPr>
          <a:xfrm xmlns:a="http://schemas.openxmlformats.org/drawingml/2006/main">
            <a:off x="455295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BUILD &amp; LAUNCH</a:t>
            </a:r>
          </a:p>
        </p:txBody>
      </p:sp>
      <p:sp>
        <p:nvSpPr>
          <p:cNvPr id="14" name="Rectangle 13">
            <a:extLst xmlns:a="http://schemas.openxmlformats.org/drawingml/2006/main">
              <a:ext uri="{FF2B5EF4-FFF2-40B4-BE49-F238E27FC236}">
                <a16:creationId xmlns:a16="http://schemas.microsoft.com/office/drawing/2014/main" id="{B4D25CEA-B720-4E26-B823-BDF458193967}"/>
              </a:ext>
            </a:extLst>
          </p:cNvPr>
          <p:cNvSpPr>
            <a:spLocks xmlns:a="http://schemas.openxmlformats.org/drawingml/2006/main" noGrp="1"/>
          </p:cNvSpPr>
          <p:nvPr/>
        </p:nvSpPr>
        <p:spPr>
          <a:xfrm xmlns:a="http://schemas.openxmlformats.org/drawingml/2006/main">
            <a:off x="455295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12EE3F66-E773-455E-A8BA-FC7C8810FE14}"/>
              </a:ext>
            </a:extLst>
          </p:cNvPr>
          <p:cNvSpPr>
            <a:spLocks xmlns:a="http://schemas.openxmlformats.org/drawingml/2006/main" noGrp="1"/>
          </p:cNvSpPr>
          <p:nvPr/>
        </p:nvSpPr>
        <p:spPr>
          <a:xfrm xmlns:a="http://schemas.openxmlformats.org/drawingml/2006/main">
            <a:off x="455295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Complete the mobile website, inquiry routing, analytics, search foundations and final testing</a:t>
            </a:r>
          </a:p>
        </p:txBody>
      </p:sp>
      <p:sp>
        <p:nvSpPr>
          <p:cNvPr id="16" name="Rectangle 15">
            <a:extLst xmlns:a="http://schemas.openxmlformats.org/drawingml/2006/main">
              <a:ext uri="{FF2B5EF4-FFF2-40B4-BE49-F238E27FC236}">
                <a16:creationId xmlns:a16="http://schemas.microsoft.com/office/drawing/2014/main" id="{B601C818-6683-46B0-917D-A5B4E02877B9}"/>
              </a:ext>
            </a:extLst>
          </p:cNvPr>
          <p:cNvSpPr>
            <a:spLocks xmlns:a="http://schemas.openxmlformats.org/drawingml/2006/main" noGrp="1"/>
          </p:cNvSpPr>
          <p:nvPr/>
        </p:nvSpPr>
        <p:spPr>
          <a:xfrm xmlns:a="http://schemas.openxmlformats.org/drawingml/2006/main">
            <a:off x="455295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Phase 1 • Website launch</a:t>
            </a:r>
          </a:p>
        </p:txBody>
      </p:sp>
      <p:sp>
        <p:nvSpPr>
          <p:cNvPr id="17" name="Rectangle: Rounded Corners 16">
            <a:extLst xmlns:a="http://schemas.openxmlformats.org/drawingml/2006/main">
              <a:ext uri="{FF2B5EF4-FFF2-40B4-BE49-F238E27FC236}">
                <a16:creationId xmlns:a16="http://schemas.microsoft.com/office/drawing/2014/main" id="{40BD6DAB-6E7C-494C-A315-24A2C2C61651}"/>
              </a:ext>
            </a:extLst>
          </p:cNvPr>
          <p:cNvSpPr>
            <a:spLocks xmlns:a="http://schemas.openxmlformats.org/drawingml/2006/main" noGrp="1"/>
          </p:cNvSpPr>
          <p:nvPr/>
        </p:nvSpPr>
        <p:spPr>
          <a:xfrm xmlns:a="http://schemas.openxmlformats.org/drawingml/2006/main">
            <a:off x="7886700" y="1943100"/>
            <a:ext cx="3257550" cy="3333750"/>
          </a:xfrm>
          <a:prstGeom xmlns:a="http://schemas.openxmlformats.org/drawingml/2006/main" prst="roundRect">
            <a:avLst>
              <a:gd name="adj" fmla="val 7018"/>
            </a:avLst>
          </a:prstGeom>
          <a:solidFill xmlns:a="http://schemas.openxmlformats.org/drawingml/2006/main">
            <a:srgbClr val="E6F0E7"/>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D945E3A3-C9A3-436A-BD3B-CD02F97E6CE6}"/>
              </a:ext>
            </a:extLst>
          </p:cNvPr>
          <p:cNvSpPr>
            <a:spLocks xmlns:a="http://schemas.openxmlformats.org/drawingml/2006/main" noGrp="1"/>
          </p:cNvSpPr>
          <p:nvPr/>
        </p:nvSpPr>
        <p:spPr>
          <a:xfrm xmlns:a="http://schemas.openxmlformats.org/drawingml/2006/main">
            <a:off x="8153400" y="2209800"/>
            <a:ext cx="609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A8C87"/>
                </a:solidFill>
              </a:defRPr>
            </a:pPr>
            <a:r>
              <a:rPr sz="2250" b="1">
                <a:solidFill>
                  <a:srgbClr val="2A8C87"/>
                </a:solidFill>
              </a:rPr>
              <a:t>2</a:t>
            </a:r>
          </a:p>
        </p:txBody>
      </p:sp>
      <p:sp>
        <p:nvSpPr>
          <p:cNvPr id="19" name="Rectangle 18">
            <a:extLst xmlns:a="http://schemas.openxmlformats.org/drawingml/2006/main">
              <a:ext uri="{FF2B5EF4-FFF2-40B4-BE49-F238E27FC236}">
                <a16:creationId xmlns:a16="http://schemas.microsoft.com/office/drawing/2014/main" id="{FE66A32F-703F-4FE7-B7FF-E8198C6F4487}"/>
              </a:ext>
            </a:extLst>
          </p:cNvPr>
          <p:cNvSpPr>
            <a:spLocks xmlns:a="http://schemas.openxmlformats.org/drawingml/2006/main" noGrp="1"/>
          </p:cNvSpPr>
          <p:nvPr/>
        </p:nvSpPr>
        <p:spPr>
          <a:xfrm xmlns:a="http://schemas.openxmlformats.org/drawingml/2006/main">
            <a:off x="8153400" y="27813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123B55"/>
                </a:solidFill>
              </a:defRPr>
            </a:pPr>
            <a:r>
              <a:rPr sz="1350" b="1">
                <a:solidFill>
                  <a:srgbClr val="123B55"/>
                </a:solidFill>
              </a:rPr>
              <a:t>ADD KRISS AI</a:t>
            </a:r>
          </a:p>
        </p:txBody>
      </p:sp>
      <p:sp>
        <p:nvSpPr>
          <p:cNvPr id="20" name="Rectangle 19">
            <a:extLst xmlns:a="http://schemas.openxmlformats.org/drawingml/2006/main">
              <a:ext uri="{FF2B5EF4-FFF2-40B4-BE49-F238E27FC236}">
                <a16:creationId xmlns:a16="http://schemas.microsoft.com/office/drawing/2014/main" id="{678EDB14-3F5C-42C7-8C43-46700FDD5370}"/>
              </a:ext>
            </a:extLst>
          </p:cNvPr>
          <p:cNvSpPr>
            <a:spLocks xmlns:a="http://schemas.openxmlformats.org/drawingml/2006/main" noGrp="1"/>
          </p:cNvSpPr>
          <p:nvPr/>
        </p:nvSpPr>
        <p:spPr>
          <a:xfrm xmlns:a="http://schemas.openxmlformats.org/drawingml/2006/main">
            <a:off x="8153400" y="3200400"/>
            <a:ext cx="2724150" cy="9525"/>
          </a:xfrm>
          <a:prstGeom xmlns:a="http://schemas.openxmlformats.org/drawingml/2006/main" prst="rect">
            <a:avLst/>
          </a:prstGeom>
          <a:solidFill xmlns:a="http://schemas.openxmlformats.org/drawingml/2006/main">
            <a:srgbClr val="BFD2D7"/>
          </a:solidFill>
          <a:ln xmlns:a="http://schemas.openxmlformats.org/drawingml/2006/main" w="0">
            <a:solidFill>
              <a:srgbClr val="BFD2D7"/>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E4424A8E-95ED-4A1A-B128-20A8AEBBA376}"/>
              </a:ext>
            </a:extLst>
          </p:cNvPr>
          <p:cNvSpPr>
            <a:spLocks xmlns:a="http://schemas.openxmlformats.org/drawingml/2006/main" noGrp="1"/>
          </p:cNvSpPr>
          <p:nvPr/>
        </p:nvSpPr>
        <p:spPr>
          <a:xfrm xmlns:a="http://schemas.openxmlformats.org/drawingml/2006/main">
            <a:off x="8153400" y="350520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18323F"/>
                </a:solidFill>
              </a:defRPr>
            </a:pPr>
            <a:r>
              <a:rPr sz="1425" b="0">
                <a:solidFill>
                  <a:srgbClr val="18323F"/>
                </a:solidFill>
              </a:rPr>
              <a:t>Build the approved knowledge base, test boundaries and launch selected inquiry categories</a:t>
            </a:r>
          </a:p>
        </p:txBody>
      </p:sp>
      <p:sp>
        <p:nvSpPr>
          <p:cNvPr id="22" name="Rectangle 21">
            <a:extLst xmlns:a="http://schemas.openxmlformats.org/drawingml/2006/main">
              <a:ext uri="{FF2B5EF4-FFF2-40B4-BE49-F238E27FC236}">
                <a16:creationId xmlns:a16="http://schemas.microsoft.com/office/drawing/2014/main" id="{2D2F4E80-0606-4769-AD9E-174E314A25E3}"/>
              </a:ext>
            </a:extLst>
          </p:cNvPr>
          <p:cNvSpPr>
            <a:spLocks xmlns:a="http://schemas.openxmlformats.org/drawingml/2006/main" noGrp="1"/>
          </p:cNvSpPr>
          <p:nvPr/>
        </p:nvSpPr>
        <p:spPr>
          <a:xfrm xmlns:a="http://schemas.openxmlformats.org/drawingml/2006/main">
            <a:off x="8153400" y="4800600"/>
            <a:ext cx="2686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5D7079"/>
                </a:solidFill>
              </a:defRPr>
            </a:pPr>
            <a:r>
              <a:rPr sz="1050" b="1">
                <a:solidFill>
                  <a:srgbClr val="5D7079"/>
                </a:solidFill>
              </a:rPr>
              <a:t>Phase 2 • Optional expansion</a:t>
            </a:r>
          </a:p>
        </p:txBody>
      </p:sp>
      <p:sp>
        <p:nvSpPr>
          <p:cNvPr id="23" name="Rectangle 22">
            <a:extLst xmlns:a="http://schemas.openxmlformats.org/drawingml/2006/main">
              <a:ext uri="{FF2B5EF4-FFF2-40B4-BE49-F238E27FC236}">
                <a16:creationId xmlns:a16="http://schemas.microsoft.com/office/drawing/2014/main" id="{FD2D46A5-550E-4A3C-A8EC-82A023A39F3B}"/>
              </a:ext>
            </a:extLst>
          </p:cNvPr>
          <p:cNvSpPr>
            <a:spLocks xmlns:a="http://schemas.openxmlformats.org/drawingml/2006/main" noGrp="1"/>
          </p:cNvSpPr>
          <p:nvPr/>
        </p:nvSpPr>
        <p:spPr>
          <a:xfrm xmlns:a="http://schemas.openxmlformats.org/drawingml/2006/main">
            <a:off x="685800" y="58483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23B55"/>
                </a:solidFill>
              </a:defRPr>
            </a:pPr>
            <a:r>
              <a:rPr sz="1500" b="1">
                <a:solidFill>
                  <a:srgbClr val="123B55"/>
                </a:solidFill>
              </a:rPr>
              <a:t>Launch the website first. Activate KRISS AI only when MarMed is ready.</a:t>
            </a:r>
          </a:p>
        </p:txBody>
      </p:sp>
      <p:sp>
        <p:nvSpPr>
          <p:cNvPr id="24" name="Rectangle 23">
            <a:extLst xmlns:a="http://schemas.openxmlformats.org/drawingml/2006/main">
              <a:ext uri="{FF2B5EF4-FFF2-40B4-BE49-F238E27FC236}">
                <a16:creationId xmlns:a16="http://schemas.microsoft.com/office/drawing/2014/main" id="{B11B911A-AE09-4B5C-8E3B-4846E40E5E98}"/>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F6F27EB8-4D16-4C50-8EDE-056D38FE28BE}"/>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AI-ready website proposal</a:t>
            </a:r>
          </a:p>
        </p:txBody>
      </p:sp>
      <p:sp>
        <p:nvSpPr>
          <p:cNvPr id="26" name="Rectangle 25">
            <a:extLst xmlns:a="http://schemas.openxmlformats.org/drawingml/2006/main">
              <a:ext uri="{FF2B5EF4-FFF2-40B4-BE49-F238E27FC236}">
                <a16:creationId xmlns:a16="http://schemas.microsoft.com/office/drawing/2014/main" id="{431C4B5A-62B9-4CAD-AA72-1B9815B88DCE}"/>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20098327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C6BA1337-FC82-4DFD-8B48-A88ABFE8181F}"/>
              </a:ext>
            </a:extLst>
          </p:cNvPr>
          <p:cNvSpPr>
            <a:spLocks xmlns:a="http://schemas.openxmlformats.org/drawingml/2006/main" noGrp="1"/>
          </p:cNvSpPr>
          <p:nvPr/>
        </p:nvSpPr>
        <p:spPr>
          <a:xfrm xmlns:a="http://schemas.openxmlformats.org/drawingml/2006/main">
            <a:off x="685800" y="4953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THE DECISION</a:t>
            </a:r>
          </a:p>
        </p:txBody>
      </p:sp>
      <p:sp>
        <p:nvSpPr>
          <p:cNvPr id="2" name="Rectangle 1">
            <a:extLst xmlns:a="http://schemas.openxmlformats.org/drawingml/2006/main">
              <a:ext uri="{FF2B5EF4-FFF2-40B4-BE49-F238E27FC236}">
                <a16:creationId xmlns:a16="http://schemas.microsoft.com/office/drawing/2014/main" id="{B917B610-4AB3-494C-BE58-381E13AA3211}"/>
              </a:ext>
            </a:extLst>
          </p:cNvPr>
          <p:cNvSpPr>
            <a:spLocks xmlns:a="http://schemas.openxmlformats.org/drawingml/2006/main" noGrp="1"/>
          </p:cNvSpPr>
          <p:nvPr/>
        </p:nvSpPr>
        <p:spPr>
          <a:xfrm xmlns:a="http://schemas.openxmlformats.org/drawingml/2006/main">
            <a:off x="685800" y="971550"/>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123B55"/>
                </a:solidFill>
              </a:defRPr>
            </a:pPr>
            <a:r>
              <a:rPr sz="3150" b="1">
                <a:solidFill>
                  <a:srgbClr val="123B55"/>
                </a:solidFill>
              </a:rPr>
              <a:t>Approve Phase 1: MarMed website development</a:t>
            </a:r>
          </a:p>
        </p:txBody>
      </p:sp>
      <p:sp>
        <p:nvSpPr>
          <p:cNvPr id="3" name="Rectangle: Rounded Corners 2">
            <a:extLst xmlns:a="http://schemas.openxmlformats.org/drawingml/2006/main">
              <a:ext uri="{FF2B5EF4-FFF2-40B4-BE49-F238E27FC236}">
                <a16:creationId xmlns:a16="http://schemas.microsoft.com/office/drawing/2014/main" id="{452EA41E-A5AC-4D10-A2C6-35050296B0DC}"/>
              </a:ext>
            </a:extLst>
          </p:cNvPr>
          <p:cNvSpPr>
            <a:spLocks xmlns:a="http://schemas.openxmlformats.org/drawingml/2006/main" noGrp="1"/>
          </p:cNvSpPr>
          <p:nvPr/>
        </p:nvSpPr>
        <p:spPr>
          <a:xfrm xmlns:a="http://schemas.openxmlformats.org/drawingml/2006/main">
            <a:off x="685800" y="2343150"/>
            <a:ext cx="6858000" cy="2857500"/>
          </a:xfrm>
          <a:prstGeom xmlns:a="http://schemas.openxmlformats.org/drawingml/2006/main" prst="roundRect">
            <a:avLst>
              <a:gd name="adj" fmla="val 8000"/>
            </a:avLst>
          </a:prstGeom>
          <a:solidFill xmlns:a="http://schemas.openxmlformats.org/drawingml/2006/main">
            <a:srgbClr val="F3F8F9"/>
          </a:solidFill>
          <a:ln xmlns:a="http://schemas.openxmlformats.org/drawingml/2006/main" w="9525">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9C630988-44D8-48C7-ACC6-37096CF9E619}"/>
              </a:ext>
            </a:extLst>
          </p:cNvPr>
          <p:cNvSpPr>
            <a:spLocks xmlns:a="http://schemas.openxmlformats.org/drawingml/2006/main" noGrp="1"/>
          </p:cNvSpPr>
          <p:nvPr/>
        </p:nvSpPr>
        <p:spPr>
          <a:xfrm xmlns:a="http://schemas.openxmlformats.org/drawingml/2006/main">
            <a:off x="1047750" y="2647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2A8C87"/>
                </a:solidFill>
              </a:defRPr>
            </a:pPr>
            <a:r>
              <a:rPr sz="1050" b="1">
                <a:solidFill>
                  <a:srgbClr val="2A8C87"/>
                </a:solidFill>
              </a:rPr>
              <a:t>PROPOSED NEXT STEPS</a:t>
            </a:r>
          </a:p>
        </p:txBody>
      </p:sp>
      <p:sp>
        <p:nvSpPr>
          <p:cNvPr id="5" name="Oval 4">
            <a:extLst xmlns:a="http://schemas.openxmlformats.org/drawingml/2006/main">
              <a:ext uri="{FF2B5EF4-FFF2-40B4-BE49-F238E27FC236}">
                <a16:creationId xmlns:a16="http://schemas.microsoft.com/office/drawing/2014/main" id="{8CD9DDE1-9947-422E-A1C2-31754AE1E8D8}"/>
              </a:ext>
            </a:extLst>
          </p:cNvPr>
          <p:cNvSpPr>
            <a:spLocks xmlns:a="http://schemas.openxmlformats.org/drawingml/2006/main" noGrp="1"/>
          </p:cNvSpPr>
          <p:nvPr/>
        </p:nvSpPr>
        <p:spPr>
          <a:xfrm xmlns:a="http://schemas.openxmlformats.org/drawingml/2006/main">
            <a:off x="1047750" y="31813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333E1454-CAB9-4030-A910-DA55457EB624}"/>
              </a:ext>
            </a:extLst>
          </p:cNvPr>
          <p:cNvSpPr>
            <a:spLocks xmlns:a="http://schemas.openxmlformats.org/drawingml/2006/main" noGrp="1"/>
          </p:cNvSpPr>
          <p:nvPr/>
        </p:nvSpPr>
        <p:spPr>
          <a:xfrm xmlns:a="http://schemas.openxmlformats.org/drawingml/2006/main">
            <a:off x="1276350" y="3105150"/>
            <a:ext cx="558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8323F"/>
                </a:solidFill>
              </a:defRPr>
            </a:pPr>
            <a:r>
              <a:rPr sz="1350" b="0">
                <a:solidFill>
                  <a:srgbClr val="18323F"/>
                </a:solidFill>
              </a:rPr>
              <a:t>Confirm the website package and commercial terms</a:t>
            </a:r>
          </a:p>
        </p:txBody>
      </p:sp>
      <p:sp>
        <p:nvSpPr>
          <p:cNvPr id="7" name="Oval 6">
            <a:extLst xmlns:a="http://schemas.openxmlformats.org/drawingml/2006/main">
              <a:ext uri="{FF2B5EF4-FFF2-40B4-BE49-F238E27FC236}">
                <a16:creationId xmlns:a16="http://schemas.microsoft.com/office/drawing/2014/main" id="{080672D6-9C3F-4481-9D72-6921B1745DDD}"/>
              </a:ext>
            </a:extLst>
          </p:cNvPr>
          <p:cNvSpPr>
            <a:spLocks xmlns:a="http://schemas.openxmlformats.org/drawingml/2006/main" noGrp="1"/>
          </p:cNvSpPr>
          <p:nvPr/>
        </p:nvSpPr>
        <p:spPr>
          <a:xfrm xmlns:a="http://schemas.openxmlformats.org/drawingml/2006/main">
            <a:off x="1047750" y="365760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B0FC7FD8-F641-4D54-9908-8F59CEA9C44B}"/>
              </a:ext>
            </a:extLst>
          </p:cNvPr>
          <p:cNvSpPr>
            <a:spLocks xmlns:a="http://schemas.openxmlformats.org/drawingml/2006/main" noGrp="1"/>
          </p:cNvSpPr>
          <p:nvPr/>
        </p:nvSpPr>
        <p:spPr>
          <a:xfrm xmlns:a="http://schemas.openxmlformats.org/drawingml/2006/main">
            <a:off x="1276350" y="3581400"/>
            <a:ext cx="558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8323F"/>
                </a:solidFill>
              </a:defRPr>
            </a:pPr>
            <a:r>
              <a:rPr sz="1350" b="0">
                <a:solidFill>
                  <a:srgbClr val="18323F"/>
                </a:solidFill>
              </a:rPr>
              <a:t>Appoint MarMed’s content approver</a:t>
            </a:r>
          </a:p>
        </p:txBody>
      </p:sp>
      <p:sp>
        <p:nvSpPr>
          <p:cNvPr id="9" name="Oval 8">
            <a:extLst xmlns:a="http://schemas.openxmlformats.org/drawingml/2006/main">
              <a:ext uri="{FF2B5EF4-FFF2-40B4-BE49-F238E27FC236}">
                <a16:creationId xmlns:a16="http://schemas.microsoft.com/office/drawing/2014/main" id="{40E67F7E-EA8F-42EE-B05D-1167BA7A2113}"/>
              </a:ext>
            </a:extLst>
          </p:cNvPr>
          <p:cNvSpPr>
            <a:spLocks xmlns:a="http://schemas.openxmlformats.org/drawingml/2006/main" noGrp="1"/>
          </p:cNvSpPr>
          <p:nvPr/>
        </p:nvSpPr>
        <p:spPr>
          <a:xfrm xmlns:a="http://schemas.openxmlformats.org/drawingml/2006/main">
            <a:off x="1047750" y="413385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9F515754-2E41-4A2F-B7A3-B14F64E6CD63}"/>
              </a:ext>
            </a:extLst>
          </p:cNvPr>
          <p:cNvSpPr>
            <a:spLocks xmlns:a="http://schemas.openxmlformats.org/drawingml/2006/main" noGrp="1"/>
          </p:cNvSpPr>
          <p:nvPr/>
        </p:nvSpPr>
        <p:spPr>
          <a:xfrm xmlns:a="http://schemas.openxmlformats.org/drawingml/2006/main">
            <a:off x="1276350" y="4057650"/>
            <a:ext cx="558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8323F"/>
                </a:solidFill>
              </a:defRPr>
            </a:pPr>
            <a:r>
              <a:rPr sz="1350" b="0">
                <a:solidFill>
                  <a:srgbClr val="18323F"/>
                </a:solidFill>
              </a:rPr>
              <a:t>Submit the logo, photos, service list and physician roster</a:t>
            </a:r>
          </a:p>
        </p:txBody>
      </p:sp>
      <p:sp>
        <p:nvSpPr>
          <p:cNvPr id="11" name="Oval 10">
            <a:extLst xmlns:a="http://schemas.openxmlformats.org/drawingml/2006/main">
              <a:ext uri="{FF2B5EF4-FFF2-40B4-BE49-F238E27FC236}">
                <a16:creationId xmlns:a16="http://schemas.microsoft.com/office/drawing/2014/main" id="{A3C667DA-C31F-4D34-8D32-528F602A5774}"/>
              </a:ext>
            </a:extLst>
          </p:cNvPr>
          <p:cNvSpPr>
            <a:spLocks xmlns:a="http://schemas.openxmlformats.org/drawingml/2006/main" noGrp="1"/>
          </p:cNvSpPr>
          <p:nvPr/>
        </p:nvSpPr>
        <p:spPr>
          <a:xfrm xmlns:a="http://schemas.openxmlformats.org/drawingml/2006/main">
            <a:off x="1047750" y="4610100"/>
            <a:ext cx="114300" cy="114300"/>
          </a:xfrm>
          <a:prstGeom xmlns:a="http://schemas.openxmlformats.org/drawingml/2006/main" prst="ellipse">
            <a:avLst/>
          </a:prstGeom>
          <a:solidFill xmlns:a="http://schemas.openxmlformats.org/drawingml/2006/main">
            <a:srgbClr val="2A8C87"/>
          </a:solidFill>
          <a:ln xmlns:a="http://schemas.openxmlformats.org/drawingml/2006/main" w="0">
            <a:solidFill>
              <a:srgbClr val="2A8C8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8E6933F-F7C5-4796-BE72-6D69668217A0}"/>
              </a:ext>
            </a:extLst>
          </p:cNvPr>
          <p:cNvSpPr>
            <a:spLocks xmlns:a="http://schemas.openxmlformats.org/drawingml/2006/main" noGrp="1"/>
          </p:cNvSpPr>
          <p:nvPr/>
        </p:nvSpPr>
        <p:spPr>
          <a:xfrm xmlns:a="http://schemas.openxmlformats.org/drawingml/2006/main">
            <a:off x="1276350" y="4533900"/>
            <a:ext cx="5581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8323F"/>
                </a:solidFill>
              </a:defRPr>
            </a:pPr>
            <a:r>
              <a:rPr sz="1350" b="0">
                <a:solidFill>
                  <a:srgbClr val="18323F"/>
                </a:solidFill>
              </a:rPr>
              <a:t>Confirm inquiry routing and the project kickoff date</a:t>
            </a:r>
          </a:p>
        </p:txBody>
      </p:sp>
      <p:sp>
        <p:nvSpPr>
          <p:cNvPr id="13" name="Rectangle: Rounded Corners 12">
            <a:extLst xmlns:a="http://schemas.openxmlformats.org/drawingml/2006/main">
              <a:ext uri="{FF2B5EF4-FFF2-40B4-BE49-F238E27FC236}">
                <a16:creationId xmlns:a16="http://schemas.microsoft.com/office/drawing/2014/main" id="{72B82C8A-9987-4E57-844E-DB4A227A7AF9}"/>
              </a:ext>
            </a:extLst>
          </p:cNvPr>
          <p:cNvSpPr>
            <a:spLocks xmlns:a="http://schemas.openxmlformats.org/drawingml/2006/main" noGrp="1"/>
          </p:cNvSpPr>
          <p:nvPr/>
        </p:nvSpPr>
        <p:spPr>
          <a:xfrm xmlns:a="http://schemas.openxmlformats.org/drawingml/2006/main">
            <a:off x="7962900" y="2343150"/>
            <a:ext cx="3543300" cy="2857500"/>
          </a:xfrm>
          <a:prstGeom xmlns:a="http://schemas.openxmlformats.org/drawingml/2006/main" prst="roundRect">
            <a:avLst>
              <a:gd name="adj" fmla="val 8000"/>
            </a:avLst>
          </a:prstGeom>
          <a:solidFill xmlns:a="http://schemas.openxmlformats.org/drawingml/2006/main">
            <a:srgbClr val="123B55"/>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E795A69-EE18-41F7-B68C-B7F061D62E63}"/>
              </a:ext>
            </a:extLst>
          </p:cNvPr>
          <p:cNvSpPr>
            <a:spLocks xmlns:a="http://schemas.openxmlformats.org/drawingml/2006/main" noGrp="1"/>
          </p:cNvSpPr>
          <p:nvPr/>
        </p:nvSpPr>
        <p:spPr>
          <a:xfrm xmlns:a="http://schemas.openxmlformats.org/drawingml/2006/main">
            <a:off x="8324850" y="2686050"/>
            <a:ext cx="2800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75" b="1">
                <a:solidFill>
                  <a:srgbClr val="8ED1C4"/>
                </a:solidFill>
              </a:defRPr>
            </a:pPr>
            <a:r>
              <a:rPr sz="975" b="1">
                <a:solidFill>
                  <a:srgbClr val="8ED1C4"/>
                </a:solidFill>
              </a:rPr>
              <a:t>PARTNERSHIP DECISION</a:t>
            </a:r>
          </a:p>
        </p:txBody>
      </p:sp>
      <p:sp>
        <p:nvSpPr>
          <p:cNvPr id="15" name="Rectangle 14">
            <a:extLst xmlns:a="http://schemas.openxmlformats.org/drawingml/2006/main">
              <a:ext uri="{FF2B5EF4-FFF2-40B4-BE49-F238E27FC236}">
                <a16:creationId xmlns:a16="http://schemas.microsoft.com/office/drawing/2014/main" id="{BC87832B-90C2-4C05-B79B-8231F52392A0}"/>
              </a:ext>
            </a:extLst>
          </p:cNvPr>
          <p:cNvSpPr>
            <a:spLocks xmlns:a="http://schemas.openxmlformats.org/drawingml/2006/main" noGrp="1"/>
          </p:cNvSpPr>
          <p:nvPr/>
        </p:nvSpPr>
        <p:spPr>
          <a:xfrm xmlns:a="http://schemas.openxmlformats.org/drawingml/2006/main">
            <a:off x="8324850" y="3124200"/>
            <a:ext cx="2724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75" b="1">
                <a:solidFill>
                  <a:srgbClr val="FFFFFF"/>
                </a:solidFill>
              </a:defRPr>
            </a:pPr>
            <a:r>
              <a:rPr sz="2175" b="1">
                <a:solidFill>
                  <a:srgbClr val="FFFFFF"/>
                </a:solidFill>
              </a:rPr>
              <a:t>Proceed with MarMed website development</a:t>
            </a:r>
          </a:p>
        </p:txBody>
      </p:sp>
      <p:sp>
        <p:nvSpPr>
          <p:cNvPr id="16" name="Rectangle 15">
            <a:extLst xmlns:a="http://schemas.openxmlformats.org/drawingml/2006/main">
              <a:ext uri="{FF2B5EF4-FFF2-40B4-BE49-F238E27FC236}">
                <a16:creationId xmlns:a16="http://schemas.microsoft.com/office/drawing/2014/main" id="{CC167640-8BC0-4A65-BA18-34DDC655048E}"/>
              </a:ext>
            </a:extLst>
          </p:cNvPr>
          <p:cNvSpPr>
            <a:spLocks xmlns:a="http://schemas.openxmlformats.org/drawingml/2006/main" noGrp="1"/>
          </p:cNvSpPr>
          <p:nvPr/>
        </p:nvSpPr>
        <p:spPr>
          <a:xfrm xmlns:a="http://schemas.openxmlformats.org/drawingml/2006/main">
            <a:off x="8324850" y="451485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D7E4E9"/>
                </a:solidFill>
              </a:defRPr>
            </a:pPr>
            <a:r>
              <a:rPr sz="1200" b="0">
                <a:solidFill>
                  <a:srgbClr val="D7E4E9"/>
                </a:solidFill>
              </a:rPr>
              <a:t>KRISS AI remains an optional Phase 2 decision</a:t>
            </a:r>
          </a:p>
        </p:txBody>
      </p:sp>
      <p:sp>
        <p:nvSpPr>
          <p:cNvPr id="17" name="Rectangle 16">
            <a:extLst xmlns:a="http://schemas.openxmlformats.org/drawingml/2006/main">
              <a:ext uri="{FF2B5EF4-FFF2-40B4-BE49-F238E27FC236}">
                <a16:creationId xmlns:a16="http://schemas.microsoft.com/office/drawing/2014/main" id="{97D8F7C4-565A-44F2-B69C-EB85E959F258}"/>
              </a:ext>
            </a:extLst>
          </p:cNvPr>
          <p:cNvSpPr>
            <a:spLocks xmlns:a="http://schemas.openxmlformats.org/drawingml/2006/main" noGrp="1"/>
          </p:cNvSpPr>
          <p:nvPr/>
        </p:nvSpPr>
        <p:spPr>
          <a:xfrm xmlns:a="http://schemas.openxmlformats.org/drawingml/2006/main">
            <a:off x="685800" y="56578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23B55"/>
                </a:solidFill>
              </a:defRPr>
            </a:pPr>
            <a:r>
              <a:rPr sz="1800" b="1">
                <a:solidFill>
                  <a:srgbClr val="123B55"/>
                </a:solidFill>
              </a:rPr>
              <a:t>Build the trusted digital foundation first. Add intelligent patient support when MarMed is ready.</a:t>
            </a:r>
          </a:p>
        </p:txBody>
      </p:sp>
      <p:sp>
        <p:nvSpPr>
          <p:cNvPr id="18" name="Rectangle 17">
            <a:extLst xmlns:a="http://schemas.openxmlformats.org/drawingml/2006/main">
              <a:ext uri="{FF2B5EF4-FFF2-40B4-BE49-F238E27FC236}">
                <a16:creationId xmlns:a16="http://schemas.microsoft.com/office/drawing/2014/main" id="{DC479710-3C68-412F-BD15-93B8D2F41CB5}"/>
              </a:ext>
            </a:extLst>
          </p:cNvPr>
          <p:cNvSpPr>
            <a:spLocks xmlns:a="http://schemas.openxmlformats.org/drawingml/2006/main" noGrp="1"/>
          </p:cNvSpPr>
          <p:nvPr/>
        </p:nvSpPr>
        <p:spPr>
          <a:xfrm xmlns:a="http://schemas.openxmlformats.org/drawingml/2006/main">
            <a:off x="685800" y="6457950"/>
            <a:ext cx="10820400" cy="9525"/>
          </a:xfrm>
          <a:prstGeom xmlns:a="http://schemas.openxmlformats.org/drawingml/2006/main" prst="rect">
            <a:avLst/>
          </a:prstGeom>
          <a:solidFill xmlns:a="http://schemas.openxmlformats.org/drawingml/2006/main">
            <a:srgbClr val="D9E4E8"/>
          </a:solidFill>
          <a:ln xmlns:a="http://schemas.openxmlformats.org/drawingml/2006/main" w="0">
            <a:solidFill>
              <a:srgbClr val="D9E4E8"/>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24DB373A-EB1E-4478-81D8-23DC61B2AD39}"/>
              </a:ext>
            </a:extLst>
          </p:cNvPr>
          <p:cNvSpPr>
            <a:spLocks xmlns:a="http://schemas.openxmlformats.org/drawingml/2006/main" noGrp="1"/>
          </p:cNvSpPr>
          <p:nvPr/>
        </p:nvSpPr>
        <p:spPr>
          <a:xfrm xmlns:a="http://schemas.openxmlformats.org/drawingml/2006/main">
            <a:off x="685800" y="6562725"/>
            <a:ext cx="781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825" b="0">
                <a:solidFill>
                  <a:srgbClr val="758890"/>
                </a:solidFill>
              </a:defRPr>
            </a:pPr>
            <a:r>
              <a:rPr sz="825" b="0">
                <a:solidFill>
                  <a:srgbClr val="758890"/>
                </a:solidFill>
              </a:rPr>
              <a:t>MarMed Diagnostics • Phase 1 approval</a:t>
            </a:r>
          </a:p>
        </p:txBody>
      </p:sp>
      <p:sp>
        <p:nvSpPr>
          <p:cNvPr id="20" name="Rectangle 19">
            <a:extLst xmlns:a="http://schemas.openxmlformats.org/drawingml/2006/main">
              <a:ext uri="{FF2B5EF4-FFF2-40B4-BE49-F238E27FC236}">
                <a16:creationId xmlns:a16="http://schemas.microsoft.com/office/drawing/2014/main" id="{0112CAED-5AF8-4F09-B08F-884D0AAD204F}"/>
              </a:ext>
            </a:extLst>
          </p:cNvPr>
          <p:cNvSpPr>
            <a:spLocks xmlns:a="http://schemas.openxmlformats.org/drawingml/2006/main" noGrp="1"/>
          </p:cNvSpPr>
          <p:nvPr/>
        </p:nvSpPr>
        <p:spPr>
          <a:xfrm xmlns:a="http://schemas.openxmlformats.org/drawingml/2006/main">
            <a:off x="9029700" y="656272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1">
                <a:solidFill>
                  <a:srgbClr val="758890"/>
                </a:solidFill>
              </a:defRPr>
            </a:pPr>
            <a:r>
              <a:rPr sz="750" b="1">
                <a:solidFill>
                  <a:srgbClr val="758890"/>
                </a:solidFill>
              </a:rPr>
              <a:t>CONFIDENTIAL DISCUSSION DRAFT</a:t>
            </a:r>
          </a:p>
        </p:txBody>
      </p:sp>
    </p:spTree>
    <p:extLst>
      <p:ext uri="{BB962C8B-B14F-4D97-AF65-F5344CB8AC3E}">
        <p14:creationId xmlns:p14="http://schemas.microsoft.com/office/powerpoint/2010/main" val="6248536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2026-08-27T08:14:29.9280000Z</dcterms:created>
  <dcterms:modified xsi:type="dcterms:W3CDTF">2026-08-27T08:14:29.9280000Z</dcterms:modified>
</coreProperties>
</file>